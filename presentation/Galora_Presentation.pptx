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a8a3e64-1a8c-ad6e-94ea-500aa8ea224f}">
          <p14:sldIdLst>
            <p14:sldId id="256"/>
          </p14:sldIdLst>
        </p14:section>
        <p14:section name="Problem and Goals" id="{fa70e7c0-ab99-693f-f93c-13b9cac52348}">
          <p14:sldIdLst>
            <p14:sldId id="257"/>
            <p14:sldId id="258"/>
            <p14:sldId id="259"/>
            <p14:sldId id="260"/>
          </p14:sldIdLst>
        </p14:section>
        <p14:section name="Features and Roles" id="{94641a57-bbbe-fd7c-7785-a2e50255d60b}">
          <p14:sldIdLst>
            <p14:sldId id="261"/>
            <p14:sldId id="262"/>
            <p14:sldId id="263"/>
            <p14:sldId id="264"/>
          </p14:sldIdLst>
        </p14:section>
        <p14:section name="Technology and Design" id="{56361a6f-da19-b175-85ff-1f69c2cf8b82}">
          <p14:sldIdLst>
            <p14:sldId id="265"/>
            <p14:sldId id="266"/>
            <p14:sldId id="267"/>
            <p14:sldId id="268"/>
          </p14:sldIdLst>
        </p14:section>
        <p14:section name="Product and Outlook" id="{4e3fb2be-ee6c-1029-363d-467f2c07f981}">
          <p14:sldIdLst>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Kya bolna hai: "Good morning sir/ma'am. Mera project hai Galora, jo ek Salon Management aur Customer Booking Platform hai. Isme salon owner apna poora salon manage karta hai aur customer online booking karta hai."
Tip: Apna naam, college, guide ka naam aur academic year placeholders ki jagah likh lena (slide 1 aur slide 17).
Ek line me project: "Galora = salon ka digital manager + customers ke liye booking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Introduction
Kya bolna hai: Galora ek platform hai jo salon aur customer ko jodta hai. Teen type ke log isse use karte hain: (1) salon owner aur unka staff, (2) customers, (3) platform admin (Super Admin).
Technology ek line me: website React me bani hai, mobile app Expo/React Native me, dono ek hi REST API aur MongoDB database use karte hain.
Viva point: "Ek backend, do frontends (web + mobile)" - ye architecture ki strength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Problem Statement
Kya bolna hai: Chhote salons me aaj bhi kaam diary, phone call aur WhatsApp se hota hai. Isse 5 problems aati hain: appointment clash, customer data bikhra hua, manual billing me galtiyan, package/membership ka hisaab kaagaz par, aur customer ko online salon compare karne ka rasta nahi.
Dhyan rakho: Ye general problems hain, maine koi survey statistic nahi diya. Agar poochhe "data kahan hai?" to bolo: ye commonly dikhne wali problems hain jinhe project solve karta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Objectives
Kya bolna hai: Teen goals hain.
Owner ke liye: ek jagah booking, customers, billing; roles se access control; packages/memberships; salon ko public karna.
Customer ke liye: salon dhoondhna, services aur price dekhna, free slot dekh kar book karna, status jaanna.
Platform ke liye: naye owner ko approve karna, salon ko suspend/activate karna, audit history rakhna.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Existing vs Proposed
Kya bolna hai: Table left se right padho. Pehle appointment phone/diary se hota tha, ab live free slots ke saath online. Customer records pehle notebook me, ab list me visits aur total spend ke saath. Billing pehle haath se, ab digital invoice aur cash/UPI/card payment record. Packages, staff roles aur salon discovery bhi digital hue.
Viva point: Hum "payment gateway" nahi bolte - payment salon me hota hai aur system me record hota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Main Features (status ke saath)
Kya bolna hai: Ye slide honest status dikhati hai. Green "Implemented" ka matlab code me bana hua hai aur chalta hai: discovery, booking, customers, services, staff, packages, memberships, billing, offers.
Ratings &amp; Reviews "Planned" hai: database me salon ka rating field aur search me rating filter/sort hai, lekin customer abhi review likh nahi sakta. Review module future scope hai.
Extra built features: notifications, audit history, team invitations, contact inquiries, home-service option.
Viva tip: Agar koi poochhe "reviews kyun nahi?", seedha bolo - planned hai, aur rating ka structure pehle se ready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Customer Workflow
Kya bolna hai: Customer ka safar 5 steps me: salon search -&gt; salon details (services, price, map) -&gt; services choose -&gt; appointment book -&gt; status.
Booking ke time customer ko login karna padta hai (one-time code se). Dev mode me code screen par dikh jata hai, production me email/SMS se jayega.
Booking pehle "Pending" hoti hai. Owner dashboard se Confirm ya Decline karta hai. Baad me Completed ya Cancelled.
Screenshots asli project ke hain (demo test data ke saath).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Salon Owner Dashboard
Kya bolna hai: Ye owner ka main screen hai: aaj ki appointments, total customers, aaj ka revenue, active staff, upcoming appointments.
Left menu ke 9 modules: Dashboard, Appointments, Customers, Services, Staff, Packages &amp; Memberships, Billing, Offers, Settings.
Roles: Owner, Manager, Receptionist, Staff. Har role ko sirf wahi pages dikhte hain jinki permission hai (jaise memberships plan sirf owner bana sakta hai).
Neeche wala screenshot Confirmed booking ka hai - "Mark done" se booking complete hoti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Platform Admin / Super Admin
Kya bolna hai: Salon owner sirf apne ek salon ke andar kaam karta hai. Super Admin poore platform ko dekhta hai: kitne salons, kitne active/suspended, naye owner requests, users, inquiries, audit.
Sign-up flow: owner register karta hai -&gt; Super Admin approve karta hai -&gt; email verify hota hai -&gt; owner salon set up karta hai. Isse fake salons rukte hain.
Super Admin ka role database me user ke platformRole = admin se banta hai, aur ye command se hi set hota hai, API se nahi (security ke liye).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Technology Stack
Kya bolna hai: Frontend: React 19 + Vite + Material UI, forms ke liye React Hook Form + Zod, server data ke liye TanStack Query.
Backend: Node.js + Express 5, database ke liye Mongoose, security ke liye JWT, bcrypt, Helmet, rate limiting, Zod validation, emails ke liye Nodemailer.
Database: MongoDB (replica set, taaki transactions chal sakein - jaise billing aur booking).
Mobile: React Native + Expo.
Testing: Node ka built-in test runner + Supertest; 137 backend tests pass hote 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System Architecture
Kya bolna hai: Left se right padho. Client (website ya mobile app) HTTPS par JSON request bhejta hai REST API ko. API ke andar layers hain: security headers/CORS/rate limit -&gt; authentication -&gt; role aur salon check -&gt; input validation -&gt; phir module ka kaam (bookings, billing...). API Mongoose ke through MongoDB se baat karti hai.
Email aur SMS/OTP ke liye alag adapters hain; development me code log file me likha jata hai.
Viva point: "Frontend directly database se baat nahi karta - sirf API ke through." Isse security aur control milta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Database Design
Kya bolna hai: MongoDB me 24 collections hain (Mongoose models). Center me Salon hai - ye "tenant" hai. Salon se jude records: Branch (working hours), Service, Staff, Offer, Booking, Customer, Invoice/Payment, Package, Membership plan.
User aur Salon ka rishta Membership collection se banta hai, jisme role (owner/manager/receptionist/staff) store hota hai. Is wajah se ek user alag-alag salon me alag role rakh sakta hai.
Har salon-related record me salonId hota hai, isliye ek salon dusre salon ka data nahi dekh sakta (multi-tenant).
Packages aur memberships me "Ledger" collections hain, jisme har use/adjustment ka record hota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Security &amp; Authentication
Kya bolna hai: Flow: login -&gt; server access token (15 min) aur refresh token (7 din, httpOnly cookie) deta hai -&gt; har API call par token, salon membership aur role permission check hoti hai -&gt; input Zod se validate hota hai -&gt; important actions audit history me save hote hain.
Verified items: bcrypt password hashing; 5 galat attempts par 15 minute lock; role permission table (jo likha nahi wo allowed nahi); tenant isolation tests; rate limiting + Helmet + CORS; .env secrets.
Honest note: Go-live se pehle HTTPS (secure cookies) aur real email/SMS providers lagane honge - abhi development setup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Website and Mobile App
Kya bolna hai: Website poori chalti hai: landing page, salon search, customer booking, owner aur admin dashboards.
Mobile app Expo/React Native me bani hai aur uski screens customer, salon team aur admin ke liye chalti hain (maine browser preview me verify ki). Isliye label "in development" hai - app store/play store par release abhi nahi hui.
Teen phone screenshots: customer home (salon search), owner dashboard, admin overview.
Viva tip: Mobile ke baare me confidently bolo "working screens hain, release pending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Benefits and Future Scope
Kya bolna hai: Benefits jo aaj milte hain: online discovery, free-slot booking se kam clash, packages/memberships/offers se repeat customers, digital billing, role-based safety, ek platform web aur mobile ke liye.
Future scope (planned, abhi bana nahi): ratings &amp; reviews, online payment gateway, reminders (SMS/email/push), reports aur analytics, mobile app ka store release, website par customer ka "My bookings" page (abhi mobile me hai).
Viva tip: Future scope ko "planned" hi bolna, "done" nahi.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Conclusion
Kya bolna hai: Galora teen cheezein deta hai: ek connected platform; poora salon workflow (discover, book, serve, bill, retain); aur quality (role-based security, 137 passing backend tests).
Closing line: "Galora salon ko paperwork se azaadi aur customers ko aasaan booking deta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Thank You / Questions
Kya bolna hai: "Thank you. Ab main aapke sawalon ke liye taiyaar hoon."
Tip: Viva ke liye separate document "Galora_Viva_Guide" me 15 sawal-jawab diye hain. Demo ke liye pehle se backend aur frontend chalu rakhna.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AF6F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46520"/>
            <a:ext cx="7315200" cy="256032"/>
          </a:xfrm>
          <a:prstGeom prst="rect">
            <a:avLst/>
          </a:prstGeom>
          <a:noFill/>
          <a:ln/>
        </p:spPr>
        <p:txBody>
          <a:bodyPr wrap="square" lIns="0" tIns="0" rIns="0" bIns="0" rtlCol="0" anchor="ctr"/>
          <a:lstStyle/>
          <a:p>
            <a:pPr indent="0" marL="0">
              <a:buNone/>
            </a:pPr>
            <a:r>
              <a:rPr lang="en-US" sz="1000" dirty="0">
                <a:solidFill>
                  <a:schemeClr val="tx2"/>
                </a:solidFill>
              </a:rPr>
              <a:t>Galora  |  Salon Management &amp; Customer Booking Platform</a:t>
            </a:r>
            <a:endParaRPr lang="en-US" sz="10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2E1B0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6583680" cy="1371600"/>
          </a:xfrm>
          <a:prstGeom prst="rect">
            <a:avLst/>
          </a:prstGeom>
          <a:noFill/>
          <a:ln/>
        </p:spPr>
        <p:txBody>
          <a:bodyPr wrap="square" rtlCol="0"/>
          <a:lstStyle>
            <a:lvl1pPr algn="l" indent="0" marL="0">
              <a:buNone/>
              <a:defRPr lang="en-US" sz="6400" b="1" dirty="0">
                <a:solidFill>
                  <a:schemeClr val="accent1"/>
                </a:solidFill>
              </a:defRPr>
            </a:lvl1pPr>
          </a:lstStyle>
          <a:p>
            <a:pPr algn="l"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2.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slideLayout" Target="../slideLayouts/slideLayout2.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ero photo" descr="Salon interior photo from the Galora website">    </p:cNvPr>
          <p:cNvPicPr>
            <a:picLocks noChangeAspect="1"/>
          </p:cNvPicPr>
          <p:nvPr/>
        </p:nvPicPr>
        <p:blipFill>
          <a:blip r:embed="rId1"/>
          <a:srcRect l="0" r="0" t="0" b="0"/>
          <a:stretch/>
        </p:blipFill>
        <p:spPr>
          <a:xfrm>
            <a:off x="7680960" y="0"/>
            <a:ext cx="4510735" cy="6858000"/>
          </a:xfrm>
          <a:prstGeom prst="rect">
            <a:avLst/>
          </a:prstGeom>
        </p:spPr>
      </p:pic>
      <p:sp>
        <p:nvSpPr>
          <p:cNvPr id="3" name="Icon circle FaCut"/>
          <p:cNvSpPr/>
          <p:nvPr/>
        </p:nvSpPr>
        <p:spPr>
          <a:xfrm>
            <a:off x="731520" y="1097280"/>
            <a:ext cx="731520" cy="731520"/>
          </a:xfrm>
          <a:prstGeom prst="ellipse">
            <a:avLst/>
          </a:prstGeom>
          <a:solidFill>
            <a:schemeClr val="accent1"/>
          </a:solidFill>
          <a:ln w="12700">
            <a:solidFill>
              <a:schemeClr val="accent1"/>
            </a:solidFill>
            <a:prstDash val="solid"/>
          </a:ln>
        </p:spPr>
      </p:sp>
      <p:pic>
        <p:nvPicPr>
          <p:cNvPr id="4" name="Image 1" descr="Cut icon">    </p:cNvPr>
          <p:cNvPicPr>
            <a:picLocks noChangeAspect="1"/>
          </p:cNvPicPr>
          <p:nvPr/>
        </p:nvPicPr>
        <p:blipFill>
          <a:blip r:embed="rId2"/>
          <a:stretch>
            <a:fillRect/>
          </a:stretch>
        </p:blipFill>
        <p:spPr>
          <a:xfrm>
            <a:off x="929030" y="1294790"/>
            <a:ext cx="336499" cy="336499"/>
          </a:xfrm>
          <a:prstGeom prst="rect">
            <a:avLst/>
          </a:prstGeom>
        </p:spPr>
      </p:pic>
      <p:sp>
        <p:nvSpPr>
          <p:cNvPr id="5" name="Text 1"/>
          <p:cNvSpPr txBox="1"/>
          <p:nvPr/>
        </p:nvSpPr>
        <p:spPr>
          <a:xfrm>
            <a:off x="1600200" y="1097280"/>
            <a:ext cx="4572000" cy="731520"/>
          </a:xfrm>
          <a:prstGeom prst="rect">
            <a:avLst/>
          </a:prstGeom>
          <a:noFill/>
          <a:ln/>
        </p:spPr>
        <p:txBody>
          <a:bodyPr wrap="square" lIns="0" tIns="0" rIns="0" bIns="0" rtlCol="0" anchor="ctr"/>
          <a:lstStyle/>
          <a:p>
            <a:pPr indent="0" marL="0">
              <a:buNone/>
            </a:pPr>
            <a:r>
              <a:rPr lang="en-US" sz="1600" b="1" spc="600" kern="0" dirty="0">
                <a:solidFill>
                  <a:schemeClr val="accent1"/>
                </a:solidFill>
              </a:rPr>
              <a:t>GALORA</a:t>
            </a:r>
            <a:endParaRPr lang="en-US" sz="1600" dirty="0"/>
          </a:p>
        </p:txBody>
      </p:sp>
      <p:sp>
        <p:nvSpPr>
          <p:cNvPr id="6" name="Text 0"/>
          <p:cNvSpPr/>
          <p:nvPr>
            <p:ph idx="100" type="title" hasCustomPrompt="1"/>
          </p:nvPr>
        </p:nvSpPr>
        <p:spPr>
          <a:xfrm>
            <a:off x="731520" y="2148840"/>
            <a:ext cx="6583680" cy="1371600"/>
          </a:xfrm>
          <a:prstGeom prst="rect">
            <a:avLst/>
          </a:prstGeom>
          <a:noFill/>
          <a:ln/>
        </p:spPr>
        <p:txBody>
          <a:bodyPr wrap="square" lIns="0" tIns="0" rIns="0" bIns="0" rtlCol="0" anchor="ctr"/>
          <a:lstStyle/>
          <a:p>
            <a:pPr algn="l" indent="0" marL="0">
              <a:buNone/>
            </a:pPr>
            <a:r>
              <a:rPr lang="en-US" sz="6400" b="1" dirty="0">
                <a:solidFill>
                  <a:schemeClr val="accent1"/>
                </a:solidFill>
              </a:rPr>
              <a:t>Galora</a:t>
            </a:r>
            <a:endParaRPr lang="en-US" sz="6400" dirty="0"/>
          </a:p>
        </p:txBody>
      </p:sp>
      <p:sp>
        <p:nvSpPr>
          <p:cNvPr id="7" name="Text 3"/>
          <p:cNvSpPr txBox="1"/>
          <p:nvPr/>
        </p:nvSpPr>
        <p:spPr>
          <a:xfrm>
            <a:off x="731520" y="3566160"/>
            <a:ext cx="6400800" cy="822960"/>
          </a:xfrm>
          <a:prstGeom prst="rect">
            <a:avLst/>
          </a:prstGeom>
          <a:noFill/>
          <a:ln/>
        </p:spPr>
        <p:txBody>
          <a:bodyPr wrap="square" lIns="0" tIns="0" rIns="0" bIns="0" rtlCol="0" anchor="t"/>
          <a:lstStyle/>
          <a:p>
            <a:pPr indent="0" marL="0">
              <a:buNone/>
            </a:pPr>
            <a:r>
              <a:rPr lang="en-US" sz="2400" dirty="0">
                <a:solidFill>
                  <a:schemeClr val="bg1"/>
                </a:solidFill>
              </a:rPr>
              <a:t>Salon Management &amp; Customer Booking Platform</a:t>
            </a:r>
            <a:endParaRPr lang="en-US" sz="2400" dirty="0"/>
          </a:p>
        </p:txBody>
      </p:sp>
      <p:sp>
        <p:nvSpPr>
          <p:cNvPr id="8" name="Text 4"/>
          <p:cNvSpPr txBox="1"/>
          <p:nvPr/>
        </p:nvSpPr>
        <p:spPr>
          <a:xfrm>
            <a:off x="731520" y="4754880"/>
            <a:ext cx="6400800" cy="128016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College Project Presentation</a:t>
            </a:r>
            <a:endParaRPr lang="en-US" sz="1600" dirty="0"/>
          </a:p>
          <a:p>
            <a:pPr indent="0" marL="0">
              <a:spcAft>
                <a:spcPts val="400"/>
              </a:spcAft>
              <a:buNone/>
            </a:pPr>
            <a:r>
              <a:rPr lang="en-US" sz="1600" dirty="0">
                <a:solidFill>
                  <a:schemeClr val="accent6"/>
                </a:solidFill>
              </a:rPr>
              <a:t>Presented by: [Student Name]</a:t>
            </a:r>
            <a:endParaRPr lang="en-US" sz="1600" dirty="0"/>
          </a:p>
          <a:p>
            <a:pPr indent="0" marL="0">
              <a:spcAft>
                <a:spcPts val="400"/>
              </a:spcAft>
              <a:buNone/>
            </a:pPr>
            <a:r>
              <a:rPr lang="en-US" sz="1600" dirty="0">
                <a:solidFill>
                  <a:schemeClr val="accent6"/>
                </a:solidFill>
              </a:rPr>
              <a:t>College: [College Name]   |   Guide: [Guide Name]</a:t>
            </a:r>
            <a:endParaRPr lang="en-US" sz="1600" dirty="0"/>
          </a:p>
          <a:p>
            <a:pPr indent="0" marL="0">
              <a:spcAft>
                <a:spcPts val="400"/>
              </a:spcAft>
              <a:buNone/>
            </a:pPr>
            <a:r>
              <a:rPr lang="en-US" sz="1600" dirty="0">
                <a:solidFill>
                  <a:schemeClr val="accent6"/>
                </a:solidFill>
              </a:rPr>
              <a:t>Academic year: [Academic Year]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Introduction: what is Galora?</a:t>
            </a:r>
            <a:endParaRPr lang="en-US" sz="3400" dirty="0"/>
          </a:p>
        </p:txBody>
      </p:sp>
      <p:sp>
        <p:nvSpPr>
          <p:cNvPr id="3" name="Text 1"/>
          <p:cNvSpPr txBox="1"/>
          <p:nvPr/>
        </p:nvSpPr>
        <p:spPr>
          <a:xfrm>
            <a:off x="548640" y="1371600"/>
            <a:ext cx="5669280" cy="914400"/>
          </a:xfrm>
          <a:prstGeom prst="rect">
            <a:avLst/>
          </a:prstGeom>
          <a:noFill/>
          <a:ln/>
        </p:spPr>
        <p:txBody>
          <a:bodyPr wrap="square" lIns="0" tIns="0" rIns="0" bIns="0" rtlCol="0" anchor="t"/>
          <a:lstStyle/>
          <a:p>
            <a:pPr indent="0" marL="0">
              <a:buNone/>
            </a:pPr>
            <a:r>
              <a:rPr lang="en-US" sz="2600" b="1" dirty="0">
                <a:solidFill>
                  <a:schemeClr val="accent3"/>
                </a:solidFill>
              </a:rPr>
              <a:t>One platform that connects salons and their customers.</a:t>
            </a:r>
            <a:endParaRPr lang="en-US" sz="2600" dirty="0"/>
          </a:p>
        </p:txBody>
      </p:sp>
      <p:sp>
        <p:nvSpPr>
          <p:cNvPr id="4" name="Text 2"/>
          <p:cNvSpPr txBox="1"/>
          <p:nvPr/>
        </p:nvSpPr>
        <p:spPr>
          <a:xfrm>
            <a:off x="548640" y="2468880"/>
            <a:ext cx="5486400" cy="2377440"/>
          </a:xfrm>
          <a:prstGeom prst="rect">
            <a:avLst/>
          </a:prstGeom>
          <a:noFill/>
          <a:ln/>
        </p:spPr>
        <p:txBody>
          <a:bodyPr wrap="square" lIns="0" tIns="0" rIns="0" bIns="0" rtlCol="0" anchor="t"/>
          <a:lstStyle/>
          <a:p>
            <a:pPr marL="203200" indent="-203200">
              <a:spcAft>
                <a:spcPts val="1200"/>
              </a:spcAft>
              <a:buSzPct val="100000"/>
              <a:buChar char="•"/>
            </a:pPr>
            <a:r>
              <a:rPr lang="en-US" sz="1800" dirty="0">
                <a:solidFill>
                  <a:schemeClr val="tx1"/>
                </a:solidFill>
              </a:rPr>
              <a:t>Salon teams run appointments, customers, billing and offers from one dashboard.</a:t>
            </a:r>
            <a:endParaRPr lang="en-US" sz="1800" dirty="0"/>
          </a:p>
          <a:p>
            <a:pPr marL="203200" indent="-203200">
              <a:spcAft>
                <a:spcPts val="1200"/>
              </a:spcAft>
              <a:buSzPct val="100000"/>
              <a:buChar char="•"/>
            </a:pPr>
            <a:r>
              <a:rPr lang="en-US" sz="1800" dirty="0">
                <a:solidFill>
                  <a:schemeClr val="tx1"/>
                </a:solidFill>
              </a:rPr>
              <a:t>Customers find a salon, pick services and book a time slot online.</a:t>
            </a:r>
            <a:endParaRPr lang="en-US" sz="1800" dirty="0"/>
          </a:p>
          <a:p>
            <a:pPr marL="203200" indent="-203200">
              <a:spcAft>
                <a:spcPts val="1200"/>
              </a:spcAft>
              <a:buSzPct val="100000"/>
              <a:buChar char="•"/>
            </a:pPr>
            <a:r>
              <a:rPr lang="en-US" sz="1800" dirty="0">
                <a:solidFill>
                  <a:schemeClr val="tx1"/>
                </a:solidFill>
              </a:rPr>
              <a:t>A Super Admin oversees every salon on the platform.</a:t>
            </a:r>
            <a:endParaRPr lang="en-US" sz="1800" dirty="0"/>
          </a:p>
        </p:txBody>
      </p:sp>
      <p:sp>
        <p:nvSpPr>
          <p:cNvPr id="5" name="Tech summary card"/>
          <p:cNvSpPr/>
          <p:nvPr/>
        </p:nvSpPr>
        <p:spPr>
          <a:xfrm>
            <a:off x="548640" y="5074920"/>
            <a:ext cx="5486400" cy="1097280"/>
          </a:xfrm>
          <a:prstGeom prst="roundRect">
            <a:avLst>
              <a:gd name="adj" fmla="val 10000"/>
            </a:avLst>
          </a:prstGeom>
          <a:solidFill>
            <a:schemeClr val="tx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6" name="Text 4"/>
          <p:cNvSpPr txBox="1"/>
          <p:nvPr/>
        </p:nvSpPr>
        <p:spPr>
          <a:xfrm>
            <a:off x="777240" y="5166360"/>
            <a:ext cx="5029200" cy="914400"/>
          </a:xfrm>
          <a:prstGeom prst="rect">
            <a:avLst/>
          </a:prstGeom>
          <a:noFill/>
          <a:ln/>
        </p:spPr>
        <p:txBody>
          <a:bodyPr wrap="square" lIns="0" tIns="0" rIns="0" bIns="0" rtlCol="0" anchor="ctr"/>
          <a:lstStyle/>
          <a:p>
            <a:pPr indent="0" marL="0">
              <a:buNone/>
            </a:pPr>
            <a:r>
              <a:rPr lang="en-US" sz="1800" b="1" dirty="0">
                <a:solidFill>
                  <a:schemeClr val="accent1"/>
                </a:solidFill>
              </a:rPr>
              <a:t>Website (React)  +  Mobile app (Expo)</a:t>
            </a:r>
            <a:endParaRPr lang="en-US" sz="1800" dirty="0"/>
          </a:p>
          <a:p>
            <a:pPr indent="0" marL="0">
              <a:buNone/>
            </a:pPr>
            <a:r>
              <a:rPr lang="en-US" sz="1800" dirty="0">
                <a:solidFill>
                  <a:schemeClr val="accent6"/>
                </a:solidFill>
              </a:rPr>
              <a:t>One REST API  |  MongoDB database</a:t>
            </a:r>
            <a:endParaRPr lang="en-US" sz="1800" dirty="0"/>
          </a:p>
        </p:txBody>
      </p:sp>
      <p:sp>
        <p:nvSpPr>
          <p:cNvPr id="7" name="Role card Salon owners &amp; staff"/>
          <p:cNvSpPr/>
          <p:nvPr/>
        </p:nvSpPr>
        <p:spPr>
          <a:xfrm>
            <a:off x="6583680" y="1371600"/>
            <a:ext cx="5029200" cy="1463040"/>
          </a:xfrm>
          <a:prstGeom prst="roundRect">
            <a:avLst>
              <a:gd name="adj" fmla="val 7500"/>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8" name="Icon circle FaStore"/>
          <p:cNvSpPr/>
          <p:nvPr/>
        </p:nvSpPr>
        <p:spPr>
          <a:xfrm>
            <a:off x="6812280" y="1719072"/>
            <a:ext cx="768096" cy="768096"/>
          </a:xfrm>
          <a:prstGeom prst="ellipse">
            <a:avLst/>
          </a:prstGeom>
          <a:solidFill>
            <a:schemeClr val="accent1"/>
          </a:solidFill>
          <a:ln w="12700">
            <a:solidFill>
              <a:schemeClr val="accent1"/>
            </a:solidFill>
            <a:prstDash val="solid"/>
          </a:ln>
        </p:spPr>
      </p:sp>
      <p:pic>
        <p:nvPicPr>
          <p:cNvPr id="9" name="Image 0" descr="Store icon">    </p:cNvPr>
          <p:cNvPicPr>
            <a:picLocks noChangeAspect="1"/>
          </p:cNvPicPr>
          <p:nvPr/>
        </p:nvPicPr>
        <p:blipFill>
          <a:blip r:embed="rId1"/>
          <a:stretch>
            <a:fillRect/>
          </a:stretch>
        </p:blipFill>
        <p:spPr>
          <a:xfrm>
            <a:off x="7019666" y="1926458"/>
            <a:ext cx="353324" cy="353324"/>
          </a:xfrm>
          <a:prstGeom prst="rect">
            <a:avLst/>
          </a:prstGeom>
        </p:spPr>
      </p:pic>
      <p:sp>
        <p:nvSpPr>
          <p:cNvPr id="10" name="Text 7"/>
          <p:cNvSpPr txBox="1"/>
          <p:nvPr/>
        </p:nvSpPr>
        <p:spPr>
          <a:xfrm>
            <a:off x="7772400" y="1627632"/>
            <a:ext cx="3657600" cy="365760"/>
          </a:xfrm>
          <a:prstGeom prst="rect">
            <a:avLst/>
          </a:prstGeom>
          <a:noFill/>
          <a:ln/>
        </p:spPr>
        <p:txBody>
          <a:bodyPr wrap="square" lIns="0" tIns="0" rIns="0" bIns="0" rtlCol="0" anchor="t"/>
          <a:lstStyle/>
          <a:p>
            <a:pPr indent="0" marL="0">
              <a:buNone/>
            </a:pPr>
            <a:r>
              <a:rPr lang="en-US" sz="2000" b="1" dirty="0">
                <a:solidFill>
                  <a:schemeClr val="tx1"/>
                </a:solidFill>
              </a:rPr>
              <a:t>Salon owners &amp; staff</a:t>
            </a:r>
            <a:endParaRPr lang="en-US" sz="2000" dirty="0"/>
          </a:p>
        </p:txBody>
      </p:sp>
      <p:sp>
        <p:nvSpPr>
          <p:cNvPr id="11" name="Text 8"/>
          <p:cNvSpPr txBox="1"/>
          <p:nvPr/>
        </p:nvSpPr>
        <p:spPr>
          <a:xfrm>
            <a:off x="7772400" y="2057400"/>
            <a:ext cx="3657600" cy="640080"/>
          </a:xfrm>
          <a:prstGeom prst="rect">
            <a:avLst/>
          </a:prstGeom>
          <a:noFill/>
          <a:ln/>
        </p:spPr>
        <p:txBody>
          <a:bodyPr wrap="square" lIns="0" tIns="0" rIns="0" bIns="0" rtlCol="0" anchor="t"/>
          <a:lstStyle/>
          <a:p>
            <a:pPr indent="0" marL="0">
              <a:buNone/>
            </a:pPr>
            <a:r>
              <a:rPr lang="en-US" sz="1500" dirty="0">
                <a:solidFill>
                  <a:schemeClr val="tx2"/>
                </a:solidFill>
              </a:rPr>
              <a:t>Manage the whole salon from one dashboard.</a:t>
            </a:r>
            <a:endParaRPr lang="en-US" sz="1500" dirty="0"/>
          </a:p>
        </p:txBody>
      </p:sp>
      <p:sp>
        <p:nvSpPr>
          <p:cNvPr id="12" name="Role card Customers"/>
          <p:cNvSpPr/>
          <p:nvPr/>
        </p:nvSpPr>
        <p:spPr>
          <a:xfrm>
            <a:off x="6583680" y="3017520"/>
            <a:ext cx="5029200" cy="1463040"/>
          </a:xfrm>
          <a:prstGeom prst="roundRect">
            <a:avLst>
              <a:gd name="adj" fmla="val 7500"/>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13" name="Icon circle FaUsers"/>
          <p:cNvSpPr/>
          <p:nvPr/>
        </p:nvSpPr>
        <p:spPr>
          <a:xfrm>
            <a:off x="6812280" y="3364992"/>
            <a:ext cx="768096" cy="768096"/>
          </a:xfrm>
          <a:prstGeom prst="ellipse">
            <a:avLst/>
          </a:prstGeom>
          <a:solidFill>
            <a:schemeClr val="accent1"/>
          </a:solidFill>
          <a:ln w="12700">
            <a:solidFill>
              <a:schemeClr val="accent1"/>
            </a:solidFill>
            <a:prstDash val="solid"/>
          </a:ln>
        </p:spPr>
      </p:sp>
      <p:pic>
        <p:nvPicPr>
          <p:cNvPr id="14" name="Image 1" descr="Users icon">    </p:cNvPr>
          <p:cNvPicPr>
            <a:picLocks noChangeAspect="1"/>
          </p:cNvPicPr>
          <p:nvPr/>
        </p:nvPicPr>
        <p:blipFill>
          <a:blip r:embed="rId2"/>
          <a:stretch>
            <a:fillRect/>
          </a:stretch>
        </p:blipFill>
        <p:spPr>
          <a:xfrm>
            <a:off x="7019666" y="3572378"/>
            <a:ext cx="353324" cy="353324"/>
          </a:xfrm>
          <a:prstGeom prst="rect">
            <a:avLst/>
          </a:prstGeom>
        </p:spPr>
      </p:pic>
      <p:sp>
        <p:nvSpPr>
          <p:cNvPr id="15" name="Text 11"/>
          <p:cNvSpPr txBox="1"/>
          <p:nvPr/>
        </p:nvSpPr>
        <p:spPr>
          <a:xfrm>
            <a:off x="7772400" y="3273552"/>
            <a:ext cx="3657600" cy="365760"/>
          </a:xfrm>
          <a:prstGeom prst="rect">
            <a:avLst/>
          </a:prstGeom>
          <a:noFill/>
          <a:ln/>
        </p:spPr>
        <p:txBody>
          <a:bodyPr wrap="square" lIns="0" tIns="0" rIns="0" bIns="0" rtlCol="0" anchor="t"/>
          <a:lstStyle/>
          <a:p>
            <a:pPr indent="0" marL="0">
              <a:buNone/>
            </a:pPr>
            <a:r>
              <a:rPr lang="en-US" sz="2000" b="1" dirty="0">
                <a:solidFill>
                  <a:schemeClr val="tx1"/>
                </a:solidFill>
              </a:rPr>
              <a:t>Customers</a:t>
            </a:r>
            <a:endParaRPr lang="en-US" sz="2000" dirty="0"/>
          </a:p>
        </p:txBody>
      </p:sp>
      <p:sp>
        <p:nvSpPr>
          <p:cNvPr id="16" name="Text 12"/>
          <p:cNvSpPr txBox="1"/>
          <p:nvPr/>
        </p:nvSpPr>
        <p:spPr>
          <a:xfrm>
            <a:off x="7772400" y="3703320"/>
            <a:ext cx="3657600" cy="640080"/>
          </a:xfrm>
          <a:prstGeom prst="rect">
            <a:avLst/>
          </a:prstGeom>
          <a:noFill/>
          <a:ln/>
        </p:spPr>
        <p:txBody>
          <a:bodyPr wrap="square" lIns="0" tIns="0" rIns="0" bIns="0" rtlCol="0" anchor="t"/>
          <a:lstStyle/>
          <a:p>
            <a:pPr indent="0" marL="0">
              <a:buNone/>
            </a:pPr>
            <a:r>
              <a:rPr lang="en-US" sz="1500" dirty="0">
                <a:solidFill>
                  <a:schemeClr val="tx2"/>
                </a:solidFill>
              </a:rPr>
              <a:t>Discover salons, compare prices, book a slot.</a:t>
            </a:r>
            <a:endParaRPr lang="en-US" sz="1500" dirty="0"/>
          </a:p>
        </p:txBody>
      </p:sp>
      <p:sp>
        <p:nvSpPr>
          <p:cNvPr id="17" name="Role card Platform admin"/>
          <p:cNvSpPr/>
          <p:nvPr/>
        </p:nvSpPr>
        <p:spPr>
          <a:xfrm>
            <a:off x="6583680" y="4663440"/>
            <a:ext cx="5029200" cy="1463040"/>
          </a:xfrm>
          <a:prstGeom prst="roundRect">
            <a:avLst>
              <a:gd name="adj" fmla="val 7500"/>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18" name="Icon circle FaUserShield"/>
          <p:cNvSpPr/>
          <p:nvPr/>
        </p:nvSpPr>
        <p:spPr>
          <a:xfrm>
            <a:off x="6812280" y="5010912"/>
            <a:ext cx="768096" cy="768096"/>
          </a:xfrm>
          <a:prstGeom prst="ellipse">
            <a:avLst/>
          </a:prstGeom>
          <a:solidFill>
            <a:schemeClr val="accent1"/>
          </a:solidFill>
          <a:ln w="12700">
            <a:solidFill>
              <a:schemeClr val="accent1"/>
            </a:solidFill>
            <a:prstDash val="solid"/>
          </a:ln>
        </p:spPr>
      </p:sp>
      <p:pic>
        <p:nvPicPr>
          <p:cNvPr id="19" name="Image 2" descr="UserShield icon">    </p:cNvPr>
          <p:cNvPicPr>
            <a:picLocks noChangeAspect="1"/>
          </p:cNvPicPr>
          <p:nvPr/>
        </p:nvPicPr>
        <p:blipFill>
          <a:blip r:embed="rId3"/>
          <a:stretch>
            <a:fillRect/>
          </a:stretch>
        </p:blipFill>
        <p:spPr>
          <a:xfrm>
            <a:off x="7019666" y="5218298"/>
            <a:ext cx="353324" cy="353324"/>
          </a:xfrm>
          <a:prstGeom prst="rect">
            <a:avLst/>
          </a:prstGeom>
        </p:spPr>
      </p:pic>
      <p:sp>
        <p:nvSpPr>
          <p:cNvPr id="20" name="Text 15"/>
          <p:cNvSpPr txBox="1"/>
          <p:nvPr/>
        </p:nvSpPr>
        <p:spPr>
          <a:xfrm>
            <a:off x="7772400" y="4919472"/>
            <a:ext cx="3657600" cy="365760"/>
          </a:xfrm>
          <a:prstGeom prst="rect">
            <a:avLst/>
          </a:prstGeom>
          <a:noFill/>
          <a:ln/>
        </p:spPr>
        <p:txBody>
          <a:bodyPr wrap="square" lIns="0" tIns="0" rIns="0" bIns="0" rtlCol="0" anchor="t"/>
          <a:lstStyle/>
          <a:p>
            <a:pPr indent="0" marL="0">
              <a:buNone/>
            </a:pPr>
            <a:r>
              <a:rPr lang="en-US" sz="2000" b="1" dirty="0">
                <a:solidFill>
                  <a:schemeClr val="tx1"/>
                </a:solidFill>
              </a:rPr>
              <a:t>Platform admin</a:t>
            </a:r>
            <a:endParaRPr lang="en-US" sz="2000" dirty="0"/>
          </a:p>
        </p:txBody>
      </p:sp>
      <p:sp>
        <p:nvSpPr>
          <p:cNvPr id="21" name="Text 16"/>
          <p:cNvSpPr txBox="1"/>
          <p:nvPr/>
        </p:nvSpPr>
        <p:spPr>
          <a:xfrm>
            <a:off x="7772400" y="5349240"/>
            <a:ext cx="3657600" cy="640080"/>
          </a:xfrm>
          <a:prstGeom prst="rect">
            <a:avLst/>
          </a:prstGeom>
          <a:noFill/>
          <a:ln/>
        </p:spPr>
        <p:txBody>
          <a:bodyPr wrap="square" lIns="0" tIns="0" rIns="0" bIns="0" rtlCol="0" anchor="t"/>
          <a:lstStyle/>
          <a:p>
            <a:pPr indent="0" marL="0">
              <a:buNone/>
            </a:pPr>
            <a:r>
              <a:rPr lang="en-US" sz="1500" dirty="0">
                <a:solidFill>
                  <a:schemeClr val="tx2"/>
                </a:solidFill>
              </a:rPr>
              <a:t>Approve owners and monitor all salons.</a:t>
            </a:r>
            <a:endParaRPr lang="en-US" sz="15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Problem statement</a:t>
            </a:r>
            <a:endParaRPr lang="en-US" sz="3400" dirty="0"/>
          </a:p>
        </p:txBody>
      </p:sp>
      <p:sp>
        <p:nvSpPr>
          <p:cNvPr id="3" name="Problem card Appointment clashes"/>
          <p:cNvSpPr/>
          <p:nvPr/>
        </p:nvSpPr>
        <p:spPr>
          <a:xfrm>
            <a:off x="548640" y="1417320"/>
            <a:ext cx="3566160" cy="2286000"/>
          </a:xfrm>
          <a:prstGeom prst="roundRect">
            <a:avLst>
              <a:gd name="adj" fmla="val 4800"/>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4" name="Icon circle FaCalendarCheck"/>
          <p:cNvSpPr/>
          <p:nvPr/>
        </p:nvSpPr>
        <p:spPr>
          <a:xfrm>
            <a:off x="822960" y="1691640"/>
            <a:ext cx="640080" cy="640080"/>
          </a:xfrm>
          <a:prstGeom prst="ellipse">
            <a:avLst/>
          </a:prstGeom>
          <a:solidFill>
            <a:schemeClr val="accent1"/>
          </a:solidFill>
          <a:ln w="12700">
            <a:solidFill>
              <a:schemeClr val="accent1"/>
            </a:solidFill>
            <a:prstDash val="solid"/>
          </a:ln>
        </p:spPr>
      </p:sp>
      <p:pic>
        <p:nvPicPr>
          <p:cNvPr id="5" name="Image 0" descr="CalendarCheck icon">    </p:cNvPr>
          <p:cNvPicPr>
            <a:picLocks noChangeAspect="1"/>
          </p:cNvPicPr>
          <p:nvPr/>
        </p:nvPicPr>
        <p:blipFill>
          <a:blip r:embed="rId1"/>
          <a:stretch>
            <a:fillRect/>
          </a:stretch>
        </p:blipFill>
        <p:spPr>
          <a:xfrm>
            <a:off x="995782" y="1864462"/>
            <a:ext cx="294437" cy="294437"/>
          </a:xfrm>
          <a:prstGeom prst="rect">
            <a:avLst/>
          </a:prstGeom>
        </p:spPr>
      </p:pic>
      <p:sp>
        <p:nvSpPr>
          <p:cNvPr id="6" name="Text 3"/>
          <p:cNvSpPr txBox="1"/>
          <p:nvPr/>
        </p:nvSpPr>
        <p:spPr>
          <a:xfrm>
            <a:off x="822960" y="2441448"/>
            <a:ext cx="3017520" cy="365760"/>
          </a:xfrm>
          <a:prstGeom prst="rect">
            <a:avLst/>
          </a:prstGeom>
          <a:noFill/>
          <a:ln/>
        </p:spPr>
        <p:txBody>
          <a:bodyPr wrap="square" lIns="0" tIns="0" rIns="0" bIns="0" rtlCol="0" anchor="t"/>
          <a:lstStyle/>
          <a:p>
            <a:pPr indent="0" marL="0">
              <a:buNone/>
            </a:pPr>
            <a:r>
              <a:rPr lang="en-US" sz="1800" b="1" dirty="0">
                <a:solidFill>
                  <a:schemeClr val="tx1"/>
                </a:solidFill>
              </a:rPr>
              <a:t>Appointment clashes</a:t>
            </a:r>
            <a:endParaRPr lang="en-US" sz="1800" dirty="0"/>
          </a:p>
        </p:txBody>
      </p:sp>
      <p:sp>
        <p:nvSpPr>
          <p:cNvPr id="7" name="Text 4"/>
          <p:cNvSpPr txBox="1"/>
          <p:nvPr/>
        </p:nvSpPr>
        <p:spPr>
          <a:xfrm>
            <a:off x="822960" y="2834640"/>
            <a:ext cx="3063240" cy="777240"/>
          </a:xfrm>
          <a:prstGeom prst="rect">
            <a:avLst/>
          </a:prstGeom>
          <a:noFill/>
          <a:ln/>
        </p:spPr>
        <p:txBody>
          <a:bodyPr wrap="square" lIns="0" tIns="0" rIns="0" bIns="0" rtlCol="0" anchor="t"/>
          <a:lstStyle/>
          <a:p>
            <a:pPr indent="0" marL="0">
              <a:buNone/>
            </a:pPr>
            <a:r>
              <a:rPr lang="en-US" sz="1400" dirty="0">
                <a:solidFill>
                  <a:schemeClr val="tx2"/>
                </a:solidFill>
              </a:rPr>
              <a:t>Phone calls and paper diaries lead to double-booking and missed slots.</a:t>
            </a:r>
            <a:endParaRPr lang="en-US" sz="1400" dirty="0"/>
          </a:p>
        </p:txBody>
      </p:sp>
      <p:sp>
        <p:nvSpPr>
          <p:cNvPr id="8" name="Problem card Scattered customer data"/>
          <p:cNvSpPr/>
          <p:nvPr/>
        </p:nvSpPr>
        <p:spPr>
          <a:xfrm>
            <a:off x="4297680" y="1417320"/>
            <a:ext cx="3566160" cy="2286000"/>
          </a:xfrm>
          <a:prstGeom prst="roundRect">
            <a:avLst>
              <a:gd name="adj" fmla="val 4800"/>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9" name="Icon circle FaClipboardList"/>
          <p:cNvSpPr/>
          <p:nvPr/>
        </p:nvSpPr>
        <p:spPr>
          <a:xfrm>
            <a:off x="4572000" y="1691640"/>
            <a:ext cx="640080" cy="640080"/>
          </a:xfrm>
          <a:prstGeom prst="ellipse">
            <a:avLst/>
          </a:prstGeom>
          <a:solidFill>
            <a:schemeClr val="accent1"/>
          </a:solidFill>
          <a:ln w="12700">
            <a:solidFill>
              <a:schemeClr val="accent1"/>
            </a:solidFill>
            <a:prstDash val="solid"/>
          </a:ln>
        </p:spPr>
      </p:sp>
      <p:pic>
        <p:nvPicPr>
          <p:cNvPr id="10" name="Image 1" descr="ClipboardList icon">    </p:cNvPr>
          <p:cNvPicPr>
            <a:picLocks noChangeAspect="1"/>
          </p:cNvPicPr>
          <p:nvPr/>
        </p:nvPicPr>
        <p:blipFill>
          <a:blip r:embed="rId2"/>
          <a:stretch>
            <a:fillRect/>
          </a:stretch>
        </p:blipFill>
        <p:spPr>
          <a:xfrm>
            <a:off x="4744822" y="1864462"/>
            <a:ext cx="294437" cy="294437"/>
          </a:xfrm>
          <a:prstGeom prst="rect">
            <a:avLst/>
          </a:prstGeom>
        </p:spPr>
      </p:pic>
      <p:sp>
        <p:nvSpPr>
          <p:cNvPr id="11" name="Text 7"/>
          <p:cNvSpPr txBox="1"/>
          <p:nvPr/>
        </p:nvSpPr>
        <p:spPr>
          <a:xfrm>
            <a:off x="4572000" y="2441448"/>
            <a:ext cx="3017520" cy="365760"/>
          </a:xfrm>
          <a:prstGeom prst="rect">
            <a:avLst/>
          </a:prstGeom>
          <a:noFill/>
          <a:ln/>
        </p:spPr>
        <p:txBody>
          <a:bodyPr wrap="square" lIns="0" tIns="0" rIns="0" bIns="0" rtlCol="0" anchor="t"/>
          <a:lstStyle/>
          <a:p>
            <a:pPr indent="0" marL="0">
              <a:buNone/>
            </a:pPr>
            <a:r>
              <a:rPr lang="en-US" sz="1800" b="1" dirty="0">
                <a:solidFill>
                  <a:schemeClr val="tx1"/>
                </a:solidFill>
              </a:rPr>
              <a:t>Scattered customer data</a:t>
            </a:r>
            <a:endParaRPr lang="en-US" sz="1800" dirty="0"/>
          </a:p>
        </p:txBody>
      </p:sp>
      <p:sp>
        <p:nvSpPr>
          <p:cNvPr id="12" name="Text 8"/>
          <p:cNvSpPr txBox="1"/>
          <p:nvPr/>
        </p:nvSpPr>
        <p:spPr>
          <a:xfrm>
            <a:off x="4572000" y="2834640"/>
            <a:ext cx="3063240" cy="777240"/>
          </a:xfrm>
          <a:prstGeom prst="rect">
            <a:avLst/>
          </a:prstGeom>
          <a:noFill/>
          <a:ln/>
        </p:spPr>
        <p:txBody>
          <a:bodyPr wrap="square" lIns="0" tIns="0" rIns="0" bIns="0" rtlCol="0" anchor="t"/>
          <a:lstStyle/>
          <a:p>
            <a:pPr indent="0" marL="0">
              <a:buNone/>
            </a:pPr>
            <a:r>
              <a:rPr lang="en-US" sz="1400" dirty="0">
                <a:solidFill>
                  <a:schemeClr val="tx2"/>
                </a:solidFill>
              </a:rPr>
              <a:t>Names, visit history and spending sit in notebooks or chat apps.</a:t>
            </a:r>
            <a:endParaRPr lang="en-US" sz="1400" dirty="0"/>
          </a:p>
        </p:txBody>
      </p:sp>
      <p:sp>
        <p:nvSpPr>
          <p:cNvPr id="13" name="Problem card Manual billing"/>
          <p:cNvSpPr/>
          <p:nvPr/>
        </p:nvSpPr>
        <p:spPr>
          <a:xfrm>
            <a:off x="8046720" y="1417320"/>
            <a:ext cx="3566160" cy="2286000"/>
          </a:xfrm>
          <a:prstGeom prst="roundRect">
            <a:avLst>
              <a:gd name="adj" fmla="val 4800"/>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14" name="Icon circle FaRupeeSign"/>
          <p:cNvSpPr/>
          <p:nvPr/>
        </p:nvSpPr>
        <p:spPr>
          <a:xfrm>
            <a:off x="8321040" y="1691640"/>
            <a:ext cx="640080" cy="640080"/>
          </a:xfrm>
          <a:prstGeom prst="ellipse">
            <a:avLst/>
          </a:prstGeom>
          <a:solidFill>
            <a:schemeClr val="accent1"/>
          </a:solidFill>
          <a:ln w="12700">
            <a:solidFill>
              <a:schemeClr val="accent1"/>
            </a:solidFill>
            <a:prstDash val="solid"/>
          </a:ln>
        </p:spPr>
      </p:sp>
      <p:pic>
        <p:nvPicPr>
          <p:cNvPr id="15" name="Image 2" descr="RupeeSign icon">    </p:cNvPr>
          <p:cNvPicPr>
            <a:picLocks noChangeAspect="1"/>
          </p:cNvPicPr>
          <p:nvPr/>
        </p:nvPicPr>
        <p:blipFill>
          <a:blip r:embed="rId3"/>
          <a:stretch>
            <a:fillRect/>
          </a:stretch>
        </p:blipFill>
        <p:spPr>
          <a:xfrm>
            <a:off x="8493862" y="1864462"/>
            <a:ext cx="294437" cy="294437"/>
          </a:xfrm>
          <a:prstGeom prst="rect">
            <a:avLst/>
          </a:prstGeom>
        </p:spPr>
      </p:pic>
      <p:sp>
        <p:nvSpPr>
          <p:cNvPr id="16" name="Text 11"/>
          <p:cNvSpPr txBox="1"/>
          <p:nvPr/>
        </p:nvSpPr>
        <p:spPr>
          <a:xfrm>
            <a:off x="8321040" y="2441448"/>
            <a:ext cx="3017520" cy="365760"/>
          </a:xfrm>
          <a:prstGeom prst="rect">
            <a:avLst/>
          </a:prstGeom>
          <a:noFill/>
          <a:ln/>
        </p:spPr>
        <p:txBody>
          <a:bodyPr wrap="square" lIns="0" tIns="0" rIns="0" bIns="0" rtlCol="0" anchor="t"/>
          <a:lstStyle/>
          <a:p>
            <a:pPr indent="0" marL="0">
              <a:buNone/>
            </a:pPr>
            <a:r>
              <a:rPr lang="en-US" sz="1800" b="1" dirty="0">
                <a:solidFill>
                  <a:schemeClr val="tx1"/>
                </a:solidFill>
              </a:rPr>
              <a:t>Manual billing</a:t>
            </a:r>
            <a:endParaRPr lang="en-US" sz="1800" dirty="0"/>
          </a:p>
        </p:txBody>
      </p:sp>
      <p:sp>
        <p:nvSpPr>
          <p:cNvPr id="17" name="Text 12"/>
          <p:cNvSpPr txBox="1"/>
          <p:nvPr/>
        </p:nvSpPr>
        <p:spPr>
          <a:xfrm>
            <a:off x="8321040" y="2834640"/>
            <a:ext cx="3063240" cy="777240"/>
          </a:xfrm>
          <a:prstGeom prst="rect">
            <a:avLst/>
          </a:prstGeom>
          <a:noFill/>
          <a:ln/>
        </p:spPr>
        <p:txBody>
          <a:bodyPr wrap="square" lIns="0" tIns="0" rIns="0" bIns="0" rtlCol="0" anchor="t"/>
          <a:lstStyle/>
          <a:p>
            <a:pPr indent="0" marL="0">
              <a:buNone/>
            </a:pPr>
            <a:r>
              <a:rPr lang="en-US" sz="1400" dirty="0">
                <a:solidFill>
                  <a:schemeClr val="tx2"/>
                </a:solidFill>
              </a:rPr>
              <a:t>Hand-written bills cause discount and tax mistakes; payments are hard to track.</a:t>
            </a:r>
            <a:endParaRPr lang="en-US" sz="1400" dirty="0"/>
          </a:p>
        </p:txBody>
      </p:sp>
      <p:sp>
        <p:nvSpPr>
          <p:cNvPr id="18" name="Problem card Packages on paper"/>
          <p:cNvSpPr/>
          <p:nvPr/>
        </p:nvSpPr>
        <p:spPr>
          <a:xfrm>
            <a:off x="548640" y="3886200"/>
            <a:ext cx="3566160" cy="2286000"/>
          </a:xfrm>
          <a:prstGeom prst="roundRect">
            <a:avLst>
              <a:gd name="adj" fmla="val 4800"/>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19" name="Icon circle FaGift"/>
          <p:cNvSpPr/>
          <p:nvPr/>
        </p:nvSpPr>
        <p:spPr>
          <a:xfrm>
            <a:off x="822960" y="4160520"/>
            <a:ext cx="640080" cy="640080"/>
          </a:xfrm>
          <a:prstGeom prst="ellipse">
            <a:avLst/>
          </a:prstGeom>
          <a:solidFill>
            <a:schemeClr val="accent1"/>
          </a:solidFill>
          <a:ln w="12700">
            <a:solidFill>
              <a:schemeClr val="accent1"/>
            </a:solidFill>
            <a:prstDash val="solid"/>
          </a:ln>
        </p:spPr>
      </p:sp>
      <p:pic>
        <p:nvPicPr>
          <p:cNvPr id="20" name="Image 3" descr="Gift icon">    </p:cNvPr>
          <p:cNvPicPr>
            <a:picLocks noChangeAspect="1"/>
          </p:cNvPicPr>
          <p:nvPr/>
        </p:nvPicPr>
        <p:blipFill>
          <a:blip r:embed="rId4"/>
          <a:stretch>
            <a:fillRect/>
          </a:stretch>
        </p:blipFill>
        <p:spPr>
          <a:xfrm>
            <a:off x="995782" y="4333342"/>
            <a:ext cx="294437" cy="294437"/>
          </a:xfrm>
          <a:prstGeom prst="rect">
            <a:avLst/>
          </a:prstGeom>
        </p:spPr>
      </p:pic>
      <p:sp>
        <p:nvSpPr>
          <p:cNvPr id="21" name="Text 15"/>
          <p:cNvSpPr txBox="1"/>
          <p:nvPr/>
        </p:nvSpPr>
        <p:spPr>
          <a:xfrm>
            <a:off x="822960" y="4910328"/>
            <a:ext cx="3017520" cy="365760"/>
          </a:xfrm>
          <a:prstGeom prst="rect">
            <a:avLst/>
          </a:prstGeom>
          <a:noFill/>
          <a:ln/>
        </p:spPr>
        <p:txBody>
          <a:bodyPr wrap="square" lIns="0" tIns="0" rIns="0" bIns="0" rtlCol="0" anchor="t"/>
          <a:lstStyle/>
          <a:p>
            <a:pPr indent="0" marL="0">
              <a:buNone/>
            </a:pPr>
            <a:r>
              <a:rPr lang="en-US" sz="1800" b="1" dirty="0">
                <a:solidFill>
                  <a:schemeClr val="tx1"/>
                </a:solidFill>
              </a:rPr>
              <a:t>Packages on paper</a:t>
            </a:r>
            <a:endParaRPr lang="en-US" sz="1800" dirty="0"/>
          </a:p>
        </p:txBody>
      </p:sp>
      <p:sp>
        <p:nvSpPr>
          <p:cNvPr id="22" name="Text 16"/>
          <p:cNvSpPr txBox="1"/>
          <p:nvPr/>
        </p:nvSpPr>
        <p:spPr>
          <a:xfrm>
            <a:off x="822960" y="5303520"/>
            <a:ext cx="3063240" cy="777240"/>
          </a:xfrm>
          <a:prstGeom prst="rect">
            <a:avLst/>
          </a:prstGeom>
          <a:noFill/>
          <a:ln/>
        </p:spPr>
        <p:txBody>
          <a:bodyPr wrap="square" lIns="0" tIns="0" rIns="0" bIns="0" rtlCol="0" anchor="t"/>
          <a:lstStyle/>
          <a:p>
            <a:pPr indent="0" marL="0">
              <a:buNone/>
            </a:pPr>
            <a:r>
              <a:rPr lang="en-US" sz="1400" dirty="0">
                <a:solidFill>
                  <a:schemeClr val="tx2"/>
                </a:solidFill>
              </a:rPr>
              <a:t>Session balances and membership discounts are easy to forget or dispute.</a:t>
            </a:r>
            <a:endParaRPr lang="en-US" sz="1400" dirty="0"/>
          </a:p>
        </p:txBody>
      </p:sp>
      <p:sp>
        <p:nvSpPr>
          <p:cNvPr id="23" name="Problem card Customers cannot compare"/>
          <p:cNvSpPr/>
          <p:nvPr/>
        </p:nvSpPr>
        <p:spPr>
          <a:xfrm>
            <a:off x="4297680" y="3886200"/>
            <a:ext cx="3566160" cy="2286000"/>
          </a:xfrm>
          <a:prstGeom prst="roundRect">
            <a:avLst>
              <a:gd name="adj" fmla="val 4800"/>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24" name="Icon circle FaSearchLocation"/>
          <p:cNvSpPr/>
          <p:nvPr/>
        </p:nvSpPr>
        <p:spPr>
          <a:xfrm>
            <a:off x="4572000" y="4160520"/>
            <a:ext cx="640080" cy="640080"/>
          </a:xfrm>
          <a:prstGeom prst="ellipse">
            <a:avLst/>
          </a:prstGeom>
          <a:solidFill>
            <a:schemeClr val="accent1"/>
          </a:solidFill>
          <a:ln w="12700">
            <a:solidFill>
              <a:schemeClr val="accent1"/>
            </a:solidFill>
            <a:prstDash val="solid"/>
          </a:ln>
        </p:spPr>
      </p:sp>
      <p:pic>
        <p:nvPicPr>
          <p:cNvPr id="25" name="Image 4" descr="SearchLocation icon">    </p:cNvPr>
          <p:cNvPicPr>
            <a:picLocks noChangeAspect="1"/>
          </p:cNvPicPr>
          <p:nvPr/>
        </p:nvPicPr>
        <p:blipFill>
          <a:blip r:embed="rId5"/>
          <a:stretch>
            <a:fillRect/>
          </a:stretch>
        </p:blipFill>
        <p:spPr>
          <a:xfrm>
            <a:off x="4744822" y="4333342"/>
            <a:ext cx="294437" cy="294437"/>
          </a:xfrm>
          <a:prstGeom prst="rect">
            <a:avLst/>
          </a:prstGeom>
        </p:spPr>
      </p:pic>
      <p:sp>
        <p:nvSpPr>
          <p:cNvPr id="26" name="Text 19"/>
          <p:cNvSpPr txBox="1"/>
          <p:nvPr/>
        </p:nvSpPr>
        <p:spPr>
          <a:xfrm>
            <a:off x="4572000" y="4910328"/>
            <a:ext cx="3017520" cy="365760"/>
          </a:xfrm>
          <a:prstGeom prst="rect">
            <a:avLst/>
          </a:prstGeom>
          <a:noFill/>
          <a:ln/>
        </p:spPr>
        <p:txBody>
          <a:bodyPr wrap="square" lIns="0" tIns="0" rIns="0" bIns="0" rtlCol="0" anchor="t"/>
          <a:lstStyle/>
          <a:p>
            <a:pPr indent="0" marL="0">
              <a:buNone/>
            </a:pPr>
            <a:r>
              <a:rPr lang="en-US" sz="1800" b="1" dirty="0">
                <a:solidFill>
                  <a:schemeClr val="tx1"/>
                </a:solidFill>
              </a:rPr>
              <a:t>Customers cannot compare</a:t>
            </a:r>
            <a:endParaRPr lang="en-US" sz="1800" dirty="0"/>
          </a:p>
        </p:txBody>
      </p:sp>
      <p:sp>
        <p:nvSpPr>
          <p:cNvPr id="27" name="Text 20"/>
          <p:cNvSpPr txBox="1"/>
          <p:nvPr/>
        </p:nvSpPr>
        <p:spPr>
          <a:xfrm>
            <a:off x="4572000" y="5303520"/>
            <a:ext cx="3063240" cy="777240"/>
          </a:xfrm>
          <a:prstGeom prst="rect">
            <a:avLst/>
          </a:prstGeom>
          <a:noFill/>
          <a:ln/>
        </p:spPr>
        <p:txBody>
          <a:bodyPr wrap="square" lIns="0" tIns="0" rIns="0" bIns="0" rtlCol="0" anchor="t"/>
          <a:lstStyle/>
          <a:p>
            <a:pPr indent="0" marL="0">
              <a:buNone/>
            </a:pPr>
            <a:r>
              <a:rPr lang="en-US" sz="1400" dirty="0">
                <a:solidFill>
                  <a:schemeClr val="tx2"/>
                </a:solidFill>
              </a:rPr>
              <a:t>No easy way to see nearby salons, prices and free time slots online.</a:t>
            </a:r>
            <a:endParaRPr lang="en-US" sz="1400" dirty="0"/>
          </a:p>
        </p:txBody>
      </p:sp>
      <p:sp>
        <p:nvSpPr>
          <p:cNvPr id="28" name="Result card"/>
          <p:cNvSpPr/>
          <p:nvPr/>
        </p:nvSpPr>
        <p:spPr>
          <a:xfrm>
            <a:off x="8046720" y="3886200"/>
            <a:ext cx="3566160" cy="2286000"/>
          </a:xfrm>
          <a:prstGeom prst="roundRect">
            <a:avLst>
              <a:gd name="adj" fmla="val 4800"/>
            </a:avLst>
          </a:prstGeom>
          <a:solidFill>
            <a:schemeClr val="tx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29" name="Text 22"/>
          <p:cNvSpPr txBox="1"/>
          <p:nvPr/>
        </p:nvSpPr>
        <p:spPr>
          <a:xfrm>
            <a:off x="8321040" y="4206240"/>
            <a:ext cx="3017520" cy="365760"/>
          </a:xfrm>
          <a:prstGeom prst="rect">
            <a:avLst/>
          </a:prstGeom>
          <a:noFill/>
          <a:ln/>
        </p:spPr>
        <p:txBody>
          <a:bodyPr wrap="square" lIns="0" tIns="0" rIns="0" bIns="0" rtlCol="0" anchor="t"/>
          <a:lstStyle/>
          <a:p>
            <a:pPr indent="0" marL="0">
              <a:buNone/>
            </a:pPr>
            <a:r>
              <a:rPr lang="en-US" sz="1600" b="1" dirty="0">
                <a:solidFill>
                  <a:schemeClr val="accent1"/>
                </a:solidFill>
              </a:rPr>
              <a:t>The result</a:t>
            </a:r>
            <a:endParaRPr lang="en-US" sz="1600" dirty="0"/>
          </a:p>
        </p:txBody>
      </p:sp>
      <p:sp>
        <p:nvSpPr>
          <p:cNvPr id="30" name="Text 23"/>
          <p:cNvSpPr txBox="1"/>
          <p:nvPr/>
        </p:nvSpPr>
        <p:spPr>
          <a:xfrm>
            <a:off x="8321040" y="4709160"/>
            <a:ext cx="3017520" cy="1280160"/>
          </a:xfrm>
          <a:prstGeom prst="rect">
            <a:avLst/>
          </a:prstGeom>
          <a:noFill/>
          <a:ln/>
        </p:spPr>
        <p:txBody>
          <a:bodyPr wrap="square" lIns="0" tIns="0" rIns="0" bIns="0" rtlCol="0" anchor="t"/>
          <a:lstStyle/>
          <a:p>
            <a:pPr indent="0" marL="0">
              <a:buNone/>
            </a:pPr>
            <a:r>
              <a:rPr lang="en-US" sz="2000" b="1" dirty="0">
                <a:solidFill>
                  <a:schemeClr val="bg1"/>
                </a:solidFill>
              </a:rPr>
              <a:t>Time lost on paperwork, unhappy customers and missed repeat visits.</a:t>
            </a:r>
            <a:endParaRPr lang="en-US" sz="20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Project objectives</a:t>
            </a:r>
            <a:endParaRPr lang="en-US" sz="3400" dirty="0"/>
          </a:p>
        </p:txBody>
      </p:sp>
      <p:sp>
        <p:nvSpPr>
          <p:cNvPr id="3" name="Objective card For salon owners"/>
          <p:cNvSpPr/>
          <p:nvPr/>
        </p:nvSpPr>
        <p:spPr>
          <a:xfrm>
            <a:off x="548640" y="1417320"/>
            <a:ext cx="3566160" cy="4480560"/>
          </a:xfrm>
          <a:prstGeom prst="roundRect">
            <a:avLst>
              <a:gd name="adj" fmla="val 3077"/>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4" name="Icon circle FaStore"/>
          <p:cNvSpPr/>
          <p:nvPr/>
        </p:nvSpPr>
        <p:spPr>
          <a:xfrm>
            <a:off x="822960" y="1691640"/>
            <a:ext cx="685800" cy="685800"/>
          </a:xfrm>
          <a:prstGeom prst="ellipse">
            <a:avLst/>
          </a:prstGeom>
          <a:solidFill>
            <a:schemeClr val="accent1"/>
          </a:solidFill>
          <a:ln w="12700">
            <a:solidFill>
              <a:schemeClr val="accent1"/>
            </a:solidFill>
            <a:prstDash val="solid"/>
          </a:ln>
        </p:spPr>
      </p:sp>
      <p:pic>
        <p:nvPicPr>
          <p:cNvPr id="5" name="Image 0" descr="Store icon">    </p:cNvPr>
          <p:cNvPicPr>
            <a:picLocks noChangeAspect="1"/>
          </p:cNvPicPr>
          <p:nvPr/>
        </p:nvPicPr>
        <p:blipFill>
          <a:blip r:embed="rId1"/>
          <a:stretch>
            <a:fillRect/>
          </a:stretch>
        </p:blipFill>
        <p:spPr>
          <a:xfrm>
            <a:off x="1008126" y="1876806"/>
            <a:ext cx="315468" cy="315468"/>
          </a:xfrm>
          <a:prstGeom prst="rect">
            <a:avLst/>
          </a:prstGeom>
        </p:spPr>
      </p:pic>
      <p:sp>
        <p:nvSpPr>
          <p:cNvPr id="6" name="Text 3"/>
          <p:cNvSpPr txBox="1"/>
          <p:nvPr/>
        </p:nvSpPr>
        <p:spPr>
          <a:xfrm>
            <a:off x="1645920" y="1783080"/>
            <a:ext cx="2286000" cy="502920"/>
          </a:xfrm>
          <a:prstGeom prst="rect">
            <a:avLst/>
          </a:prstGeom>
          <a:noFill/>
          <a:ln/>
        </p:spPr>
        <p:txBody>
          <a:bodyPr wrap="square" lIns="0" tIns="0" rIns="0" bIns="0" rtlCol="0" anchor="ctr"/>
          <a:lstStyle/>
          <a:p>
            <a:pPr indent="0" marL="0">
              <a:buNone/>
            </a:pPr>
            <a:r>
              <a:rPr lang="en-US" sz="2000" b="1" dirty="0">
                <a:solidFill>
                  <a:schemeClr val="tx1"/>
                </a:solidFill>
              </a:rPr>
              <a:t>For salon owners</a:t>
            </a:r>
            <a:endParaRPr lang="en-US" sz="2000" dirty="0"/>
          </a:p>
        </p:txBody>
      </p:sp>
      <p:sp>
        <p:nvSpPr>
          <p:cNvPr id="7" name="Text 4"/>
          <p:cNvSpPr txBox="1"/>
          <p:nvPr/>
        </p:nvSpPr>
        <p:spPr>
          <a:xfrm>
            <a:off x="822960" y="2697480"/>
            <a:ext cx="3063240" cy="301752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chemeClr val="tx1"/>
                </a:solidFill>
              </a:rPr>
              <a:t>Run bookings, customers and billing in one place</a:t>
            </a:r>
            <a:endParaRPr lang="en-US" sz="1600" dirty="0"/>
          </a:p>
          <a:p>
            <a:pPr marL="203200" indent="-203200">
              <a:spcAft>
                <a:spcPts val="1400"/>
              </a:spcAft>
              <a:buSzPct val="100000"/>
              <a:buChar char="•"/>
            </a:pPr>
            <a:r>
              <a:rPr lang="en-US" sz="1600" dirty="0">
                <a:solidFill>
                  <a:schemeClr val="tx1"/>
                </a:solidFill>
              </a:rPr>
              <a:t>Control who can see and change what (roles)</a:t>
            </a:r>
            <a:endParaRPr lang="en-US" sz="1600" dirty="0"/>
          </a:p>
          <a:p>
            <a:pPr marL="203200" indent="-203200">
              <a:spcAft>
                <a:spcPts val="1400"/>
              </a:spcAft>
              <a:buSzPct val="100000"/>
              <a:buChar char="•"/>
            </a:pPr>
            <a:r>
              <a:rPr lang="en-US" sz="1600" dirty="0">
                <a:solidFill>
                  <a:schemeClr val="tx1"/>
                </a:solidFill>
              </a:rPr>
              <a:t>Sell packages and memberships, track balances</a:t>
            </a:r>
            <a:endParaRPr lang="en-US" sz="1600" dirty="0"/>
          </a:p>
          <a:p>
            <a:pPr marL="203200" indent="-203200">
              <a:spcAft>
                <a:spcPts val="1400"/>
              </a:spcAft>
              <a:buSzPct val="100000"/>
              <a:buChar char="•"/>
            </a:pPr>
            <a:r>
              <a:rPr lang="en-US" sz="1600" dirty="0">
                <a:solidFill>
                  <a:schemeClr val="tx1"/>
                </a:solidFill>
              </a:rPr>
              <a:t>Publish the salon so customers can find it</a:t>
            </a:r>
            <a:endParaRPr lang="en-US" sz="1600" dirty="0"/>
          </a:p>
        </p:txBody>
      </p:sp>
      <p:sp>
        <p:nvSpPr>
          <p:cNvPr id="8" name="Objective card For customers"/>
          <p:cNvSpPr/>
          <p:nvPr/>
        </p:nvSpPr>
        <p:spPr>
          <a:xfrm>
            <a:off x="4297680" y="1417320"/>
            <a:ext cx="3566160" cy="4480560"/>
          </a:xfrm>
          <a:prstGeom prst="roundRect">
            <a:avLst>
              <a:gd name="adj" fmla="val 3077"/>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9" name="Icon circle FaUsers"/>
          <p:cNvSpPr/>
          <p:nvPr/>
        </p:nvSpPr>
        <p:spPr>
          <a:xfrm>
            <a:off x="4572000" y="1691640"/>
            <a:ext cx="685800" cy="685800"/>
          </a:xfrm>
          <a:prstGeom prst="ellipse">
            <a:avLst/>
          </a:prstGeom>
          <a:solidFill>
            <a:schemeClr val="accent1"/>
          </a:solidFill>
          <a:ln w="12700">
            <a:solidFill>
              <a:schemeClr val="accent1"/>
            </a:solidFill>
            <a:prstDash val="solid"/>
          </a:ln>
        </p:spPr>
      </p:sp>
      <p:pic>
        <p:nvPicPr>
          <p:cNvPr id="10" name="Image 1" descr="Users icon">    </p:cNvPr>
          <p:cNvPicPr>
            <a:picLocks noChangeAspect="1"/>
          </p:cNvPicPr>
          <p:nvPr/>
        </p:nvPicPr>
        <p:blipFill>
          <a:blip r:embed="rId2"/>
          <a:stretch>
            <a:fillRect/>
          </a:stretch>
        </p:blipFill>
        <p:spPr>
          <a:xfrm>
            <a:off x="4757166" y="1876806"/>
            <a:ext cx="315468" cy="315468"/>
          </a:xfrm>
          <a:prstGeom prst="rect">
            <a:avLst/>
          </a:prstGeom>
        </p:spPr>
      </p:pic>
      <p:sp>
        <p:nvSpPr>
          <p:cNvPr id="11" name="Text 7"/>
          <p:cNvSpPr txBox="1"/>
          <p:nvPr/>
        </p:nvSpPr>
        <p:spPr>
          <a:xfrm>
            <a:off x="5394960" y="1783080"/>
            <a:ext cx="2286000" cy="502920"/>
          </a:xfrm>
          <a:prstGeom prst="rect">
            <a:avLst/>
          </a:prstGeom>
          <a:noFill/>
          <a:ln/>
        </p:spPr>
        <p:txBody>
          <a:bodyPr wrap="square" lIns="0" tIns="0" rIns="0" bIns="0" rtlCol="0" anchor="ctr"/>
          <a:lstStyle/>
          <a:p>
            <a:pPr indent="0" marL="0">
              <a:buNone/>
            </a:pPr>
            <a:r>
              <a:rPr lang="en-US" sz="2000" b="1" dirty="0">
                <a:solidFill>
                  <a:schemeClr val="tx1"/>
                </a:solidFill>
              </a:rPr>
              <a:t>For customers</a:t>
            </a:r>
            <a:endParaRPr lang="en-US" sz="2000" dirty="0"/>
          </a:p>
        </p:txBody>
      </p:sp>
      <p:sp>
        <p:nvSpPr>
          <p:cNvPr id="12" name="Text 8"/>
          <p:cNvSpPr txBox="1"/>
          <p:nvPr/>
        </p:nvSpPr>
        <p:spPr>
          <a:xfrm>
            <a:off x="4572000" y="2697480"/>
            <a:ext cx="3063240" cy="301752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chemeClr val="tx1"/>
                </a:solidFill>
              </a:rPr>
              <a:t>Find salons by city, area, service and price</a:t>
            </a:r>
            <a:endParaRPr lang="en-US" sz="1600" dirty="0"/>
          </a:p>
          <a:p>
            <a:pPr marL="203200" indent="-203200">
              <a:spcAft>
                <a:spcPts val="1400"/>
              </a:spcAft>
              <a:buSzPct val="100000"/>
              <a:buChar char="•"/>
            </a:pPr>
            <a:r>
              <a:rPr lang="en-US" sz="1600" dirty="0">
                <a:solidFill>
                  <a:schemeClr val="tx1"/>
                </a:solidFill>
              </a:rPr>
              <a:t>See services, prices and free time slots</a:t>
            </a:r>
            <a:endParaRPr lang="en-US" sz="1600" dirty="0"/>
          </a:p>
          <a:p>
            <a:pPr marL="203200" indent="-203200">
              <a:spcAft>
                <a:spcPts val="1400"/>
              </a:spcAft>
              <a:buSzPct val="100000"/>
              <a:buChar char="•"/>
            </a:pPr>
            <a:r>
              <a:rPr lang="en-US" sz="1600" dirty="0">
                <a:solidFill>
                  <a:schemeClr val="tx1"/>
                </a:solidFill>
              </a:rPr>
              <a:t>Book in a few taps, from web or mobile</a:t>
            </a:r>
            <a:endParaRPr lang="en-US" sz="1600" dirty="0"/>
          </a:p>
          <a:p>
            <a:pPr marL="203200" indent="-203200">
              <a:spcAft>
                <a:spcPts val="1400"/>
              </a:spcAft>
              <a:buSzPct val="100000"/>
              <a:buChar char="•"/>
            </a:pPr>
            <a:r>
              <a:rPr lang="en-US" sz="1600" dirty="0">
                <a:solidFill>
                  <a:schemeClr val="tx1"/>
                </a:solidFill>
              </a:rPr>
              <a:t>Know the booking status (pending, confirmed)</a:t>
            </a:r>
            <a:endParaRPr lang="en-US" sz="1600" dirty="0"/>
          </a:p>
        </p:txBody>
      </p:sp>
      <p:sp>
        <p:nvSpPr>
          <p:cNvPr id="13" name="Objective card For the platform"/>
          <p:cNvSpPr/>
          <p:nvPr/>
        </p:nvSpPr>
        <p:spPr>
          <a:xfrm>
            <a:off x="8046720" y="1417320"/>
            <a:ext cx="3566160" cy="4480560"/>
          </a:xfrm>
          <a:prstGeom prst="roundRect">
            <a:avLst>
              <a:gd name="adj" fmla="val 3077"/>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14" name="Icon circle FaUserShield"/>
          <p:cNvSpPr/>
          <p:nvPr/>
        </p:nvSpPr>
        <p:spPr>
          <a:xfrm>
            <a:off x="8321040" y="1691640"/>
            <a:ext cx="685800" cy="685800"/>
          </a:xfrm>
          <a:prstGeom prst="ellipse">
            <a:avLst/>
          </a:prstGeom>
          <a:solidFill>
            <a:schemeClr val="accent1"/>
          </a:solidFill>
          <a:ln w="12700">
            <a:solidFill>
              <a:schemeClr val="accent1"/>
            </a:solidFill>
            <a:prstDash val="solid"/>
          </a:ln>
        </p:spPr>
      </p:sp>
      <p:pic>
        <p:nvPicPr>
          <p:cNvPr id="15" name="Image 2" descr="UserShield icon">    </p:cNvPr>
          <p:cNvPicPr>
            <a:picLocks noChangeAspect="1"/>
          </p:cNvPicPr>
          <p:nvPr/>
        </p:nvPicPr>
        <p:blipFill>
          <a:blip r:embed="rId3"/>
          <a:stretch>
            <a:fillRect/>
          </a:stretch>
        </p:blipFill>
        <p:spPr>
          <a:xfrm>
            <a:off x="8506206" y="1876806"/>
            <a:ext cx="315468" cy="315468"/>
          </a:xfrm>
          <a:prstGeom prst="rect">
            <a:avLst/>
          </a:prstGeom>
        </p:spPr>
      </p:pic>
      <p:sp>
        <p:nvSpPr>
          <p:cNvPr id="16" name="Text 11"/>
          <p:cNvSpPr txBox="1"/>
          <p:nvPr/>
        </p:nvSpPr>
        <p:spPr>
          <a:xfrm>
            <a:off x="9144000" y="1783080"/>
            <a:ext cx="2286000" cy="502920"/>
          </a:xfrm>
          <a:prstGeom prst="rect">
            <a:avLst/>
          </a:prstGeom>
          <a:noFill/>
          <a:ln/>
        </p:spPr>
        <p:txBody>
          <a:bodyPr wrap="square" lIns="0" tIns="0" rIns="0" bIns="0" rtlCol="0" anchor="ctr"/>
          <a:lstStyle/>
          <a:p>
            <a:pPr indent="0" marL="0">
              <a:buNone/>
            </a:pPr>
            <a:r>
              <a:rPr lang="en-US" sz="2000" b="1" dirty="0">
                <a:solidFill>
                  <a:schemeClr val="tx1"/>
                </a:solidFill>
              </a:rPr>
              <a:t>For the platform</a:t>
            </a:r>
            <a:endParaRPr lang="en-US" sz="2000" dirty="0"/>
          </a:p>
        </p:txBody>
      </p:sp>
      <p:sp>
        <p:nvSpPr>
          <p:cNvPr id="17" name="Text 12"/>
          <p:cNvSpPr txBox="1"/>
          <p:nvPr/>
        </p:nvSpPr>
        <p:spPr>
          <a:xfrm>
            <a:off x="8321040" y="2697480"/>
            <a:ext cx="3063240" cy="301752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chemeClr val="tx1"/>
                </a:solidFill>
              </a:rPr>
              <a:t>Approve new salon owners before access</a:t>
            </a:r>
            <a:endParaRPr lang="en-US" sz="1600" dirty="0"/>
          </a:p>
          <a:p>
            <a:pPr marL="203200" indent="-203200">
              <a:spcAft>
                <a:spcPts val="1400"/>
              </a:spcAft>
              <a:buSzPct val="100000"/>
              <a:buChar char="•"/>
            </a:pPr>
            <a:r>
              <a:rPr lang="en-US" sz="1600" dirty="0">
                <a:solidFill>
                  <a:schemeClr val="tx1"/>
                </a:solidFill>
              </a:rPr>
              <a:t>Suspend or activate salons when needed</a:t>
            </a:r>
            <a:endParaRPr lang="en-US" sz="1600" dirty="0"/>
          </a:p>
          <a:p>
            <a:pPr marL="203200" indent="-203200">
              <a:spcAft>
                <a:spcPts val="1400"/>
              </a:spcAft>
              <a:buSzPct val="100000"/>
              <a:buChar char="•"/>
            </a:pPr>
            <a:r>
              <a:rPr lang="en-US" sz="1600" dirty="0">
                <a:solidFill>
                  <a:schemeClr val="tx1"/>
                </a:solidFill>
              </a:rPr>
              <a:t>Keep a history of important actions (audit)</a:t>
            </a:r>
            <a:endParaRPr lang="en-US" sz="16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Existing system vs proposed system</a:t>
            </a:r>
            <a:endParaRPr lang="en-US" sz="3400" dirty="0"/>
          </a:p>
        </p:txBody>
      </p:sp>
      <p:graphicFrame>
        <p:nvGraphicFramePr>
          <p:cNvPr id="6" name="Comparison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743200"/>
                <a:gridCol w="3840480"/>
                <a:gridCol w="4480560"/>
              </a:tblGrid>
              <a:tr h="694944">
                <a:tc>
                  <a:txBody>
                    <a:bodyPr/>
                    <a:lstStyle/>
                    <a:p>
                      <a:pPr indent="0" marL="0">
                        <a:buNone/>
                      </a:pPr>
                      <a:r>
                        <a:rPr lang="en-US" sz="1600" b="1" dirty="0">
                          <a:solidFill>
                            <a:srgbClr val="FAF6F0"/>
                          </a:solidFill>
                        </a:rPr>
                        <a:t>Area</a:t>
                      </a:r>
                      <a:endParaRPr lang="en-US" sz="1600" dirty="0"/>
                    </a:p>
                  </a:txBody>
                  <a:tcPr marL="137160" marR="137160" marT="45720" marB="45720" anchor="ctr">
                    <a:lnL w="9525" cap="flat" cmpd="sng" algn="ctr">
                      <a:solidFill>
                        <a:srgbClr val="E7DCC8"/>
                      </a:solidFill>
                      <a:prstDash val="solid"/>
                      <a:round/>
                      <a:headEnd type="none" w="med" len="med"/>
                      <a:tailEnd type="none" w="med" len="med"/>
                    </a:lnL>
                    <a:lnR w="9525" cap="flat" cmpd="sng" algn="ctr">
                      <a:solidFill>
                        <a:srgbClr val="E7DCC8"/>
                      </a:solidFill>
                      <a:prstDash val="solid"/>
                      <a:round/>
                      <a:headEnd type="none" w="med" len="med"/>
                      <a:tailEnd type="none" w="med" len="med"/>
                    </a:lnR>
                    <a:lnT w="9525" cap="flat" cmpd="sng" algn="ctr">
                      <a:solidFill>
                        <a:srgbClr val="E7DCC8"/>
                      </a:solidFill>
                      <a:prstDash val="solid"/>
                      <a:round/>
                      <a:headEnd type="none" w="med" len="med"/>
                      <a:tailEnd type="none" w="med" len="med"/>
                    </a:lnT>
                    <a:lnB w="9525" cap="flat" cmpd="sng" algn="ctr">
                      <a:solidFill>
                        <a:srgbClr val="E7DCC8"/>
                      </a:solidFill>
                      <a:prstDash val="solid"/>
                      <a:round/>
                      <a:headEnd type="none" w="med" len="med"/>
                      <a:tailEnd type="none" w="med" len="med"/>
                    </a:lnB>
                    <a:solidFill>
                      <a:srgbClr val="2E1B0F"/>
                    </a:solidFill>
                  </a:tcPr>
                </a:tc>
                <a:tc>
                  <a:txBody>
                    <a:bodyPr/>
                    <a:lstStyle/>
                    <a:p>
                      <a:pPr indent="0" marL="0">
                        <a:buNone/>
                      </a:pPr>
                      <a:r>
                        <a:rPr lang="en-US" sz="1600" b="1" dirty="0">
                          <a:solidFill>
                            <a:srgbClr val="FAF6F0"/>
                          </a:solidFill>
                        </a:rPr>
                        <a:t>Existing (manual) system</a:t>
                      </a:r>
                      <a:endParaRPr lang="en-US" sz="1600" dirty="0"/>
                    </a:p>
                  </a:txBody>
                  <a:tcPr marL="137160" marR="137160" marT="45720" marB="45720" anchor="ctr">
                    <a:lnL w="9525" cap="flat" cmpd="sng" algn="ctr">
                      <a:solidFill>
                        <a:srgbClr val="E7DCC8"/>
                      </a:solidFill>
                      <a:prstDash val="solid"/>
                      <a:round/>
                      <a:headEnd type="none" w="med" len="med"/>
                      <a:tailEnd type="none" w="med" len="med"/>
                    </a:lnL>
                    <a:lnR w="9525" cap="flat" cmpd="sng" algn="ctr">
                      <a:solidFill>
                        <a:srgbClr val="E7DCC8"/>
                      </a:solidFill>
                      <a:prstDash val="solid"/>
                      <a:round/>
                      <a:headEnd type="none" w="med" len="med"/>
                      <a:tailEnd type="none" w="med" len="med"/>
                    </a:lnR>
                    <a:lnT w="9525" cap="flat" cmpd="sng" algn="ctr">
                      <a:solidFill>
                        <a:srgbClr val="E7DCC8"/>
                      </a:solidFill>
                      <a:prstDash val="solid"/>
                      <a:round/>
                      <a:headEnd type="none" w="med" len="med"/>
                      <a:tailEnd type="none" w="med" len="med"/>
                    </a:lnT>
                    <a:lnB w="9525" cap="flat" cmpd="sng" algn="ctr">
                      <a:solidFill>
                        <a:srgbClr val="E7DCC8"/>
                      </a:solidFill>
                      <a:prstDash val="solid"/>
                      <a:round/>
                      <a:headEnd type="none" w="med" len="med"/>
                      <a:tailEnd type="none" w="med" len="med"/>
                    </a:lnB>
                    <a:solidFill>
                      <a:srgbClr val="2E1B0F"/>
                    </a:solidFill>
                  </a:tcPr>
                </a:tc>
                <a:tc>
                  <a:txBody>
                    <a:bodyPr/>
                    <a:lstStyle/>
                    <a:p>
                      <a:pPr indent="0" marL="0">
                        <a:buNone/>
                      </a:pPr>
                      <a:r>
                        <a:rPr lang="en-US" sz="1600" b="1" dirty="0">
                          <a:solidFill>
                            <a:srgbClr val="FAF6F0"/>
                          </a:solidFill>
                        </a:rPr>
                        <a:t>Galora (proposed system)</a:t>
                      </a:r>
                      <a:endParaRPr lang="en-US" sz="1600" dirty="0"/>
                    </a:p>
                  </a:txBody>
                  <a:tcPr marL="137160" marR="137160" marT="45720" marB="45720" anchor="ctr">
                    <a:lnL w="9525" cap="flat" cmpd="sng" algn="ctr">
                      <a:solidFill>
                        <a:srgbClr val="E7DCC8"/>
                      </a:solidFill>
                      <a:prstDash val="solid"/>
                      <a:round/>
                      <a:headEnd type="none" w="med" len="med"/>
                      <a:tailEnd type="none" w="med" len="med"/>
                    </a:lnL>
                    <a:lnR w="9525" cap="flat" cmpd="sng" algn="ctr">
                      <a:solidFill>
                        <a:srgbClr val="E7DCC8"/>
                      </a:solidFill>
                      <a:prstDash val="solid"/>
                      <a:round/>
                      <a:headEnd type="none" w="med" len="med"/>
                      <a:tailEnd type="none" w="med" len="med"/>
                    </a:lnR>
                    <a:lnT w="9525" cap="flat" cmpd="sng" algn="ctr">
                      <a:solidFill>
                        <a:srgbClr val="E7DCC8"/>
                      </a:solidFill>
                      <a:prstDash val="solid"/>
                      <a:round/>
                      <a:headEnd type="none" w="med" len="med"/>
                      <a:tailEnd type="none" w="med" len="med"/>
                    </a:lnT>
                    <a:lnB w="9525" cap="flat" cmpd="sng" algn="ctr">
                      <a:solidFill>
                        <a:srgbClr val="E7DCC8"/>
                      </a:solidFill>
                      <a:prstDash val="solid"/>
                      <a:round/>
                      <a:headEnd type="none" w="med" len="med"/>
                      <a:tailEnd type="none" w="med" len="med"/>
                    </a:lnB>
                    <a:solidFill>
                      <a:srgbClr val="2E1B0F"/>
                    </a:solidFill>
                  </a:tcPr>
                </a:tc>
              </a:tr>
              <a:tr h="694944">
                <a:tc>
                  <a:txBody>
                    <a:bodyPr/>
                    <a:lstStyle/>
                    <a:p>
                      <a:pPr indent="0" marL="0">
                        <a:buNone/>
                      </a:pPr>
                      <a:r>
                        <a:rPr lang="en-US" sz="1500" b="1" dirty="0">
                          <a:solidFill>
                            <a:srgbClr val="2E1B0F"/>
                          </a:solidFill>
                        </a:rPr>
                        <a:t>Appointments</a:t>
                      </a:r>
                      <a:endParaRPr lang="en-US" sz="1500" dirty="0"/>
                    </a:p>
                  </a:txBody>
                  <a:tcPr marL="137160" marR="137160" marT="45720" marB="45720" anchor="ctr">
                    <a:lnL w="9525" cap="flat" cmpd="sng" algn="ctr">
                      <a:solidFill>
                        <a:srgbClr val="E7DCC8"/>
                      </a:solidFill>
                      <a:prstDash val="solid"/>
                      <a:round/>
                      <a:headEnd type="none" w="med" len="med"/>
                      <a:tailEnd type="none" w="med" len="med"/>
                    </a:lnL>
                    <a:lnR w="9525" cap="flat" cmpd="sng" algn="ctr">
                      <a:solidFill>
                        <a:srgbClr val="E7DCC8"/>
                      </a:solidFill>
                      <a:prstDash val="solid"/>
                      <a:round/>
                      <a:headEnd type="none" w="med" len="med"/>
                      <a:tailEnd type="none" w="med" len="med"/>
                    </a:lnR>
                    <a:lnT w="9525" cap="flat" cmpd="sng" algn="ctr">
                      <a:solidFill>
                        <a:srgbClr val="E7DCC8"/>
                      </a:solidFill>
                      <a:prstDash val="solid"/>
                      <a:round/>
                      <a:headEnd type="none" w="med" len="med"/>
                      <a:tailEnd type="none" w="med" len="med"/>
                    </a:lnT>
                    <a:lnB w="9525" cap="flat" cmpd="sng" algn="ctr">
                      <a:solidFill>
                        <a:srgbClr val="E7DCC8"/>
                      </a:solidFill>
                      <a:prstDash val="solid"/>
                      <a:round/>
                      <a:headEnd type="none" w="med" len="med"/>
                      <a:tailEnd type="none" w="med" len="med"/>
                    </a:lnB>
                    <a:solidFill>
                      <a:srgbClr val="FFFFFF"/>
                    </a:solidFill>
                  </a:tcPr>
                </a:tc>
                <a:tc>
                  <a:txBody>
                    <a:bodyPr/>
                    <a:lstStyle/>
                    <a:p>
                      <a:pPr indent="0" marL="0">
                        <a:buNone/>
                      </a:pPr>
                      <a:r>
                        <a:rPr lang="en-US" sz="1500" dirty="0">
                          <a:solidFill>
                            <a:srgbClr val="6B4A33"/>
                          </a:solidFill>
                        </a:rPr>
                        <a:t>Phone calls, paper diary</a:t>
                      </a:r>
                      <a:endParaRPr lang="en-US" sz="1500" dirty="0"/>
                    </a:p>
                  </a:txBody>
                  <a:tcPr marL="137160" marR="137160" marT="45720" marB="45720" anchor="ctr">
                    <a:lnL w="9525" cap="flat" cmpd="sng" algn="ctr">
                      <a:solidFill>
                        <a:srgbClr val="E7DCC8"/>
                      </a:solidFill>
                      <a:prstDash val="solid"/>
                      <a:round/>
                      <a:headEnd type="none" w="med" len="med"/>
                      <a:tailEnd type="none" w="med" len="med"/>
                    </a:lnL>
                    <a:lnR w="9525" cap="flat" cmpd="sng" algn="ctr">
                      <a:solidFill>
                        <a:srgbClr val="E7DCC8"/>
                      </a:solidFill>
                      <a:prstDash val="solid"/>
                      <a:round/>
                      <a:headEnd type="none" w="med" len="med"/>
                      <a:tailEnd type="none" w="med" len="med"/>
                    </a:lnR>
                    <a:lnT w="9525" cap="flat" cmpd="sng" algn="ctr">
                      <a:solidFill>
                        <a:srgbClr val="E7DCC8"/>
                      </a:solidFill>
                      <a:prstDash val="solid"/>
                      <a:round/>
                      <a:headEnd type="none" w="med" len="med"/>
                      <a:tailEnd type="none" w="med" len="med"/>
                    </a:lnT>
                    <a:lnB w="9525" cap="flat" cmpd="sng" algn="ctr">
                      <a:solidFill>
                        <a:srgbClr val="E7DCC8"/>
                      </a:solidFill>
                      <a:prstDash val="solid"/>
                      <a:round/>
                      <a:headEnd type="none" w="med" len="med"/>
                      <a:tailEnd type="none" w="med" len="med"/>
                    </a:lnB>
                    <a:solidFill>
                      <a:srgbClr val="FFFFFF"/>
                    </a:solidFill>
                  </a:tcPr>
                </a:tc>
                <a:tc>
                  <a:txBody>
                    <a:bodyPr/>
                    <a:lstStyle/>
                    <a:p>
                      <a:pPr indent="0" marL="0">
                        <a:buNone/>
                      </a:pPr>
                      <a:r>
                        <a:rPr lang="en-US" sz="1500" b="1" dirty="0">
                          <a:solidFill>
                            <a:srgbClr val="2E1B0F"/>
                          </a:solidFill>
                        </a:rPr>
                        <a:t>Online booking with live free slots</a:t>
                      </a:r>
                      <a:endParaRPr lang="en-US" sz="1500" dirty="0"/>
                    </a:p>
                  </a:txBody>
                  <a:tcPr marL="137160" marR="137160" marT="45720" marB="45720" anchor="ctr">
                    <a:lnL w="9525" cap="flat" cmpd="sng" algn="ctr">
                      <a:solidFill>
                        <a:srgbClr val="E7DCC8"/>
                      </a:solidFill>
                      <a:prstDash val="solid"/>
                      <a:round/>
                      <a:headEnd type="none" w="med" len="med"/>
                      <a:tailEnd type="none" w="med" len="med"/>
                    </a:lnL>
                    <a:lnR w="9525" cap="flat" cmpd="sng" algn="ctr">
                      <a:solidFill>
                        <a:srgbClr val="E7DCC8"/>
                      </a:solidFill>
                      <a:prstDash val="solid"/>
                      <a:round/>
                      <a:headEnd type="none" w="med" len="med"/>
                      <a:tailEnd type="none" w="med" len="med"/>
                    </a:lnR>
                    <a:lnT w="9525" cap="flat" cmpd="sng" algn="ctr">
                      <a:solidFill>
                        <a:srgbClr val="E7DCC8"/>
                      </a:solidFill>
                      <a:prstDash val="solid"/>
                      <a:round/>
                      <a:headEnd type="none" w="med" len="med"/>
                      <a:tailEnd type="none" w="med" len="med"/>
                    </a:lnT>
                    <a:lnB w="9525" cap="flat" cmpd="sng" algn="ctr">
                      <a:solidFill>
                        <a:srgbClr val="E7DCC8"/>
                      </a:solidFill>
                      <a:prstDash val="solid"/>
                      <a:round/>
                      <a:headEnd type="none" w="med" len="med"/>
                      <a:tailEnd type="none" w="med" len="med"/>
                    </a:lnB>
                    <a:solidFill>
                      <a:srgbClr val="FFFFFF"/>
                    </a:solidFill>
                  </a:tcPr>
                </a:tc>
              </a:tr>
              <a:tr h="694944">
                <a:tc>
                  <a:txBody>
                    <a:bodyPr/>
                    <a:lstStyle/>
                    <a:p>
                      <a:pPr indent="0" marL="0">
                        <a:buNone/>
                      </a:pPr>
                      <a:r>
                        <a:rPr lang="en-US" sz="1500" b="1" dirty="0">
                          <a:solidFill>
                            <a:srgbClr val="2E1B0F"/>
                          </a:solidFill>
                        </a:rPr>
                        <a:t>Customer records</a:t>
                      </a:r>
                      <a:endParaRPr lang="en-US" sz="1500" dirty="0"/>
                    </a:p>
                  </a:txBody>
                  <a:tcPr marL="137160" marR="137160" marT="45720" marB="45720" anchor="ctr">
                    <a:lnL w="9525" cap="flat" cmpd="sng" algn="ctr">
                      <a:solidFill>
                        <a:srgbClr val="E7DCC8"/>
                      </a:solidFill>
                      <a:prstDash val="solid"/>
                      <a:round/>
                      <a:headEnd type="none" w="med" len="med"/>
                      <a:tailEnd type="none" w="med" len="med"/>
                    </a:lnL>
                    <a:lnR w="9525" cap="flat" cmpd="sng" algn="ctr">
                      <a:solidFill>
                        <a:srgbClr val="E7DCC8"/>
                      </a:solidFill>
                      <a:prstDash val="solid"/>
                      <a:round/>
                      <a:headEnd type="none" w="med" len="med"/>
                      <a:tailEnd type="none" w="med" len="med"/>
                    </a:lnR>
                    <a:lnT w="9525" cap="flat" cmpd="sng" algn="ctr">
                      <a:solidFill>
                        <a:srgbClr val="E7DCC8"/>
                      </a:solidFill>
                      <a:prstDash val="solid"/>
                      <a:round/>
                      <a:headEnd type="none" w="med" len="med"/>
                      <a:tailEnd type="none" w="med" len="med"/>
                    </a:lnT>
                    <a:lnB w="9525" cap="flat" cmpd="sng" algn="ctr">
                      <a:solidFill>
                        <a:srgbClr val="E7DCC8"/>
                      </a:solidFill>
                      <a:prstDash val="solid"/>
                      <a:round/>
                      <a:headEnd type="none" w="med" len="med"/>
                      <a:tailEnd type="none" w="med" len="med"/>
                    </a:lnB>
                    <a:solidFill>
                      <a:srgbClr val="F3E9D2"/>
                    </a:solidFill>
                  </a:tcPr>
                </a:tc>
                <a:tc>
                  <a:txBody>
                    <a:bodyPr/>
                    <a:lstStyle/>
                    <a:p>
                      <a:pPr indent="0" marL="0">
                        <a:buNone/>
                      </a:pPr>
                      <a:r>
                        <a:rPr lang="en-US" sz="1500" dirty="0">
                          <a:solidFill>
                            <a:srgbClr val="6B4A33"/>
                          </a:solidFill>
                        </a:rPr>
                        <a:t>Notebooks, memory, chat apps</a:t>
                      </a:r>
                      <a:endParaRPr lang="en-US" sz="1500" dirty="0"/>
                    </a:p>
                  </a:txBody>
                  <a:tcPr marL="137160" marR="137160" marT="45720" marB="45720" anchor="ctr">
                    <a:lnL w="9525" cap="flat" cmpd="sng" algn="ctr">
                      <a:solidFill>
                        <a:srgbClr val="E7DCC8"/>
                      </a:solidFill>
                      <a:prstDash val="solid"/>
                      <a:round/>
                      <a:headEnd type="none" w="med" len="med"/>
                      <a:tailEnd type="none" w="med" len="med"/>
                    </a:lnL>
                    <a:lnR w="9525" cap="flat" cmpd="sng" algn="ctr">
                      <a:solidFill>
                        <a:srgbClr val="E7DCC8"/>
                      </a:solidFill>
                      <a:prstDash val="solid"/>
                      <a:round/>
                      <a:headEnd type="none" w="med" len="med"/>
                      <a:tailEnd type="none" w="med" len="med"/>
                    </a:lnR>
                    <a:lnT w="9525" cap="flat" cmpd="sng" algn="ctr">
                      <a:solidFill>
                        <a:srgbClr val="E7DCC8"/>
                      </a:solidFill>
                      <a:prstDash val="solid"/>
                      <a:round/>
                      <a:headEnd type="none" w="med" len="med"/>
                      <a:tailEnd type="none" w="med" len="med"/>
                    </a:lnT>
                    <a:lnB w="9525" cap="flat" cmpd="sng" algn="ctr">
                      <a:solidFill>
                        <a:srgbClr val="E7DCC8"/>
                      </a:solidFill>
                      <a:prstDash val="solid"/>
                      <a:round/>
                      <a:headEnd type="none" w="med" len="med"/>
                      <a:tailEnd type="none" w="med" len="med"/>
                    </a:lnB>
                    <a:solidFill>
                      <a:srgbClr val="F3E9D2"/>
                    </a:solidFill>
                  </a:tcPr>
                </a:tc>
                <a:tc>
                  <a:txBody>
                    <a:bodyPr/>
                    <a:lstStyle/>
                    <a:p>
                      <a:pPr indent="0" marL="0">
                        <a:buNone/>
                      </a:pPr>
                      <a:r>
                        <a:rPr lang="en-US" sz="1500" b="1" dirty="0">
                          <a:solidFill>
                            <a:srgbClr val="2E1B0F"/>
                          </a:solidFill>
                        </a:rPr>
                        <a:t>Customer list with visits and total spend</a:t>
                      </a:r>
                      <a:endParaRPr lang="en-US" sz="1500" dirty="0"/>
                    </a:p>
                  </a:txBody>
                  <a:tcPr marL="137160" marR="137160" marT="45720" marB="45720" anchor="ctr">
                    <a:lnL w="9525" cap="flat" cmpd="sng" algn="ctr">
                      <a:solidFill>
                        <a:srgbClr val="E7DCC8"/>
                      </a:solidFill>
                      <a:prstDash val="solid"/>
                      <a:round/>
                      <a:headEnd type="none" w="med" len="med"/>
                      <a:tailEnd type="none" w="med" len="med"/>
                    </a:lnL>
                    <a:lnR w="9525" cap="flat" cmpd="sng" algn="ctr">
                      <a:solidFill>
                        <a:srgbClr val="E7DCC8"/>
                      </a:solidFill>
                      <a:prstDash val="solid"/>
                      <a:round/>
                      <a:headEnd type="none" w="med" len="med"/>
                      <a:tailEnd type="none" w="med" len="med"/>
                    </a:lnR>
                    <a:lnT w="9525" cap="flat" cmpd="sng" algn="ctr">
                      <a:solidFill>
                        <a:srgbClr val="E7DCC8"/>
                      </a:solidFill>
                      <a:prstDash val="solid"/>
                      <a:round/>
                      <a:headEnd type="none" w="med" len="med"/>
                      <a:tailEnd type="none" w="med" len="med"/>
                    </a:lnT>
                    <a:lnB w="9525" cap="flat" cmpd="sng" algn="ctr">
                      <a:solidFill>
                        <a:srgbClr val="E7DCC8"/>
                      </a:solidFill>
                      <a:prstDash val="solid"/>
                      <a:round/>
                      <a:headEnd type="none" w="med" len="med"/>
                      <a:tailEnd type="none" w="med" len="med"/>
                    </a:lnB>
                    <a:solidFill>
                      <a:srgbClr val="F3E9D2"/>
                    </a:solidFill>
                  </a:tcPr>
                </a:tc>
              </a:tr>
              <a:tr h="694944">
                <a:tc>
                  <a:txBody>
                    <a:bodyPr/>
                    <a:lstStyle/>
                    <a:p>
                      <a:pPr indent="0" marL="0">
                        <a:buNone/>
                      </a:pPr>
                      <a:r>
                        <a:rPr lang="en-US" sz="1500" b="1" dirty="0">
                          <a:solidFill>
                            <a:srgbClr val="2E1B0F"/>
                          </a:solidFill>
                        </a:rPr>
                        <a:t>Billing</a:t>
                      </a:r>
                      <a:endParaRPr lang="en-US" sz="1500" dirty="0"/>
                    </a:p>
                  </a:txBody>
                  <a:tcPr marL="137160" marR="137160" marT="45720" marB="45720" anchor="ctr">
                    <a:lnL w="9525" cap="flat" cmpd="sng" algn="ctr">
                      <a:solidFill>
                        <a:srgbClr val="E7DCC8"/>
                      </a:solidFill>
                      <a:prstDash val="solid"/>
                      <a:round/>
                      <a:headEnd type="none" w="med" len="med"/>
                      <a:tailEnd type="none" w="med" len="med"/>
                    </a:lnL>
                    <a:lnR w="9525" cap="flat" cmpd="sng" algn="ctr">
                      <a:solidFill>
                        <a:srgbClr val="E7DCC8"/>
                      </a:solidFill>
                      <a:prstDash val="solid"/>
                      <a:round/>
                      <a:headEnd type="none" w="med" len="med"/>
                      <a:tailEnd type="none" w="med" len="med"/>
                    </a:lnR>
                    <a:lnT w="9525" cap="flat" cmpd="sng" algn="ctr">
                      <a:solidFill>
                        <a:srgbClr val="E7DCC8"/>
                      </a:solidFill>
                      <a:prstDash val="solid"/>
                      <a:round/>
                      <a:headEnd type="none" w="med" len="med"/>
                      <a:tailEnd type="none" w="med" len="med"/>
                    </a:lnT>
                    <a:lnB w="9525" cap="flat" cmpd="sng" algn="ctr">
                      <a:solidFill>
                        <a:srgbClr val="E7DCC8"/>
                      </a:solidFill>
                      <a:prstDash val="solid"/>
                      <a:round/>
                      <a:headEnd type="none" w="med" len="med"/>
                      <a:tailEnd type="none" w="med" len="med"/>
                    </a:lnB>
                    <a:solidFill>
                      <a:srgbClr val="FFFFFF"/>
                    </a:solidFill>
                  </a:tcPr>
                </a:tc>
                <a:tc>
                  <a:txBody>
                    <a:bodyPr/>
                    <a:lstStyle/>
                    <a:p>
                      <a:pPr indent="0" marL="0">
                        <a:buNone/>
                      </a:pPr>
                      <a:r>
                        <a:rPr lang="en-US" sz="1500" dirty="0">
                          <a:solidFill>
                            <a:srgbClr val="6B4A33"/>
                          </a:solidFill>
                        </a:rPr>
                        <a:t>Hand-written bills</a:t>
                      </a:r>
                      <a:endParaRPr lang="en-US" sz="1500" dirty="0"/>
                    </a:p>
                  </a:txBody>
                  <a:tcPr marL="137160" marR="137160" marT="45720" marB="45720" anchor="ctr">
                    <a:lnL w="9525" cap="flat" cmpd="sng" algn="ctr">
                      <a:solidFill>
                        <a:srgbClr val="E7DCC8"/>
                      </a:solidFill>
                      <a:prstDash val="solid"/>
                      <a:round/>
                      <a:headEnd type="none" w="med" len="med"/>
                      <a:tailEnd type="none" w="med" len="med"/>
                    </a:lnL>
                    <a:lnR w="9525" cap="flat" cmpd="sng" algn="ctr">
                      <a:solidFill>
                        <a:srgbClr val="E7DCC8"/>
                      </a:solidFill>
                      <a:prstDash val="solid"/>
                      <a:round/>
                      <a:headEnd type="none" w="med" len="med"/>
                      <a:tailEnd type="none" w="med" len="med"/>
                    </a:lnR>
                    <a:lnT w="9525" cap="flat" cmpd="sng" algn="ctr">
                      <a:solidFill>
                        <a:srgbClr val="E7DCC8"/>
                      </a:solidFill>
                      <a:prstDash val="solid"/>
                      <a:round/>
                      <a:headEnd type="none" w="med" len="med"/>
                      <a:tailEnd type="none" w="med" len="med"/>
                    </a:lnT>
                    <a:lnB w="9525" cap="flat" cmpd="sng" algn="ctr">
                      <a:solidFill>
                        <a:srgbClr val="E7DCC8"/>
                      </a:solidFill>
                      <a:prstDash val="solid"/>
                      <a:round/>
                      <a:headEnd type="none" w="med" len="med"/>
                      <a:tailEnd type="none" w="med" len="med"/>
                    </a:lnB>
                    <a:solidFill>
                      <a:srgbClr val="FFFFFF"/>
                    </a:solidFill>
                  </a:tcPr>
                </a:tc>
                <a:tc>
                  <a:txBody>
                    <a:bodyPr/>
                    <a:lstStyle/>
                    <a:p>
                      <a:pPr indent="0" marL="0">
                        <a:buNone/>
                      </a:pPr>
                      <a:r>
                        <a:rPr lang="en-US" sz="1500" b="1" dirty="0">
                          <a:solidFill>
                            <a:srgbClr val="2E1B0F"/>
                          </a:solidFill>
                        </a:rPr>
                        <a:t>Digital invoices, cash / UPI / card payments</a:t>
                      </a:r>
                      <a:endParaRPr lang="en-US" sz="1500" dirty="0"/>
                    </a:p>
                  </a:txBody>
                  <a:tcPr marL="137160" marR="137160" marT="45720" marB="45720" anchor="ctr">
                    <a:lnL w="9525" cap="flat" cmpd="sng" algn="ctr">
                      <a:solidFill>
                        <a:srgbClr val="E7DCC8"/>
                      </a:solidFill>
                      <a:prstDash val="solid"/>
                      <a:round/>
                      <a:headEnd type="none" w="med" len="med"/>
                      <a:tailEnd type="none" w="med" len="med"/>
                    </a:lnL>
                    <a:lnR w="9525" cap="flat" cmpd="sng" algn="ctr">
                      <a:solidFill>
                        <a:srgbClr val="E7DCC8"/>
                      </a:solidFill>
                      <a:prstDash val="solid"/>
                      <a:round/>
                      <a:headEnd type="none" w="med" len="med"/>
                      <a:tailEnd type="none" w="med" len="med"/>
                    </a:lnR>
                    <a:lnT w="9525" cap="flat" cmpd="sng" algn="ctr">
                      <a:solidFill>
                        <a:srgbClr val="E7DCC8"/>
                      </a:solidFill>
                      <a:prstDash val="solid"/>
                      <a:round/>
                      <a:headEnd type="none" w="med" len="med"/>
                      <a:tailEnd type="none" w="med" len="med"/>
                    </a:lnT>
                    <a:lnB w="9525" cap="flat" cmpd="sng" algn="ctr">
                      <a:solidFill>
                        <a:srgbClr val="E7DCC8"/>
                      </a:solidFill>
                      <a:prstDash val="solid"/>
                      <a:round/>
                      <a:headEnd type="none" w="med" len="med"/>
                      <a:tailEnd type="none" w="med" len="med"/>
                    </a:lnB>
                    <a:solidFill>
                      <a:srgbClr val="FFFFFF"/>
                    </a:solidFill>
                  </a:tcPr>
                </a:tc>
              </a:tr>
              <a:tr h="694944">
                <a:tc>
                  <a:txBody>
                    <a:bodyPr/>
                    <a:lstStyle/>
                    <a:p>
                      <a:pPr indent="0" marL="0">
                        <a:buNone/>
                      </a:pPr>
                      <a:r>
                        <a:rPr lang="en-US" sz="1500" b="1" dirty="0">
                          <a:solidFill>
                            <a:srgbClr val="2E1B0F"/>
                          </a:solidFill>
                        </a:rPr>
                        <a:t>Packages &amp; memberships</a:t>
                      </a:r>
                      <a:endParaRPr lang="en-US" sz="1500" dirty="0"/>
                    </a:p>
                  </a:txBody>
                  <a:tcPr marL="137160" marR="137160" marT="45720" marB="45720" anchor="ctr">
                    <a:lnL w="9525" cap="flat" cmpd="sng" algn="ctr">
                      <a:solidFill>
                        <a:srgbClr val="E7DCC8"/>
                      </a:solidFill>
                      <a:prstDash val="solid"/>
                      <a:round/>
                      <a:headEnd type="none" w="med" len="med"/>
                      <a:tailEnd type="none" w="med" len="med"/>
                    </a:lnL>
                    <a:lnR w="9525" cap="flat" cmpd="sng" algn="ctr">
                      <a:solidFill>
                        <a:srgbClr val="E7DCC8"/>
                      </a:solidFill>
                      <a:prstDash val="solid"/>
                      <a:round/>
                      <a:headEnd type="none" w="med" len="med"/>
                      <a:tailEnd type="none" w="med" len="med"/>
                    </a:lnR>
                    <a:lnT w="9525" cap="flat" cmpd="sng" algn="ctr">
                      <a:solidFill>
                        <a:srgbClr val="E7DCC8"/>
                      </a:solidFill>
                      <a:prstDash val="solid"/>
                      <a:round/>
                      <a:headEnd type="none" w="med" len="med"/>
                      <a:tailEnd type="none" w="med" len="med"/>
                    </a:lnT>
                    <a:lnB w="9525" cap="flat" cmpd="sng" algn="ctr">
                      <a:solidFill>
                        <a:srgbClr val="E7DCC8"/>
                      </a:solidFill>
                      <a:prstDash val="solid"/>
                      <a:round/>
                      <a:headEnd type="none" w="med" len="med"/>
                      <a:tailEnd type="none" w="med" len="med"/>
                    </a:lnB>
                    <a:solidFill>
                      <a:srgbClr val="F3E9D2"/>
                    </a:solidFill>
                  </a:tcPr>
                </a:tc>
                <a:tc>
                  <a:txBody>
                    <a:bodyPr/>
                    <a:lstStyle/>
                    <a:p>
                      <a:pPr indent="0" marL="0">
                        <a:buNone/>
                      </a:pPr>
                      <a:r>
                        <a:rPr lang="en-US" sz="1500" dirty="0">
                          <a:solidFill>
                            <a:srgbClr val="6B4A33"/>
                          </a:solidFill>
                        </a:rPr>
                        <a:t>Paper cards, no balance check</a:t>
                      </a:r>
                      <a:endParaRPr lang="en-US" sz="1500" dirty="0"/>
                    </a:p>
                  </a:txBody>
                  <a:tcPr marL="137160" marR="137160" marT="45720" marB="45720" anchor="ctr">
                    <a:lnL w="9525" cap="flat" cmpd="sng" algn="ctr">
                      <a:solidFill>
                        <a:srgbClr val="E7DCC8"/>
                      </a:solidFill>
                      <a:prstDash val="solid"/>
                      <a:round/>
                      <a:headEnd type="none" w="med" len="med"/>
                      <a:tailEnd type="none" w="med" len="med"/>
                    </a:lnL>
                    <a:lnR w="9525" cap="flat" cmpd="sng" algn="ctr">
                      <a:solidFill>
                        <a:srgbClr val="E7DCC8"/>
                      </a:solidFill>
                      <a:prstDash val="solid"/>
                      <a:round/>
                      <a:headEnd type="none" w="med" len="med"/>
                      <a:tailEnd type="none" w="med" len="med"/>
                    </a:lnR>
                    <a:lnT w="9525" cap="flat" cmpd="sng" algn="ctr">
                      <a:solidFill>
                        <a:srgbClr val="E7DCC8"/>
                      </a:solidFill>
                      <a:prstDash val="solid"/>
                      <a:round/>
                      <a:headEnd type="none" w="med" len="med"/>
                      <a:tailEnd type="none" w="med" len="med"/>
                    </a:lnT>
                    <a:lnB w="9525" cap="flat" cmpd="sng" algn="ctr">
                      <a:solidFill>
                        <a:srgbClr val="E7DCC8"/>
                      </a:solidFill>
                      <a:prstDash val="solid"/>
                      <a:round/>
                      <a:headEnd type="none" w="med" len="med"/>
                      <a:tailEnd type="none" w="med" len="med"/>
                    </a:lnB>
                    <a:solidFill>
                      <a:srgbClr val="F3E9D2"/>
                    </a:solidFill>
                  </a:tcPr>
                </a:tc>
                <a:tc>
                  <a:txBody>
                    <a:bodyPr/>
                    <a:lstStyle/>
                    <a:p>
                      <a:pPr indent="0" marL="0">
                        <a:buNone/>
                      </a:pPr>
                      <a:r>
                        <a:rPr lang="en-US" sz="1500" b="1" dirty="0">
                          <a:solidFill>
                            <a:srgbClr val="2E1B0F"/>
                          </a:solidFill>
                        </a:rPr>
                        <a:t>Plans with session balance and discount tracking</a:t>
                      </a:r>
                      <a:endParaRPr lang="en-US" sz="1500" dirty="0"/>
                    </a:p>
                  </a:txBody>
                  <a:tcPr marL="137160" marR="137160" marT="45720" marB="45720" anchor="ctr">
                    <a:lnL w="9525" cap="flat" cmpd="sng" algn="ctr">
                      <a:solidFill>
                        <a:srgbClr val="E7DCC8"/>
                      </a:solidFill>
                      <a:prstDash val="solid"/>
                      <a:round/>
                      <a:headEnd type="none" w="med" len="med"/>
                      <a:tailEnd type="none" w="med" len="med"/>
                    </a:lnL>
                    <a:lnR w="9525" cap="flat" cmpd="sng" algn="ctr">
                      <a:solidFill>
                        <a:srgbClr val="E7DCC8"/>
                      </a:solidFill>
                      <a:prstDash val="solid"/>
                      <a:round/>
                      <a:headEnd type="none" w="med" len="med"/>
                      <a:tailEnd type="none" w="med" len="med"/>
                    </a:lnR>
                    <a:lnT w="9525" cap="flat" cmpd="sng" algn="ctr">
                      <a:solidFill>
                        <a:srgbClr val="E7DCC8"/>
                      </a:solidFill>
                      <a:prstDash val="solid"/>
                      <a:round/>
                      <a:headEnd type="none" w="med" len="med"/>
                      <a:tailEnd type="none" w="med" len="med"/>
                    </a:lnT>
                    <a:lnB w="9525" cap="flat" cmpd="sng" algn="ctr">
                      <a:solidFill>
                        <a:srgbClr val="E7DCC8"/>
                      </a:solidFill>
                      <a:prstDash val="solid"/>
                      <a:round/>
                      <a:headEnd type="none" w="med" len="med"/>
                      <a:tailEnd type="none" w="med" len="med"/>
                    </a:lnB>
                    <a:solidFill>
                      <a:srgbClr val="F3E9D2"/>
                    </a:solidFill>
                  </a:tcPr>
                </a:tc>
              </a:tr>
              <a:tr h="694944">
                <a:tc>
                  <a:txBody>
                    <a:bodyPr/>
                    <a:lstStyle/>
                    <a:p>
                      <a:pPr indent="0" marL="0">
                        <a:buNone/>
                      </a:pPr>
                      <a:r>
                        <a:rPr lang="en-US" sz="1500" b="1" dirty="0">
                          <a:solidFill>
                            <a:srgbClr val="2E1B0F"/>
                          </a:solidFill>
                        </a:rPr>
                        <a:t>Staff access</a:t>
                      </a:r>
                      <a:endParaRPr lang="en-US" sz="1500" dirty="0"/>
                    </a:p>
                  </a:txBody>
                  <a:tcPr marL="137160" marR="137160" marT="45720" marB="45720" anchor="ctr">
                    <a:lnL w="9525" cap="flat" cmpd="sng" algn="ctr">
                      <a:solidFill>
                        <a:srgbClr val="E7DCC8"/>
                      </a:solidFill>
                      <a:prstDash val="solid"/>
                      <a:round/>
                      <a:headEnd type="none" w="med" len="med"/>
                      <a:tailEnd type="none" w="med" len="med"/>
                    </a:lnL>
                    <a:lnR w="9525" cap="flat" cmpd="sng" algn="ctr">
                      <a:solidFill>
                        <a:srgbClr val="E7DCC8"/>
                      </a:solidFill>
                      <a:prstDash val="solid"/>
                      <a:round/>
                      <a:headEnd type="none" w="med" len="med"/>
                      <a:tailEnd type="none" w="med" len="med"/>
                    </a:lnR>
                    <a:lnT w="9525" cap="flat" cmpd="sng" algn="ctr">
                      <a:solidFill>
                        <a:srgbClr val="E7DCC8"/>
                      </a:solidFill>
                      <a:prstDash val="solid"/>
                      <a:round/>
                      <a:headEnd type="none" w="med" len="med"/>
                      <a:tailEnd type="none" w="med" len="med"/>
                    </a:lnT>
                    <a:lnB w="9525" cap="flat" cmpd="sng" algn="ctr">
                      <a:solidFill>
                        <a:srgbClr val="E7DCC8"/>
                      </a:solidFill>
                      <a:prstDash val="solid"/>
                      <a:round/>
                      <a:headEnd type="none" w="med" len="med"/>
                      <a:tailEnd type="none" w="med" len="med"/>
                    </a:lnB>
                    <a:solidFill>
                      <a:srgbClr val="FFFFFF"/>
                    </a:solidFill>
                  </a:tcPr>
                </a:tc>
                <a:tc>
                  <a:txBody>
                    <a:bodyPr/>
                    <a:lstStyle/>
                    <a:p>
                      <a:pPr indent="0" marL="0">
                        <a:buNone/>
                      </a:pPr>
                      <a:r>
                        <a:rPr lang="en-US" sz="1500" dirty="0">
                          <a:solidFill>
                            <a:srgbClr val="6B4A33"/>
                          </a:solidFill>
                        </a:rPr>
                        <a:t>Everyone sees everything</a:t>
                      </a:r>
                      <a:endParaRPr lang="en-US" sz="1500" dirty="0"/>
                    </a:p>
                  </a:txBody>
                  <a:tcPr marL="137160" marR="137160" marT="45720" marB="45720" anchor="ctr">
                    <a:lnL w="9525" cap="flat" cmpd="sng" algn="ctr">
                      <a:solidFill>
                        <a:srgbClr val="E7DCC8"/>
                      </a:solidFill>
                      <a:prstDash val="solid"/>
                      <a:round/>
                      <a:headEnd type="none" w="med" len="med"/>
                      <a:tailEnd type="none" w="med" len="med"/>
                    </a:lnL>
                    <a:lnR w="9525" cap="flat" cmpd="sng" algn="ctr">
                      <a:solidFill>
                        <a:srgbClr val="E7DCC8"/>
                      </a:solidFill>
                      <a:prstDash val="solid"/>
                      <a:round/>
                      <a:headEnd type="none" w="med" len="med"/>
                      <a:tailEnd type="none" w="med" len="med"/>
                    </a:lnR>
                    <a:lnT w="9525" cap="flat" cmpd="sng" algn="ctr">
                      <a:solidFill>
                        <a:srgbClr val="E7DCC8"/>
                      </a:solidFill>
                      <a:prstDash val="solid"/>
                      <a:round/>
                      <a:headEnd type="none" w="med" len="med"/>
                      <a:tailEnd type="none" w="med" len="med"/>
                    </a:lnT>
                    <a:lnB w="9525" cap="flat" cmpd="sng" algn="ctr">
                      <a:solidFill>
                        <a:srgbClr val="E7DCC8"/>
                      </a:solidFill>
                      <a:prstDash val="solid"/>
                      <a:round/>
                      <a:headEnd type="none" w="med" len="med"/>
                      <a:tailEnd type="none" w="med" len="med"/>
                    </a:lnB>
                    <a:solidFill>
                      <a:srgbClr val="FFFFFF"/>
                    </a:solidFill>
                  </a:tcPr>
                </a:tc>
                <a:tc>
                  <a:txBody>
                    <a:bodyPr/>
                    <a:lstStyle/>
                    <a:p>
                      <a:pPr indent="0" marL="0">
                        <a:buNone/>
                      </a:pPr>
                      <a:r>
                        <a:rPr lang="en-US" sz="1500" b="1" dirty="0">
                          <a:solidFill>
                            <a:srgbClr val="2E1B0F"/>
                          </a:solidFill>
                        </a:rPr>
                        <a:t>Owner, manager, receptionist, staff roles</a:t>
                      </a:r>
                      <a:endParaRPr lang="en-US" sz="1500" dirty="0"/>
                    </a:p>
                  </a:txBody>
                  <a:tcPr marL="137160" marR="137160" marT="45720" marB="45720" anchor="ctr">
                    <a:lnL w="9525" cap="flat" cmpd="sng" algn="ctr">
                      <a:solidFill>
                        <a:srgbClr val="E7DCC8"/>
                      </a:solidFill>
                      <a:prstDash val="solid"/>
                      <a:round/>
                      <a:headEnd type="none" w="med" len="med"/>
                      <a:tailEnd type="none" w="med" len="med"/>
                    </a:lnL>
                    <a:lnR w="9525" cap="flat" cmpd="sng" algn="ctr">
                      <a:solidFill>
                        <a:srgbClr val="E7DCC8"/>
                      </a:solidFill>
                      <a:prstDash val="solid"/>
                      <a:round/>
                      <a:headEnd type="none" w="med" len="med"/>
                      <a:tailEnd type="none" w="med" len="med"/>
                    </a:lnR>
                    <a:lnT w="9525" cap="flat" cmpd="sng" algn="ctr">
                      <a:solidFill>
                        <a:srgbClr val="E7DCC8"/>
                      </a:solidFill>
                      <a:prstDash val="solid"/>
                      <a:round/>
                      <a:headEnd type="none" w="med" len="med"/>
                      <a:tailEnd type="none" w="med" len="med"/>
                    </a:lnT>
                    <a:lnB w="9525" cap="flat" cmpd="sng" algn="ctr">
                      <a:solidFill>
                        <a:srgbClr val="E7DCC8"/>
                      </a:solidFill>
                      <a:prstDash val="solid"/>
                      <a:round/>
                      <a:headEnd type="none" w="med" len="med"/>
                      <a:tailEnd type="none" w="med" len="med"/>
                    </a:lnB>
                    <a:solidFill>
                      <a:srgbClr val="FFFFFF"/>
                    </a:solidFill>
                  </a:tcPr>
                </a:tc>
              </a:tr>
              <a:tr h="694944">
                <a:tc>
                  <a:txBody>
                    <a:bodyPr/>
                    <a:lstStyle/>
                    <a:p>
                      <a:pPr indent="0" marL="0">
                        <a:buNone/>
                      </a:pPr>
                      <a:r>
                        <a:rPr lang="en-US" sz="1500" b="1" dirty="0">
                          <a:solidFill>
                            <a:srgbClr val="2E1B0F"/>
                          </a:solidFill>
                        </a:rPr>
                        <a:t>Finding a salon</a:t>
                      </a:r>
                      <a:endParaRPr lang="en-US" sz="1500" dirty="0"/>
                    </a:p>
                  </a:txBody>
                  <a:tcPr marL="137160" marR="137160" marT="45720" marB="45720" anchor="ctr">
                    <a:lnL w="9525" cap="flat" cmpd="sng" algn="ctr">
                      <a:solidFill>
                        <a:srgbClr val="E7DCC8"/>
                      </a:solidFill>
                      <a:prstDash val="solid"/>
                      <a:round/>
                      <a:headEnd type="none" w="med" len="med"/>
                      <a:tailEnd type="none" w="med" len="med"/>
                    </a:lnL>
                    <a:lnR w="9525" cap="flat" cmpd="sng" algn="ctr">
                      <a:solidFill>
                        <a:srgbClr val="E7DCC8"/>
                      </a:solidFill>
                      <a:prstDash val="solid"/>
                      <a:round/>
                      <a:headEnd type="none" w="med" len="med"/>
                      <a:tailEnd type="none" w="med" len="med"/>
                    </a:lnR>
                    <a:lnT w="9525" cap="flat" cmpd="sng" algn="ctr">
                      <a:solidFill>
                        <a:srgbClr val="E7DCC8"/>
                      </a:solidFill>
                      <a:prstDash val="solid"/>
                      <a:round/>
                      <a:headEnd type="none" w="med" len="med"/>
                      <a:tailEnd type="none" w="med" len="med"/>
                    </a:lnT>
                    <a:lnB w="9525" cap="flat" cmpd="sng" algn="ctr">
                      <a:solidFill>
                        <a:srgbClr val="E7DCC8"/>
                      </a:solidFill>
                      <a:prstDash val="solid"/>
                      <a:round/>
                      <a:headEnd type="none" w="med" len="med"/>
                      <a:tailEnd type="none" w="med" len="med"/>
                    </a:lnB>
                    <a:solidFill>
                      <a:srgbClr val="F3E9D2"/>
                    </a:solidFill>
                  </a:tcPr>
                </a:tc>
                <a:tc>
                  <a:txBody>
                    <a:bodyPr/>
                    <a:lstStyle/>
                    <a:p>
                      <a:pPr indent="0" marL="0">
                        <a:buNone/>
                      </a:pPr>
                      <a:r>
                        <a:rPr lang="en-US" sz="1500" dirty="0">
                          <a:solidFill>
                            <a:srgbClr val="6B4A33"/>
                          </a:solidFill>
                        </a:rPr>
                        <a:t>Word of mouth</a:t>
                      </a:r>
                      <a:endParaRPr lang="en-US" sz="1500" dirty="0"/>
                    </a:p>
                  </a:txBody>
                  <a:tcPr marL="137160" marR="137160" marT="45720" marB="45720" anchor="ctr">
                    <a:lnL w="9525" cap="flat" cmpd="sng" algn="ctr">
                      <a:solidFill>
                        <a:srgbClr val="E7DCC8"/>
                      </a:solidFill>
                      <a:prstDash val="solid"/>
                      <a:round/>
                      <a:headEnd type="none" w="med" len="med"/>
                      <a:tailEnd type="none" w="med" len="med"/>
                    </a:lnL>
                    <a:lnR w="9525" cap="flat" cmpd="sng" algn="ctr">
                      <a:solidFill>
                        <a:srgbClr val="E7DCC8"/>
                      </a:solidFill>
                      <a:prstDash val="solid"/>
                      <a:round/>
                      <a:headEnd type="none" w="med" len="med"/>
                      <a:tailEnd type="none" w="med" len="med"/>
                    </a:lnR>
                    <a:lnT w="9525" cap="flat" cmpd="sng" algn="ctr">
                      <a:solidFill>
                        <a:srgbClr val="E7DCC8"/>
                      </a:solidFill>
                      <a:prstDash val="solid"/>
                      <a:round/>
                      <a:headEnd type="none" w="med" len="med"/>
                      <a:tailEnd type="none" w="med" len="med"/>
                    </a:lnT>
                    <a:lnB w="9525" cap="flat" cmpd="sng" algn="ctr">
                      <a:solidFill>
                        <a:srgbClr val="E7DCC8"/>
                      </a:solidFill>
                      <a:prstDash val="solid"/>
                      <a:round/>
                      <a:headEnd type="none" w="med" len="med"/>
                      <a:tailEnd type="none" w="med" len="med"/>
                    </a:lnB>
                    <a:solidFill>
                      <a:srgbClr val="F3E9D2"/>
                    </a:solidFill>
                  </a:tcPr>
                </a:tc>
                <a:tc>
                  <a:txBody>
                    <a:bodyPr/>
                    <a:lstStyle/>
                    <a:p>
                      <a:pPr indent="0" marL="0">
                        <a:buNone/>
                      </a:pPr>
                      <a:r>
                        <a:rPr lang="en-US" sz="1500" b="1" dirty="0">
                          <a:solidFill>
                            <a:srgbClr val="2E1B0F"/>
                          </a:solidFill>
                        </a:rPr>
                        <a:t>Search by city, area, service, price, map</a:t>
                      </a:r>
                      <a:endParaRPr lang="en-US" sz="1500" dirty="0"/>
                    </a:p>
                  </a:txBody>
                  <a:tcPr marL="137160" marR="137160" marT="45720" marB="45720" anchor="ctr">
                    <a:lnL w="9525" cap="flat" cmpd="sng" algn="ctr">
                      <a:solidFill>
                        <a:srgbClr val="E7DCC8"/>
                      </a:solidFill>
                      <a:prstDash val="solid"/>
                      <a:round/>
                      <a:headEnd type="none" w="med" len="med"/>
                      <a:tailEnd type="none" w="med" len="med"/>
                    </a:lnL>
                    <a:lnR w="9525" cap="flat" cmpd="sng" algn="ctr">
                      <a:solidFill>
                        <a:srgbClr val="E7DCC8"/>
                      </a:solidFill>
                      <a:prstDash val="solid"/>
                      <a:round/>
                      <a:headEnd type="none" w="med" len="med"/>
                      <a:tailEnd type="none" w="med" len="med"/>
                    </a:lnR>
                    <a:lnT w="9525" cap="flat" cmpd="sng" algn="ctr">
                      <a:solidFill>
                        <a:srgbClr val="E7DCC8"/>
                      </a:solidFill>
                      <a:prstDash val="solid"/>
                      <a:round/>
                      <a:headEnd type="none" w="med" len="med"/>
                      <a:tailEnd type="none" w="med" len="med"/>
                    </a:lnT>
                    <a:lnB w="9525" cap="flat" cmpd="sng" algn="ctr">
                      <a:solidFill>
                        <a:srgbClr val="E7DCC8"/>
                      </a:solidFill>
                      <a:prstDash val="solid"/>
                      <a:round/>
                      <a:headEnd type="none" w="med" len="med"/>
                      <a:tailEnd type="none" w="med" len="med"/>
                    </a:lnB>
                    <a:solidFill>
                      <a:srgbClr val="F3E9D2"/>
                    </a:solidFill>
                  </a:tcPr>
                </a:tc>
              </a:tr>
            </a:tbl>
          </a:graphicData>
        </a:graphic>
      </p:graphicFrame>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Main features and their status</a:t>
            </a:r>
            <a:endParaRPr lang="en-US" sz="3400" dirty="0"/>
          </a:p>
        </p:txBody>
      </p:sp>
      <p:sp>
        <p:nvSpPr>
          <p:cNvPr id="3" name="Feature card Salon discovery"/>
          <p:cNvSpPr/>
          <p:nvPr/>
        </p:nvSpPr>
        <p:spPr>
          <a:xfrm>
            <a:off x="548640" y="1371600"/>
            <a:ext cx="2103120" cy="2194560"/>
          </a:xfrm>
          <a:prstGeom prst="roundRect">
            <a:avLst>
              <a:gd name="adj" fmla="val 5217"/>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4" name="Icon circle FaSearchLocation"/>
          <p:cNvSpPr/>
          <p:nvPr/>
        </p:nvSpPr>
        <p:spPr>
          <a:xfrm>
            <a:off x="731520" y="1554480"/>
            <a:ext cx="502920" cy="502920"/>
          </a:xfrm>
          <a:prstGeom prst="ellipse">
            <a:avLst/>
          </a:prstGeom>
          <a:solidFill>
            <a:schemeClr val="accent1"/>
          </a:solidFill>
          <a:ln w="12700">
            <a:solidFill>
              <a:schemeClr val="accent1"/>
            </a:solidFill>
            <a:prstDash val="solid"/>
          </a:ln>
        </p:spPr>
      </p:sp>
      <p:pic>
        <p:nvPicPr>
          <p:cNvPr id="5" name="Image 0" descr="SearchLocation icon">    </p:cNvPr>
          <p:cNvPicPr>
            <a:picLocks noChangeAspect="1"/>
          </p:cNvPicPr>
          <p:nvPr/>
        </p:nvPicPr>
        <p:blipFill>
          <a:blip r:embed="rId1"/>
          <a:stretch>
            <a:fillRect/>
          </a:stretch>
        </p:blipFill>
        <p:spPr>
          <a:xfrm>
            <a:off x="867308" y="1690268"/>
            <a:ext cx="231343" cy="231343"/>
          </a:xfrm>
          <a:prstGeom prst="rect">
            <a:avLst/>
          </a:prstGeom>
        </p:spPr>
      </p:pic>
      <p:sp>
        <p:nvSpPr>
          <p:cNvPr id="6" name="Text 3"/>
          <p:cNvSpPr txBox="1"/>
          <p:nvPr/>
        </p:nvSpPr>
        <p:spPr>
          <a:xfrm>
            <a:off x="731520" y="2148840"/>
            <a:ext cx="1783080" cy="320040"/>
          </a:xfrm>
          <a:prstGeom prst="rect">
            <a:avLst/>
          </a:prstGeom>
          <a:noFill/>
          <a:ln/>
        </p:spPr>
        <p:txBody>
          <a:bodyPr wrap="square" lIns="0" tIns="0" rIns="0" bIns="0" rtlCol="0" anchor="t"/>
          <a:lstStyle/>
          <a:p>
            <a:pPr indent="0" marL="0">
              <a:buNone/>
            </a:pPr>
            <a:r>
              <a:rPr lang="en-US" sz="1500" b="1" dirty="0">
                <a:solidFill>
                  <a:schemeClr val="tx1"/>
                </a:solidFill>
              </a:rPr>
              <a:t>Salon discovery</a:t>
            </a:r>
            <a:endParaRPr lang="en-US" sz="1500" dirty="0"/>
          </a:p>
        </p:txBody>
      </p:sp>
      <p:sp>
        <p:nvSpPr>
          <p:cNvPr id="7" name="Text 4"/>
          <p:cNvSpPr txBox="1"/>
          <p:nvPr/>
        </p:nvSpPr>
        <p:spPr>
          <a:xfrm>
            <a:off x="731520" y="2468880"/>
            <a:ext cx="1783080" cy="685800"/>
          </a:xfrm>
          <a:prstGeom prst="rect">
            <a:avLst/>
          </a:prstGeom>
          <a:noFill/>
          <a:ln/>
        </p:spPr>
        <p:txBody>
          <a:bodyPr wrap="square" lIns="0" tIns="0" rIns="0" bIns="0" rtlCol="0" anchor="t"/>
          <a:lstStyle/>
          <a:p>
            <a:pPr indent="0" marL="0">
              <a:buNone/>
            </a:pPr>
            <a:r>
              <a:rPr lang="en-US" sz="1200" dirty="0">
                <a:solidFill>
                  <a:schemeClr val="tx2"/>
                </a:solidFill>
              </a:rPr>
              <a:t>Search by city, area, service, price; map view</a:t>
            </a:r>
            <a:endParaRPr lang="en-US" sz="1200" dirty="0"/>
          </a:p>
        </p:txBody>
      </p:sp>
      <p:sp>
        <p:nvSpPr>
          <p:cNvPr id="8" name="Status chip Implemented"/>
          <p:cNvSpPr txBox="1"/>
          <p:nvPr/>
        </p:nvSpPr>
        <p:spPr>
          <a:xfrm>
            <a:off x="731520" y="3200400"/>
            <a:ext cx="1051560" cy="256032"/>
          </a:xfrm>
          <a:prstGeom prst="roundRect">
            <a:avLst>
              <a:gd name="adj" fmla="val 53571"/>
            </a:avLst>
          </a:prstGeom>
          <a:solidFill>
            <a:schemeClr val="accent4"/>
          </a:solidFill>
          <a:ln/>
        </p:spPr>
        <p:txBody>
          <a:bodyPr wrap="square" lIns="0" tIns="0" rIns="0" bIns="0" rtlCol="0" anchor="ctr"/>
          <a:lstStyle/>
          <a:p>
            <a:pPr algn="ctr" indent="0" marL="0">
              <a:buNone/>
            </a:pPr>
            <a:r>
              <a:rPr lang="en-US" sz="1100" b="1" dirty="0">
                <a:solidFill>
                  <a:schemeClr val="bg1"/>
                </a:solidFill>
              </a:rPr>
              <a:t>Implemented</a:t>
            </a:r>
            <a:endParaRPr lang="en-US" sz="1100" dirty="0"/>
          </a:p>
        </p:txBody>
      </p:sp>
      <p:sp>
        <p:nvSpPr>
          <p:cNvPr id="9" name="Feature card Appointment booking"/>
          <p:cNvSpPr/>
          <p:nvPr/>
        </p:nvSpPr>
        <p:spPr>
          <a:xfrm>
            <a:off x="2788920" y="1371600"/>
            <a:ext cx="2103120" cy="2194560"/>
          </a:xfrm>
          <a:prstGeom prst="roundRect">
            <a:avLst>
              <a:gd name="adj" fmla="val 5217"/>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10" name="Icon circle FaCalendarCheck"/>
          <p:cNvSpPr/>
          <p:nvPr/>
        </p:nvSpPr>
        <p:spPr>
          <a:xfrm>
            <a:off x="2971800" y="1554480"/>
            <a:ext cx="502920" cy="502920"/>
          </a:xfrm>
          <a:prstGeom prst="ellipse">
            <a:avLst/>
          </a:prstGeom>
          <a:solidFill>
            <a:schemeClr val="accent1"/>
          </a:solidFill>
          <a:ln w="12700">
            <a:solidFill>
              <a:schemeClr val="accent1"/>
            </a:solidFill>
            <a:prstDash val="solid"/>
          </a:ln>
        </p:spPr>
      </p:sp>
      <p:pic>
        <p:nvPicPr>
          <p:cNvPr id="11" name="Image 1" descr="CalendarCheck icon">    </p:cNvPr>
          <p:cNvPicPr>
            <a:picLocks noChangeAspect="1"/>
          </p:cNvPicPr>
          <p:nvPr/>
        </p:nvPicPr>
        <p:blipFill>
          <a:blip r:embed="rId2"/>
          <a:stretch>
            <a:fillRect/>
          </a:stretch>
        </p:blipFill>
        <p:spPr>
          <a:xfrm>
            <a:off x="3107588" y="1690268"/>
            <a:ext cx="231343" cy="231343"/>
          </a:xfrm>
          <a:prstGeom prst="rect">
            <a:avLst/>
          </a:prstGeom>
        </p:spPr>
      </p:pic>
      <p:sp>
        <p:nvSpPr>
          <p:cNvPr id="12" name="Text 8"/>
          <p:cNvSpPr txBox="1"/>
          <p:nvPr/>
        </p:nvSpPr>
        <p:spPr>
          <a:xfrm>
            <a:off x="2971800" y="2148840"/>
            <a:ext cx="1783080" cy="320040"/>
          </a:xfrm>
          <a:prstGeom prst="rect">
            <a:avLst/>
          </a:prstGeom>
          <a:noFill/>
          <a:ln/>
        </p:spPr>
        <p:txBody>
          <a:bodyPr wrap="square" lIns="0" tIns="0" rIns="0" bIns="0" rtlCol="0" anchor="t"/>
          <a:lstStyle/>
          <a:p>
            <a:pPr indent="0" marL="0">
              <a:buNone/>
            </a:pPr>
            <a:r>
              <a:rPr lang="en-US" sz="1500" b="1" dirty="0">
                <a:solidFill>
                  <a:schemeClr val="tx1"/>
                </a:solidFill>
              </a:rPr>
              <a:t>Appointment booking</a:t>
            </a:r>
            <a:endParaRPr lang="en-US" sz="1500" dirty="0"/>
          </a:p>
        </p:txBody>
      </p:sp>
      <p:sp>
        <p:nvSpPr>
          <p:cNvPr id="13" name="Text 9"/>
          <p:cNvSpPr txBox="1"/>
          <p:nvPr/>
        </p:nvSpPr>
        <p:spPr>
          <a:xfrm>
            <a:off x="2971800" y="2468880"/>
            <a:ext cx="1783080" cy="685800"/>
          </a:xfrm>
          <a:prstGeom prst="rect">
            <a:avLst/>
          </a:prstGeom>
          <a:noFill/>
          <a:ln/>
        </p:spPr>
        <p:txBody>
          <a:bodyPr wrap="square" lIns="0" tIns="0" rIns="0" bIns="0" rtlCol="0" anchor="t"/>
          <a:lstStyle/>
          <a:p>
            <a:pPr indent="0" marL="0">
              <a:buNone/>
            </a:pPr>
            <a:r>
              <a:rPr lang="en-US" sz="1200" dirty="0">
                <a:solidFill>
                  <a:schemeClr val="tx2"/>
                </a:solidFill>
              </a:rPr>
              <a:t>Live free slots; pending to confirmed flow</a:t>
            </a:r>
            <a:endParaRPr lang="en-US" sz="1200" dirty="0"/>
          </a:p>
        </p:txBody>
      </p:sp>
      <p:sp>
        <p:nvSpPr>
          <p:cNvPr id="14" name="Status chip Implemented"/>
          <p:cNvSpPr txBox="1"/>
          <p:nvPr/>
        </p:nvSpPr>
        <p:spPr>
          <a:xfrm>
            <a:off x="2971800" y="3200400"/>
            <a:ext cx="1051560" cy="256032"/>
          </a:xfrm>
          <a:prstGeom prst="roundRect">
            <a:avLst>
              <a:gd name="adj" fmla="val 53571"/>
            </a:avLst>
          </a:prstGeom>
          <a:solidFill>
            <a:schemeClr val="accent4"/>
          </a:solidFill>
          <a:ln/>
        </p:spPr>
        <p:txBody>
          <a:bodyPr wrap="square" lIns="0" tIns="0" rIns="0" bIns="0" rtlCol="0" anchor="ctr"/>
          <a:lstStyle/>
          <a:p>
            <a:pPr algn="ctr" indent="0" marL="0">
              <a:buNone/>
            </a:pPr>
            <a:r>
              <a:rPr lang="en-US" sz="1100" b="1" dirty="0">
                <a:solidFill>
                  <a:schemeClr val="bg1"/>
                </a:solidFill>
              </a:rPr>
              <a:t>Implemented</a:t>
            </a:r>
            <a:endParaRPr lang="en-US" sz="1100" dirty="0"/>
          </a:p>
        </p:txBody>
      </p:sp>
      <p:sp>
        <p:nvSpPr>
          <p:cNvPr id="15" name="Feature card Customers"/>
          <p:cNvSpPr/>
          <p:nvPr/>
        </p:nvSpPr>
        <p:spPr>
          <a:xfrm>
            <a:off x="5029200" y="1371600"/>
            <a:ext cx="2103120" cy="2194560"/>
          </a:xfrm>
          <a:prstGeom prst="roundRect">
            <a:avLst>
              <a:gd name="adj" fmla="val 5217"/>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16" name="Icon circle FaUsers"/>
          <p:cNvSpPr/>
          <p:nvPr/>
        </p:nvSpPr>
        <p:spPr>
          <a:xfrm>
            <a:off x="5212080" y="1554480"/>
            <a:ext cx="502920" cy="502920"/>
          </a:xfrm>
          <a:prstGeom prst="ellipse">
            <a:avLst/>
          </a:prstGeom>
          <a:solidFill>
            <a:schemeClr val="accent1"/>
          </a:solidFill>
          <a:ln w="12700">
            <a:solidFill>
              <a:schemeClr val="accent1"/>
            </a:solidFill>
            <a:prstDash val="solid"/>
          </a:ln>
        </p:spPr>
      </p:sp>
      <p:pic>
        <p:nvPicPr>
          <p:cNvPr id="17" name="Image 2" descr="Users icon">    </p:cNvPr>
          <p:cNvPicPr>
            <a:picLocks noChangeAspect="1"/>
          </p:cNvPicPr>
          <p:nvPr/>
        </p:nvPicPr>
        <p:blipFill>
          <a:blip r:embed="rId3"/>
          <a:stretch>
            <a:fillRect/>
          </a:stretch>
        </p:blipFill>
        <p:spPr>
          <a:xfrm>
            <a:off x="5347868" y="1690268"/>
            <a:ext cx="231343" cy="231343"/>
          </a:xfrm>
          <a:prstGeom prst="rect">
            <a:avLst/>
          </a:prstGeom>
        </p:spPr>
      </p:pic>
      <p:sp>
        <p:nvSpPr>
          <p:cNvPr id="18" name="Text 13"/>
          <p:cNvSpPr txBox="1"/>
          <p:nvPr/>
        </p:nvSpPr>
        <p:spPr>
          <a:xfrm>
            <a:off x="5212080" y="2148840"/>
            <a:ext cx="1783080" cy="320040"/>
          </a:xfrm>
          <a:prstGeom prst="rect">
            <a:avLst/>
          </a:prstGeom>
          <a:noFill/>
          <a:ln/>
        </p:spPr>
        <p:txBody>
          <a:bodyPr wrap="square" lIns="0" tIns="0" rIns="0" bIns="0" rtlCol="0" anchor="t"/>
          <a:lstStyle/>
          <a:p>
            <a:pPr indent="0" marL="0">
              <a:buNone/>
            </a:pPr>
            <a:r>
              <a:rPr lang="en-US" sz="1500" b="1" dirty="0">
                <a:solidFill>
                  <a:schemeClr val="tx1"/>
                </a:solidFill>
              </a:rPr>
              <a:t>Customers</a:t>
            </a:r>
            <a:endParaRPr lang="en-US" sz="1500" dirty="0"/>
          </a:p>
        </p:txBody>
      </p:sp>
      <p:sp>
        <p:nvSpPr>
          <p:cNvPr id="19" name="Text 14"/>
          <p:cNvSpPr txBox="1"/>
          <p:nvPr/>
        </p:nvSpPr>
        <p:spPr>
          <a:xfrm>
            <a:off x="5212080" y="2468880"/>
            <a:ext cx="1783080" cy="685800"/>
          </a:xfrm>
          <a:prstGeom prst="rect">
            <a:avLst/>
          </a:prstGeom>
          <a:noFill/>
          <a:ln/>
        </p:spPr>
        <p:txBody>
          <a:bodyPr wrap="square" lIns="0" tIns="0" rIns="0" bIns="0" rtlCol="0" anchor="t"/>
          <a:lstStyle/>
          <a:p>
            <a:pPr indent="0" marL="0">
              <a:buNone/>
            </a:pPr>
            <a:r>
              <a:rPr lang="en-US" sz="1200" dirty="0">
                <a:solidFill>
                  <a:schemeClr val="tx2"/>
                </a:solidFill>
              </a:rPr>
              <a:t>Visits, spend; new, regular, inactive</a:t>
            </a:r>
            <a:endParaRPr lang="en-US" sz="1200" dirty="0"/>
          </a:p>
        </p:txBody>
      </p:sp>
      <p:sp>
        <p:nvSpPr>
          <p:cNvPr id="20" name="Status chip Implemented"/>
          <p:cNvSpPr txBox="1"/>
          <p:nvPr/>
        </p:nvSpPr>
        <p:spPr>
          <a:xfrm>
            <a:off x="5212080" y="3200400"/>
            <a:ext cx="1051560" cy="256032"/>
          </a:xfrm>
          <a:prstGeom prst="roundRect">
            <a:avLst>
              <a:gd name="adj" fmla="val 53571"/>
            </a:avLst>
          </a:prstGeom>
          <a:solidFill>
            <a:schemeClr val="accent4"/>
          </a:solidFill>
          <a:ln/>
        </p:spPr>
        <p:txBody>
          <a:bodyPr wrap="square" lIns="0" tIns="0" rIns="0" bIns="0" rtlCol="0" anchor="ctr"/>
          <a:lstStyle/>
          <a:p>
            <a:pPr algn="ctr" indent="0" marL="0">
              <a:buNone/>
            </a:pPr>
            <a:r>
              <a:rPr lang="en-US" sz="1100" b="1" dirty="0">
                <a:solidFill>
                  <a:schemeClr val="bg1"/>
                </a:solidFill>
              </a:rPr>
              <a:t>Implemented</a:t>
            </a:r>
            <a:endParaRPr lang="en-US" sz="1100" dirty="0"/>
          </a:p>
        </p:txBody>
      </p:sp>
      <p:sp>
        <p:nvSpPr>
          <p:cNvPr id="21" name="Feature card Services"/>
          <p:cNvSpPr/>
          <p:nvPr/>
        </p:nvSpPr>
        <p:spPr>
          <a:xfrm>
            <a:off x="7269480" y="1371600"/>
            <a:ext cx="2103120" cy="2194560"/>
          </a:xfrm>
          <a:prstGeom prst="roundRect">
            <a:avLst>
              <a:gd name="adj" fmla="val 5217"/>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22" name="Icon circle FaCut"/>
          <p:cNvSpPr/>
          <p:nvPr/>
        </p:nvSpPr>
        <p:spPr>
          <a:xfrm>
            <a:off x="7452360" y="1554480"/>
            <a:ext cx="502920" cy="502920"/>
          </a:xfrm>
          <a:prstGeom prst="ellipse">
            <a:avLst/>
          </a:prstGeom>
          <a:solidFill>
            <a:schemeClr val="accent1"/>
          </a:solidFill>
          <a:ln w="12700">
            <a:solidFill>
              <a:schemeClr val="accent1"/>
            </a:solidFill>
            <a:prstDash val="solid"/>
          </a:ln>
        </p:spPr>
      </p:sp>
      <p:pic>
        <p:nvPicPr>
          <p:cNvPr id="23" name="Image 3" descr="Cut icon">    </p:cNvPr>
          <p:cNvPicPr>
            <a:picLocks noChangeAspect="1"/>
          </p:cNvPicPr>
          <p:nvPr/>
        </p:nvPicPr>
        <p:blipFill>
          <a:blip r:embed="rId4"/>
          <a:stretch>
            <a:fillRect/>
          </a:stretch>
        </p:blipFill>
        <p:spPr>
          <a:xfrm>
            <a:off x="7588148" y="1690268"/>
            <a:ext cx="231343" cy="231343"/>
          </a:xfrm>
          <a:prstGeom prst="rect">
            <a:avLst/>
          </a:prstGeom>
        </p:spPr>
      </p:pic>
      <p:sp>
        <p:nvSpPr>
          <p:cNvPr id="24" name="Text 18"/>
          <p:cNvSpPr txBox="1"/>
          <p:nvPr/>
        </p:nvSpPr>
        <p:spPr>
          <a:xfrm>
            <a:off x="7452360" y="2148840"/>
            <a:ext cx="1783080" cy="320040"/>
          </a:xfrm>
          <a:prstGeom prst="rect">
            <a:avLst/>
          </a:prstGeom>
          <a:noFill/>
          <a:ln/>
        </p:spPr>
        <p:txBody>
          <a:bodyPr wrap="square" lIns="0" tIns="0" rIns="0" bIns="0" rtlCol="0" anchor="t"/>
          <a:lstStyle/>
          <a:p>
            <a:pPr indent="0" marL="0">
              <a:buNone/>
            </a:pPr>
            <a:r>
              <a:rPr lang="en-US" sz="1500" b="1" dirty="0">
                <a:solidFill>
                  <a:schemeClr val="tx1"/>
                </a:solidFill>
              </a:rPr>
              <a:t>Services</a:t>
            </a:r>
            <a:endParaRPr lang="en-US" sz="1500" dirty="0"/>
          </a:p>
        </p:txBody>
      </p:sp>
      <p:sp>
        <p:nvSpPr>
          <p:cNvPr id="25" name="Text 19"/>
          <p:cNvSpPr txBox="1"/>
          <p:nvPr/>
        </p:nvSpPr>
        <p:spPr>
          <a:xfrm>
            <a:off x="7452360" y="2468880"/>
            <a:ext cx="1783080" cy="685800"/>
          </a:xfrm>
          <a:prstGeom prst="rect">
            <a:avLst/>
          </a:prstGeom>
          <a:noFill/>
          <a:ln/>
        </p:spPr>
        <p:txBody>
          <a:bodyPr wrap="square" lIns="0" tIns="0" rIns="0" bIns="0" rtlCol="0" anchor="t"/>
          <a:lstStyle/>
          <a:p>
            <a:pPr indent="0" marL="0">
              <a:buNone/>
            </a:pPr>
            <a:r>
              <a:rPr lang="en-US" sz="1200" dirty="0">
                <a:solidFill>
                  <a:schemeClr val="tx2"/>
                </a:solidFill>
              </a:rPr>
              <a:t>Price list, duration, at salon or at home</a:t>
            </a:r>
            <a:endParaRPr lang="en-US" sz="1200" dirty="0"/>
          </a:p>
        </p:txBody>
      </p:sp>
      <p:sp>
        <p:nvSpPr>
          <p:cNvPr id="26" name="Status chip Implemented"/>
          <p:cNvSpPr txBox="1"/>
          <p:nvPr/>
        </p:nvSpPr>
        <p:spPr>
          <a:xfrm>
            <a:off x="7452360" y="3200400"/>
            <a:ext cx="1051560" cy="256032"/>
          </a:xfrm>
          <a:prstGeom prst="roundRect">
            <a:avLst>
              <a:gd name="adj" fmla="val 53571"/>
            </a:avLst>
          </a:prstGeom>
          <a:solidFill>
            <a:schemeClr val="accent4"/>
          </a:solidFill>
          <a:ln/>
        </p:spPr>
        <p:txBody>
          <a:bodyPr wrap="square" lIns="0" tIns="0" rIns="0" bIns="0" rtlCol="0" anchor="ctr"/>
          <a:lstStyle/>
          <a:p>
            <a:pPr algn="ctr" indent="0" marL="0">
              <a:buNone/>
            </a:pPr>
            <a:r>
              <a:rPr lang="en-US" sz="1100" b="1" dirty="0">
                <a:solidFill>
                  <a:schemeClr val="bg1"/>
                </a:solidFill>
              </a:rPr>
              <a:t>Implemented</a:t>
            </a:r>
            <a:endParaRPr lang="en-US" sz="1100" dirty="0"/>
          </a:p>
        </p:txBody>
      </p:sp>
      <p:sp>
        <p:nvSpPr>
          <p:cNvPr id="27" name="Feature card Staff"/>
          <p:cNvSpPr/>
          <p:nvPr/>
        </p:nvSpPr>
        <p:spPr>
          <a:xfrm>
            <a:off x="9509760" y="1371600"/>
            <a:ext cx="2103120" cy="2194560"/>
          </a:xfrm>
          <a:prstGeom prst="roundRect">
            <a:avLst>
              <a:gd name="adj" fmla="val 5217"/>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28" name="Icon circle FaUserTie"/>
          <p:cNvSpPr/>
          <p:nvPr/>
        </p:nvSpPr>
        <p:spPr>
          <a:xfrm>
            <a:off x="9692640" y="1554480"/>
            <a:ext cx="502920" cy="502920"/>
          </a:xfrm>
          <a:prstGeom prst="ellipse">
            <a:avLst/>
          </a:prstGeom>
          <a:solidFill>
            <a:schemeClr val="accent1"/>
          </a:solidFill>
          <a:ln w="12700">
            <a:solidFill>
              <a:schemeClr val="accent1"/>
            </a:solidFill>
            <a:prstDash val="solid"/>
          </a:ln>
        </p:spPr>
      </p:sp>
      <p:pic>
        <p:nvPicPr>
          <p:cNvPr id="29" name="Image 4" descr="UserTie icon">    </p:cNvPr>
          <p:cNvPicPr>
            <a:picLocks noChangeAspect="1"/>
          </p:cNvPicPr>
          <p:nvPr/>
        </p:nvPicPr>
        <p:blipFill>
          <a:blip r:embed="rId5"/>
          <a:stretch>
            <a:fillRect/>
          </a:stretch>
        </p:blipFill>
        <p:spPr>
          <a:xfrm>
            <a:off x="9828428" y="1690268"/>
            <a:ext cx="231343" cy="231343"/>
          </a:xfrm>
          <a:prstGeom prst="rect">
            <a:avLst/>
          </a:prstGeom>
        </p:spPr>
      </p:pic>
      <p:sp>
        <p:nvSpPr>
          <p:cNvPr id="30" name="Text 23"/>
          <p:cNvSpPr txBox="1"/>
          <p:nvPr/>
        </p:nvSpPr>
        <p:spPr>
          <a:xfrm>
            <a:off x="9692640" y="2148840"/>
            <a:ext cx="1783080" cy="320040"/>
          </a:xfrm>
          <a:prstGeom prst="rect">
            <a:avLst/>
          </a:prstGeom>
          <a:noFill/>
          <a:ln/>
        </p:spPr>
        <p:txBody>
          <a:bodyPr wrap="square" lIns="0" tIns="0" rIns="0" bIns="0" rtlCol="0" anchor="t"/>
          <a:lstStyle/>
          <a:p>
            <a:pPr indent="0" marL="0">
              <a:buNone/>
            </a:pPr>
            <a:r>
              <a:rPr lang="en-US" sz="1500" b="1" dirty="0">
                <a:solidFill>
                  <a:schemeClr val="tx1"/>
                </a:solidFill>
              </a:rPr>
              <a:t>Staff</a:t>
            </a:r>
            <a:endParaRPr lang="en-US" sz="1500" dirty="0"/>
          </a:p>
        </p:txBody>
      </p:sp>
      <p:sp>
        <p:nvSpPr>
          <p:cNvPr id="31" name="Text 24"/>
          <p:cNvSpPr txBox="1"/>
          <p:nvPr/>
        </p:nvSpPr>
        <p:spPr>
          <a:xfrm>
            <a:off x="9692640" y="2468880"/>
            <a:ext cx="1783080" cy="685800"/>
          </a:xfrm>
          <a:prstGeom prst="rect">
            <a:avLst/>
          </a:prstGeom>
          <a:noFill/>
          <a:ln/>
        </p:spPr>
        <p:txBody>
          <a:bodyPr wrap="square" lIns="0" tIns="0" rIns="0" bIns="0" rtlCol="0" anchor="t"/>
          <a:lstStyle/>
          <a:p>
            <a:pPr indent="0" marL="0">
              <a:buNone/>
            </a:pPr>
            <a:r>
              <a:rPr lang="en-US" sz="1200" dirty="0">
                <a:solidFill>
                  <a:schemeClr val="tx2"/>
                </a:solidFill>
              </a:rPr>
              <a:t>Skills, working hours, active status</a:t>
            </a:r>
            <a:endParaRPr lang="en-US" sz="1200" dirty="0"/>
          </a:p>
        </p:txBody>
      </p:sp>
      <p:sp>
        <p:nvSpPr>
          <p:cNvPr id="32" name="Status chip Implemented"/>
          <p:cNvSpPr txBox="1"/>
          <p:nvPr/>
        </p:nvSpPr>
        <p:spPr>
          <a:xfrm>
            <a:off x="9692640" y="3200400"/>
            <a:ext cx="1051560" cy="256032"/>
          </a:xfrm>
          <a:prstGeom prst="roundRect">
            <a:avLst>
              <a:gd name="adj" fmla="val 53571"/>
            </a:avLst>
          </a:prstGeom>
          <a:solidFill>
            <a:schemeClr val="accent4"/>
          </a:solidFill>
          <a:ln/>
        </p:spPr>
        <p:txBody>
          <a:bodyPr wrap="square" lIns="0" tIns="0" rIns="0" bIns="0" rtlCol="0" anchor="ctr"/>
          <a:lstStyle/>
          <a:p>
            <a:pPr algn="ctr" indent="0" marL="0">
              <a:buNone/>
            </a:pPr>
            <a:r>
              <a:rPr lang="en-US" sz="1100" b="1" dirty="0">
                <a:solidFill>
                  <a:schemeClr val="bg1"/>
                </a:solidFill>
              </a:rPr>
              <a:t>Implemented</a:t>
            </a:r>
            <a:endParaRPr lang="en-US" sz="1100" dirty="0"/>
          </a:p>
        </p:txBody>
      </p:sp>
      <p:sp>
        <p:nvSpPr>
          <p:cNvPr id="33" name="Feature card Packages"/>
          <p:cNvSpPr/>
          <p:nvPr/>
        </p:nvSpPr>
        <p:spPr>
          <a:xfrm>
            <a:off x="548640" y="3703320"/>
            <a:ext cx="2103120" cy="2194560"/>
          </a:xfrm>
          <a:prstGeom prst="roundRect">
            <a:avLst>
              <a:gd name="adj" fmla="val 5217"/>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34" name="Icon circle FaGift"/>
          <p:cNvSpPr/>
          <p:nvPr/>
        </p:nvSpPr>
        <p:spPr>
          <a:xfrm>
            <a:off x="731520" y="3886200"/>
            <a:ext cx="502920" cy="502920"/>
          </a:xfrm>
          <a:prstGeom prst="ellipse">
            <a:avLst/>
          </a:prstGeom>
          <a:solidFill>
            <a:schemeClr val="accent1"/>
          </a:solidFill>
          <a:ln w="12700">
            <a:solidFill>
              <a:schemeClr val="accent1"/>
            </a:solidFill>
            <a:prstDash val="solid"/>
          </a:ln>
        </p:spPr>
      </p:sp>
      <p:pic>
        <p:nvPicPr>
          <p:cNvPr id="35" name="Image 5" descr="Gift icon">    </p:cNvPr>
          <p:cNvPicPr>
            <a:picLocks noChangeAspect="1"/>
          </p:cNvPicPr>
          <p:nvPr/>
        </p:nvPicPr>
        <p:blipFill>
          <a:blip r:embed="rId6"/>
          <a:stretch>
            <a:fillRect/>
          </a:stretch>
        </p:blipFill>
        <p:spPr>
          <a:xfrm>
            <a:off x="867308" y="4021988"/>
            <a:ext cx="231343" cy="231343"/>
          </a:xfrm>
          <a:prstGeom prst="rect">
            <a:avLst/>
          </a:prstGeom>
        </p:spPr>
      </p:pic>
      <p:sp>
        <p:nvSpPr>
          <p:cNvPr id="36" name="Text 28"/>
          <p:cNvSpPr txBox="1"/>
          <p:nvPr/>
        </p:nvSpPr>
        <p:spPr>
          <a:xfrm>
            <a:off x="731520" y="4480560"/>
            <a:ext cx="1783080" cy="320040"/>
          </a:xfrm>
          <a:prstGeom prst="rect">
            <a:avLst/>
          </a:prstGeom>
          <a:noFill/>
          <a:ln/>
        </p:spPr>
        <p:txBody>
          <a:bodyPr wrap="square" lIns="0" tIns="0" rIns="0" bIns="0" rtlCol="0" anchor="t"/>
          <a:lstStyle/>
          <a:p>
            <a:pPr indent="0" marL="0">
              <a:buNone/>
            </a:pPr>
            <a:r>
              <a:rPr lang="en-US" sz="1500" b="1" dirty="0">
                <a:solidFill>
                  <a:schemeClr val="tx1"/>
                </a:solidFill>
              </a:rPr>
              <a:t>Packages</a:t>
            </a:r>
            <a:endParaRPr lang="en-US" sz="1500" dirty="0"/>
          </a:p>
        </p:txBody>
      </p:sp>
      <p:sp>
        <p:nvSpPr>
          <p:cNvPr id="37" name="Text 29"/>
          <p:cNvSpPr txBox="1"/>
          <p:nvPr/>
        </p:nvSpPr>
        <p:spPr>
          <a:xfrm>
            <a:off x="731520" y="4800600"/>
            <a:ext cx="1783080" cy="685800"/>
          </a:xfrm>
          <a:prstGeom prst="rect">
            <a:avLst/>
          </a:prstGeom>
          <a:noFill/>
          <a:ln/>
        </p:spPr>
        <p:txBody>
          <a:bodyPr wrap="square" lIns="0" tIns="0" rIns="0" bIns="0" rtlCol="0" anchor="t"/>
          <a:lstStyle/>
          <a:p>
            <a:pPr indent="0" marL="0">
              <a:buNone/>
            </a:pPr>
            <a:r>
              <a:rPr lang="en-US" sz="1200" dirty="0">
                <a:solidFill>
                  <a:schemeClr val="tx2"/>
                </a:solidFill>
              </a:rPr>
              <a:t>Session bundles with a balance ledger</a:t>
            </a:r>
            <a:endParaRPr lang="en-US" sz="1200" dirty="0"/>
          </a:p>
        </p:txBody>
      </p:sp>
      <p:sp>
        <p:nvSpPr>
          <p:cNvPr id="38" name="Status chip Implemented"/>
          <p:cNvSpPr txBox="1"/>
          <p:nvPr/>
        </p:nvSpPr>
        <p:spPr>
          <a:xfrm>
            <a:off x="731520" y="5532120"/>
            <a:ext cx="1051560" cy="256032"/>
          </a:xfrm>
          <a:prstGeom prst="roundRect">
            <a:avLst>
              <a:gd name="adj" fmla="val 53571"/>
            </a:avLst>
          </a:prstGeom>
          <a:solidFill>
            <a:schemeClr val="accent4"/>
          </a:solidFill>
          <a:ln/>
        </p:spPr>
        <p:txBody>
          <a:bodyPr wrap="square" lIns="0" tIns="0" rIns="0" bIns="0" rtlCol="0" anchor="ctr"/>
          <a:lstStyle/>
          <a:p>
            <a:pPr algn="ctr" indent="0" marL="0">
              <a:buNone/>
            </a:pPr>
            <a:r>
              <a:rPr lang="en-US" sz="1100" b="1" dirty="0">
                <a:solidFill>
                  <a:schemeClr val="bg1"/>
                </a:solidFill>
              </a:rPr>
              <a:t>Implemented</a:t>
            </a:r>
            <a:endParaRPr lang="en-US" sz="1100" dirty="0"/>
          </a:p>
        </p:txBody>
      </p:sp>
      <p:sp>
        <p:nvSpPr>
          <p:cNvPr id="39" name="Feature card Memberships"/>
          <p:cNvSpPr/>
          <p:nvPr/>
        </p:nvSpPr>
        <p:spPr>
          <a:xfrm>
            <a:off x="2788920" y="3703320"/>
            <a:ext cx="2103120" cy="2194560"/>
          </a:xfrm>
          <a:prstGeom prst="roundRect">
            <a:avLst>
              <a:gd name="adj" fmla="val 5217"/>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40" name="Icon circle FaCrown"/>
          <p:cNvSpPr/>
          <p:nvPr/>
        </p:nvSpPr>
        <p:spPr>
          <a:xfrm>
            <a:off x="2971800" y="3886200"/>
            <a:ext cx="502920" cy="502920"/>
          </a:xfrm>
          <a:prstGeom prst="ellipse">
            <a:avLst/>
          </a:prstGeom>
          <a:solidFill>
            <a:schemeClr val="accent1"/>
          </a:solidFill>
          <a:ln w="12700">
            <a:solidFill>
              <a:schemeClr val="accent1"/>
            </a:solidFill>
            <a:prstDash val="solid"/>
          </a:ln>
        </p:spPr>
      </p:sp>
      <p:pic>
        <p:nvPicPr>
          <p:cNvPr id="41" name="Image 6" descr="Crown icon">    </p:cNvPr>
          <p:cNvPicPr>
            <a:picLocks noChangeAspect="1"/>
          </p:cNvPicPr>
          <p:nvPr/>
        </p:nvPicPr>
        <p:blipFill>
          <a:blip r:embed="rId7"/>
          <a:stretch>
            <a:fillRect/>
          </a:stretch>
        </p:blipFill>
        <p:spPr>
          <a:xfrm>
            <a:off x="3107588" y="4021988"/>
            <a:ext cx="231343" cy="231343"/>
          </a:xfrm>
          <a:prstGeom prst="rect">
            <a:avLst/>
          </a:prstGeom>
        </p:spPr>
      </p:pic>
      <p:sp>
        <p:nvSpPr>
          <p:cNvPr id="42" name="Text 33"/>
          <p:cNvSpPr txBox="1"/>
          <p:nvPr/>
        </p:nvSpPr>
        <p:spPr>
          <a:xfrm>
            <a:off x="2971800" y="4480560"/>
            <a:ext cx="1783080" cy="320040"/>
          </a:xfrm>
          <a:prstGeom prst="rect">
            <a:avLst/>
          </a:prstGeom>
          <a:noFill/>
          <a:ln/>
        </p:spPr>
        <p:txBody>
          <a:bodyPr wrap="square" lIns="0" tIns="0" rIns="0" bIns="0" rtlCol="0" anchor="t"/>
          <a:lstStyle/>
          <a:p>
            <a:pPr indent="0" marL="0">
              <a:buNone/>
            </a:pPr>
            <a:r>
              <a:rPr lang="en-US" sz="1500" b="1" dirty="0">
                <a:solidFill>
                  <a:schemeClr val="tx1"/>
                </a:solidFill>
              </a:rPr>
              <a:t>Memberships</a:t>
            </a:r>
            <a:endParaRPr lang="en-US" sz="1500" dirty="0"/>
          </a:p>
        </p:txBody>
      </p:sp>
      <p:sp>
        <p:nvSpPr>
          <p:cNvPr id="43" name="Text 34"/>
          <p:cNvSpPr txBox="1"/>
          <p:nvPr/>
        </p:nvSpPr>
        <p:spPr>
          <a:xfrm>
            <a:off x="2971800" y="4800600"/>
            <a:ext cx="1783080" cy="685800"/>
          </a:xfrm>
          <a:prstGeom prst="rect">
            <a:avLst/>
          </a:prstGeom>
          <a:noFill/>
          <a:ln/>
        </p:spPr>
        <p:txBody>
          <a:bodyPr wrap="square" lIns="0" tIns="0" rIns="0" bIns="0" rtlCol="0" anchor="t"/>
          <a:lstStyle/>
          <a:p>
            <a:pPr indent="0" marL="0">
              <a:buNone/>
            </a:pPr>
            <a:r>
              <a:rPr lang="en-US" sz="1200" dirty="0">
                <a:solidFill>
                  <a:schemeClr val="tx2"/>
                </a:solidFill>
              </a:rPr>
              <a:t>Plans with discounts and a ledger</a:t>
            </a:r>
            <a:endParaRPr lang="en-US" sz="1200" dirty="0"/>
          </a:p>
        </p:txBody>
      </p:sp>
      <p:sp>
        <p:nvSpPr>
          <p:cNvPr id="44" name="Status chip Implemented"/>
          <p:cNvSpPr txBox="1"/>
          <p:nvPr/>
        </p:nvSpPr>
        <p:spPr>
          <a:xfrm>
            <a:off x="2971800" y="5532120"/>
            <a:ext cx="1051560" cy="256032"/>
          </a:xfrm>
          <a:prstGeom prst="roundRect">
            <a:avLst>
              <a:gd name="adj" fmla="val 53571"/>
            </a:avLst>
          </a:prstGeom>
          <a:solidFill>
            <a:schemeClr val="accent4"/>
          </a:solidFill>
          <a:ln/>
        </p:spPr>
        <p:txBody>
          <a:bodyPr wrap="square" lIns="0" tIns="0" rIns="0" bIns="0" rtlCol="0" anchor="ctr"/>
          <a:lstStyle/>
          <a:p>
            <a:pPr algn="ctr" indent="0" marL="0">
              <a:buNone/>
            </a:pPr>
            <a:r>
              <a:rPr lang="en-US" sz="1100" b="1" dirty="0">
                <a:solidFill>
                  <a:schemeClr val="bg1"/>
                </a:solidFill>
              </a:rPr>
              <a:t>Implemented</a:t>
            </a:r>
            <a:endParaRPr lang="en-US" sz="1100" dirty="0"/>
          </a:p>
        </p:txBody>
      </p:sp>
      <p:sp>
        <p:nvSpPr>
          <p:cNvPr id="45" name="Feature card Billing"/>
          <p:cNvSpPr/>
          <p:nvPr/>
        </p:nvSpPr>
        <p:spPr>
          <a:xfrm>
            <a:off x="5029200" y="3703320"/>
            <a:ext cx="2103120" cy="2194560"/>
          </a:xfrm>
          <a:prstGeom prst="roundRect">
            <a:avLst>
              <a:gd name="adj" fmla="val 5217"/>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46" name="Icon circle FaFileInvoiceDollar"/>
          <p:cNvSpPr/>
          <p:nvPr/>
        </p:nvSpPr>
        <p:spPr>
          <a:xfrm>
            <a:off x="5212080" y="3886200"/>
            <a:ext cx="502920" cy="502920"/>
          </a:xfrm>
          <a:prstGeom prst="ellipse">
            <a:avLst/>
          </a:prstGeom>
          <a:solidFill>
            <a:schemeClr val="accent1"/>
          </a:solidFill>
          <a:ln w="12700">
            <a:solidFill>
              <a:schemeClr val="accent1"/>
            </a:solidFill>
            <a:prstDash val="solid"/>
          </a:ln>
        </p:spPr>
      </p:sp>
      <p:pic>
        <p:nvPicPr>
          <p:cNvPr id="47" name="Image 7" descr="FileInvoiceDollar icon">    </p:cNvPr>
          <p:cNvPicPr>
            <a:picLocks noChangeAspect="1"/>
          </p:cNvPicPr>
          <p:nvPr/>
        </p:nvPicPr>
        <p:blipFill>
          <a:blip r:embed="rId8"/>
          <a:stretch>
            <a:fillRect/>
          </a:stretch>
        </p:blipFill>
        <p:spPr>
          <a:xfrm>
            <a:off x="5347868" y="4021988"/>
            <a:ext cx="231343" cy="231343"/>
          </a:xfrm>
          <a:prstGeom prst="rect">
            <a:avLst/>
          </a:prstGeom>
        </p:spPr>
      </p:pic>
      <p:sp>
        <p:nvSpPr>
          <p:cNvPr id="48" name="Text 38"/>
          <p:cNvSpPr txBox="1"/>
          <p:nvPr/>
        </p:nvSpPr>
        <p:spPr>
          <a:xfrm>
            <a:off x="5212080" y="4480560"/>
            <a:ext cx="1783080" cy="320040"/>
          </a:xfrm>
          <a:prstGeom prst="rect">
            <a:avLst/>
          </a:prstGeom>
          <a:noFill/>
          <a:ln/>
        </p:spPr>
        <p:txBody>
          <a:bodyPr wrap="square" lIns="0" tIns="0" rIns="0" bIns="0" rtlCol="0" anchor="t"/>
          <a:lstStyle/>
          <a:p>
            <a:pPr indent="0" marL="0">
              <a:buNone/>
            </a:pPr>
            <a:r>
              <a:rPr lang="en-US" sz="1500" b="1" dirty="0">
                <a:solidFill>
                  <a:schemeClr val="tx1"/>
                </a:solidFill>
              </a:rPr>
              <a:t>Billing</a:t>
            </a:r>
            <a:endParaRPr lang="en-US" sz="1500" dirty="0"/>
          </a:p>
        </p:txBody>
      </p:sp>
      <p:sp>
        <p:nvSpPr>
          <p:cNvPr id="49" name="Text 39"/>
          <p:cNvSpPr txBox="1"/>
          <p:nvPr/>
        </p:nvSpPr>
        <p:spPr>
          <a:xfrm>
            <a:off x="5212080" y="4800600"/>
            <a:ext cx="1783080" cy="685800"/>
          </a:xfrm>
          <a:prstGeom prst="rect">
            <a:avLst/>
          </a:prstGeom>
          <a:noFill/>
          <a:ln/>
        </p:spPr>
        <p:txBody>
          <a:bodyPr wrap="square" lIns="0" tIns="0" rIns="0" bIns="0" rtlCol="0" anchor="t"/>
          <a:lstStyle/>
          <a:p>
            <a:pPr indent="0" marL="0">
              <a:buNone/>
            </a:pPr>
            <a:r>
              <a:rPr lang="en-US" sz="1200" dirty="0">
                <a:solidFill>
                  <a:schemeClr val="tx2"/>
                </a:solidFill>
              </a:rPr>
              <a:t>Invoices, cash / UPI / card, refunds</a:t>
            </a:r>
            <a:endParaRPr lang="en-US" sz="1200" dirty="0"/>
          </a:p>
        </p:txBody>
      </p:sp>
      <p:sp>
        <p:nvSpPr>
          <p:cNvPr id="50" name="Status chip Implemented"/>
          <p:cNvSpPr txBox="1"/>
          <p:nvPr/>
        </p:nvSpPr>
        <p:spPr>
          <a:xfrm>
            <a:off x="5212080" y="5532120"/>
            <a:ext cx="1051560" cy="256032"/>
          </a:xfrm>
          <a:prstGeom prst="roundRect">
            <a:avLst>
              <a:gd name="adj" fmla="val 53571"/>
            </a:avLst>
          </a:prstGeom>
          <a:solidFill>
            <a:schemeClr val="accent4"/>
          </a:solidFill>
          <a:ln/>
        </p:spPr>
        <p:txBody>
          <a:bodyPr wrap="square" lIns="0" tIns="0" rIns="0" bIns="0" rtlCol="0" anchor="ctr"/>
          <a:lstStyle/>
          <a:p>
            <a:pPr algn="ctr" indent="0" marL="0">
              <a:buNone/>
            </a:pPr>
            <a:r>
              <a:rPr lang="en-US" sz="1100" b="1" dirty="0">
                <a:solidFill>
                  <a:schemeClr val="bg1"/>
                </a:solidFill>
              </a:rPr>
              <a:t>Implemented</a:t>
            </a:r>
            <a:endParaRPr lang="en-US" sz="1100" dirty="0"/>
          </a:p>
        </p:txBody>
      </p:sp>
      <p:sp>
        <p:nvSpPr>
          <p:cNvPr id="51" name="Feature card Offers"/>
          <p:cNvSpPr/>
          <p:nvPr/>
        </p:nvSpPr>
        <p:spPr>
          <a:xfrm>
            <a:off x="7269480" y="3703320"/>
            <a:ext cx="2103120" cy="2194560"/>
          </a:xfrm>
          <a:prstGeom prst="roundRect">
            <a:avLst>
              <a:gd name="adj" fmla="val 5217"/>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52" name="Icon circle FaTags"/>
          <p:cNvSpPr/>
          <p:nvPr/>
        </p:nvSpPr>
        <p:spPr>
          <a:xfrm>
            <a:off x="7452360" y="3886200"/>
            <a:ext cx="502920" cy="502920"/>
          </a:xfrm>
          <a:prstGeom prst="ellipse">
            <a:avLst/>
          </a:prstGeom>
          <a:solidFill>
            <a:schemeClr val="accent1"/>
          </a:solidFill>
          <a:ln w="12700">
            <a:solidFill>
              <a:schemeClr val="accent1"/>
            </a:solidFill>
            <a:prstDash val="solid"/>
          </a:ln>
        </p:spPr>
      </p:sp>
      <p:pic>
        <p:nvPicPr>
          <p:cNvPr id="53" name="Image 8" descr="Tags icon">    </p:cNvPr>
          <p:cNvPicPr>
            <a:picLocks noChangeAspect="1"/>
          </p:cNvPicPr>
          <p:nvPr/>
        </p:nvPicPr>
        <p:blipFill>
          <a:blip r:embed="rId9"/>
          <a:stretch>
            <a:fillRect/>
          </a:stretch>
        </p:blipFill>
        <p:spPr>
          <a:xfrm>
            <a:off x="7588148" y="4021988"/>
            <a:ext cx="231343" cy="231343"/>
          </a:xfrm>
          <a:prstGeom prst="rect">
            <a:avLst/>
          </a:prstGeom>
        </p:spPr>
      </p:pic>
      <p:sp>
        <p:nvSpPr>
          <p:cNvPr id="54" name="Text 43"/>
          <p:cNvSpPr txBox="1"/>
          <p:nvPr/>
        </p:nvSpPr>
        <p:spPr>
          <a:xfrm>
            <a:off x="7452360" y="4480560"/>
            <a:ext cx="1783080" cy="320040"/>
          </a:xfrm>
          <a:prstGeom prst="rect">
            <a:avLst/>
          </a:prstGeom>
          <a:noFill/>
          <a:ln/>
        </p:spPr>
        <p:txBody>
          <a:bodyPr wrap="square" lIns="0" tIns="0" rIns="0" bIns="0" rtlCol="0" anchor="t"/>
          <a:lstStyle/>
          <a:p>
            <a:pPr indent="0" marL="0">
              <a:buNone/>
            </a:pPr>
            <a:r>
              <a:rPr lang="en-US" sz="1500" b="1" dirty="0">
                <a:solidFill>
                  <a:schemeClr val="tx1"/>
                </a:solidFill>
              </a:rPr>
              <a:t>Offers</a:t>
            </a:r>
            <a:endParaRPr lang="en-US" sz="1500" dirty="0"/>
          </a:p>
        </p:txBody>
      </p:sp>
      <p:sp>
        <p:nvSpPr>
          <p:cNvPr id="55" name="Text 44"/>
          <p:cNvSpPr txBox="1"/>
          <p:nvPr/>
        </p:nvSpPr>
        <p:spPr>
          <a:xfrm>
            <a:off x="7452360" y="4800600"/>
            <a:ext cx="1783080" cy="685800"/>
          </a:xfrm>
          <a:prstGeom prst="rect">
            <a:avLst/>
          </a:prstGeom>
          <a:noFill/>
          <a:ln/>
        </p:spPr>
        <p:txBody>
          <a:bodyPr wrap="square" lIns="0" tIns="0" rIns="0" bIns="0" rtlCol="0" anchor="t"/>
          <a:lstStyle/>
          <a:p>
            <a:pPr indent="0" marL="0">
              <a:buNone/>
            </a:pPr>
            <a:r>
              <a:rPr lang="en-US" sz="1200" dirty="0">
                <a:solidFill>
                  <a:schemeClr val="tx2"/>
                </a:solidFill>
              </a:rPr>
              <a:t>Discounts on chosen services and dates</a:t>
            </a:r>
            <a:endParaRPr lang="en-US" sz="1200" dirty="0"/>
          </a:p>
        </p:txBody>
      </p:sp>
      <p:sp>
        <p:nvSpPr>
          <p:cNvPr id="56" name="Status chip Implemented"/>
          <p:cNvSpPr txBox="1"/>
          <p:nvPr/>
        </p:nvSpPr>
        <p:spPr>
          <a:xfrm>
            <a:off x="7452360" y="5532120"/>
            <a:ext cx="1051560" cy="256032"/>
          </a:xfrm>
          <a:prstGeom prst="roundRect">
            <a:avLst>
              <a:gd name="adj" fmla="val 53571"/>
            </a:avLst>
          </a:prstGeom>
          <a:solidFill>
            <a:schemeClr val="accent4"/>
          </a:solidFill>
          <a:ln/>
        </p:spPr>
        <p:txBody>
          <a:bodyPr wrap="square" lIns="0" tIns="0" rIns="0" bIns="0" rtlCol="0" anchor="ctr"/>
          <a:lstStyle/>
          <a:p>
            <a:pPr algn="ctr" indent="0" marL="0">
              <a:buNone/>
            </a:pPr>
            <a:r>
              <a:rPr lang="en-US" sz="1100" b="1" dirty="0">
                <a:solidFill>
                  <a:schemeClr val="bg1"/>
                </a:solidFill>
              </a:rPr>
              <a:t>Implemented</a:t>
            </a:r>
            <a:endParaRPr lang="en-US" sz="1100" dirty="0"/>
          </a:p>
        </p:txBody>
      </p:sp>
      <p:sp>
        <p:nvSpPr>
          <p:cNvPr id="57" name="Feature card Ratings &amp; reviews"/>
          <p:cNvSpPr/>
          <p:nvPr/>
        </p:nvSpPr>
        <p:spPr>
          <a:xfrm>
            <a:off x="9509760" y="3703320"/>
            <a:ext cx="2103120" cy="2194560"/>
          </a:xfrm>
          <a:prstGeom prst="roundRect">
            <a:avLst>
              <a:gd name="adj" fmla="val 5217"/>
            </a:avLst>
          </a:prstGeom>
          <a:solidFill>
            <a:srgbClr val="F3E9D2"/>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58" name="Icon circle FaStar"/>
          <p:cNvSpPr/>
          <p:nvPr/>
        </p:nvSpPr>
        <p:spPr>
          <a:xfrm>
            <a:off x="9692640" y="3886200"/>
            <a:ext cx="502920" cy="502920"/>
          </a:xfrm>
          <a:prstGeom prst="ellipse">
            <a:avLst/>
          </a:prstGeom>
          <a:solidFill>
            <a:schemeClr val="accent6"/>
          </a:solidFill>
          <a:ln w="12700">
            <a:solidFill>
              <a:schemeClr val="accent6"/>
            </a:solidFill>
            <a:prstDash val="solid"/>
          </a:ln>
        </p:spPr>
      </p:sp>
      <p:pic>
        <p:nvPicPr>
          <p:cNvPr id="59" name="Image 9" descr="Star icon">    </p:cNvPr>
          <p:cNvPicPr>
            <a:picLocks noChangeAspect="1"/>
          </p:cNvPicPr>
          <p:nvPr/>
        </p:nvPicPr>
        <p:blipFill>
          <a:blip r:embed="rId10"/>
          <a:stretch>
            <a:fillRect/>
          </a:stretch>
        </p:blipFill>
        <p:spPr>
          <a:xfrm>
            <a:off x="9828428" y="4021988"/>
            <a:ext cx="231343" cy="231343"/>
          </a:xfrm>
          <a:prstGeom prst="rect">
            <a:avLst/>
          </a:prstGeom>
        </p:spPr>
      </p:pic>
      <p:sp>
        <p:nvSpPr>
          <p:cNvPr id="60" name="Text 48"/>
          <p:cNvSpPr txBox="1"/>
          <p:nvPr/>
        </p:nvSpPr>
        <p:spPr>
          <a:xfrm>
            <a:off x="9692640" y="4480560"/>
            <a:ext cx="1783080" cy="320040"/>
          </a:xfrm>
          <a:prstGeom prst="rect">
            <a:avLst/>
          </a:prstGeom>
          <a:noFill/>
          <a:ln/>
        </p:spPr>
        <p:txBody>
          <a:bodyPr wrap="square" lIns="0" tIns="0" rIns="0" bIns="0" rtlCol="0" anchor="t"/>
          <a:lstStyle/>
          <a:p>
            <a:pPr indent="0" marL="0">
              <a:buNone/>
            </a:pPr>
            <a:r>
              <a:rPr lang="en-US" sz="1500" b="1" dirty="0">
                <a:solidFill>
                  <a:schemeClr val="tx1"/>
                </a:solidFill>
              </a:rPr>
              <a:t>Ratings &amp; reviews</a:t>
            </a:r>
            <a:endParaRPr lang="en-US" sz="1500" dirty="0"/>
          </a:p>
        </p:txBody>
      </p:sp>
      <p:sp>
        <p:nvSpPr>
          <p:cNvPr id="61" name="Text 49"/>
          <p:cNvSpPr txBox="1"/>
          <p:nvPr/>
        </p:nvSpPr>
        <p:spPr>
          <a:xfrm>
            <a:off x="9692640" y="4800600"/>
            <a:ext cx="1783080" cy="685800"/>
          </a:xfrm>
          <a:prstGeom prst="rect">
            <a:avLst/>
          </a:prstGeom>
          <a:noFill/>
          <a:ln/>
        </p:spPr>
        <p:txBody>
          <a:bodyPr wrap="square" lIns="0" tIns="0" rIns="0" bIns="0" rtlCol="0" anchor="t"/>
          <a:lstStyle/>
          <a:p>
            <a:pPr indent="0" marL="0">
              <a:buNone/>
            </a:pPr>
            <a:r>
              <a:rPr lang="en-US" sz="1200" dirty="0">
                <a:solidFill>
                  <a:schemeClr val="tx2"/>
                </a:solidFill>
              </a:rPr>
              <a:t>Rating filter and display are ready; customers cannot submit reviews yet</a:t>
            </a:r>
            <a:endParaRPr lang="en-US" sz="1200" dirty="0"/>
          </a:p>
        </p:txBody>
      </p:sp>
      <p:sp>
        <p:nvSpPr>
          <p:cNvPr id="62" name="Status chip Planned"/>
          <p:cNvSpPr txBox="1"/>
          <p:nvPr/>
        </p:nvSpPr>
        <p:spPr>
          <a:xfrm>
            <a:off x="9692640" y="5532120"/>
            <a:ext cx="1051560" cy="256032"/>
          </a:xfrm>
          <a:prstGeom prst="roundRect">
            <a:avLst>
              <a:gd name="adj" fmla="val 53571"/>
            </a:avLst>
          </a:prstGeom>
          <a:solidFill>
            <a:schemeClr val="accent2"/>
          </a:solidFill>
          <a:ln/>
        </p:spPr>
        <p:txBody>
          <a:bodyPr wrap="square" lIns="0" tIns="0" rIns="0" bIns="0" rtlCol="0" anchor="ctr"/>
          <a:lstStyle/>
          <a:p>
            <a:pPr algn="ctr" indent="0" marL="0">
              <a:buNone/>
            </a:pPr>
            <a:r>
              <a:rPr lang="en-US" sz="1100" b="1" dirty="0">
                <a:solidFill>
                  <a:schemeClr val="bg1"/>
                </a:solidFill>
              </a:rPr>
              <a:t>Planned</a:t>
            </a:r>
            <a:endParaRPr lang="en-US" sz="1100" dirty="0"/>
          </a:p>
        </p:txBody>
      </p:sp>
      <p:sp>
        <p:nvSpPr>
          <p:cNvPr id="63" name="Text 51"/>
          <p:cNvSpPr txBox="1"/>
          <p:nvPr/>
        </p:nvSpPr>
        <p:spPr>
          <a:xfrm>
            <a:off x="548640" y="6053328"/>
            <a:ext cx="11064240" cy="320040"/>
          </a:xfrm>
          <a:prstGeom prst="rect">
            <a:avLst/>
          </a:prstGeom>
          <a:noFill/>
          <a:ln/>
        </p:spPr>
        <p:txBody>
          <a:bodyPr wrap="square" lIns="0" tIns="0" rIns="0" bIns="0" rtlCol="0" anchor="t"/>
          <a:lstStyle/>
          <a:p>
            <a:pPr indent="0" marL="0">
              <a:buNone/>
            </a:pPr>
            <a:r>
              <a:rPr lang="en-US" sz="1300" b="1" dirty="0">
                <a:solidFill>
                  <a:schemeClr val="tx2"/>
                </a:solidFill>
              </a:rPr>
              <a:t>Also built: </a:t>
            </a:r>
            <a:pPr indent="0" marL="0">
              <a:buNone/>
            </a:pPr>
            <a:r>
              <a:rPr lang="en-US" sz="1300" dirty="0">
                <a:solidFill>
                  <a:schemeClr val="tx2"/>
                </a:solidFill>
              </a:rPr>
              <a:t>in-app notifications, audit history, team invitations and roles, contact inquiries, home-service option.</a:t>
            </a:r>
            <a:endParaRPr lang="en-US" sz="13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Customer workflow</a:t>
            </a:r>
            <a:endParaRPr lang="en-US" sz="3400" dirty="0"/>
          </a:p>
        </p:txBody>
      </p:sp>
      <p:sp>
        <p:nvSpPr>
          <p:cNvPr id="3" name="Workflow step 1"/>
          <p:cNvSpPr txBox="1"/>
          <p:nvPr/>
        </p:nvSpPr>
        <p:spPr>
          <a:xfrm>
            <a:off x="548640" y="1371600"/>
            <a:ext cx="2331720" cy="731520"/>
          </a:xfrm>
          <a:prstGeom prst="homePlate">
            <a:avLst/>
          </a:prstGeom>
          <a:solidFill>
            <a:schemeClr val="tx1"/>
          </a:solidFill>
          <a:ln/>
        </p:spPr>
        <p:txBody>
          <a:bodyPr wrap="square" lIns="0" tIns="3810" rIns="3810" bIns="0" rtlCol="0" anchor="ctr"/>
          <a:lstStyle/>
          <a:p>
            <a:pPr algn="ctr" indent="0" marL="0">
              <a:buNone/>
            </a:pPr>
            <a:r>
              <a:rPr lang="en-US" sz="1500" b="1" dirty="0">
                <a:solidFill>
                  <a:schemeClr val="accent1"/>
                </a:solidFill>
              </a:rPr>
              <a:t>Search salon</a:t>
            </a:r>
            <a:endParaRPr lang="en-US" sz="1500" dirty="0"/>
          </a:p>
        </p:txBody>
      </p:sp>
      <p:sp>
        <p:nvSpPr>
          <p:cNvPr id="4" name="Text 2"/>
          <p:cNvSpPr txBox="1"/>
          <p:nvPr/>
        </p:nvSpPr>
        <p:spPr>
          <a:xfrm>
            <a:off x="685800" y="2194560"/>
            <a:ext cx="2011680" cy="502920"/>
          </a:xfrm>
          <a:prstGeom prst="rect">
            <a:avLst/>
          </a:prstGeom>
          <a:noFill/>
          <a:ln/>
        </p:spPr>
        <p:txBody>
          <a:bodyPr wrap="square" lIns="0" tIns="0" rIns="0" bIns="0" rtlCol="0" anchor="t"/>
          <a:lstStyle/>
          <a:p>
            <a:pPr algn="ctr" indent="0" marL="0">
              <a:buNone/>
            </a:pPr>
            <a:r>
              <a:rPr lang="en-US" sz="1200" dirty="0">
                <a:solidFill>
                  <a:schemeClr val="tx2"/>
                </a:solidFill>
              </a:rPr>
              <a:t>City, area, filters</a:t>
            </a:r>
            <a:endParaRPr lang="en-US" sz="1200" dirty="0"/>
          </a:p>
        </p:txBody>
      </p:sp>
      <p:sp>
        <p:nvSpPr>
          <p:cNvPr id="5" name="Workflow step 2"/>
          <p:cNvSpPr txBox="1"/>
          <p:nvPr/>
        </p:nvSpPr>
        <p:spPr>
          <a:xfrm>
            <a:off x="2779776" y="1371600"/>
            <a:ext cx="2331720" cy="731520"/>
          </a:xfrm>
          <a:prstGeom prst="chevron">
            <a:avLst/>
          </a:prstGeom>
          <a:solidFill>
            <a:schemeClr val="tx1"/>
          </a:solidFill>
          <a:ln/>
        </p:spPr>
        <p:txBody>
          <a:bodyPr wrap="square" lIns="0" tIns="3810" rIns="3810" bIns="0" rtlCol="0" anchor="ctr"/>
          <a:lstStyle/>
          <a:p>
            <a:pPr algn="ctr" indent="0" marL="0">
              <a:buNone/>
            </a:pPr>
            <a:r>
              <a:rPr lang="en-US" sz="1500" b="1" dirty="0">
                <a:solidFill>
                  <a:schemeClr val="accent1"/>
                </a:solidFill>
              </a:rPr>
              <a:t>Salon details</a:t>
            </a:r>
            <a:endParaRPr lang="en-US" sz="1500" dirty="0"/>
          </a:p>
        </p:txBody>
      </p:sp>
      <p:sp>
        <p:nvSpPr>
          <p:cNvPr id="6" name="Text 4"/>
          <p:cNvSpPr txBox="1"/>
          <p:nvPr/>
        </p:nvSpPr>
        <p:spPr>
          <a:xfrm>
            <a:off x="2916936" y="2194560"/>
            <a:ext cx="2011680" cy="502920"/>
          </a:xfrm>
          <a:prstGeom prst="rect">
            <a:avLst/>
          </a:prstGeom>
          <a:noFill/>
          <a:ln/>
        </p:spPr>
        <p:txBody>
          <a:bodyPr wrap="square" lIns="0" tIns="0" rIns="0" bIns="0" rtlCol="0" anchor="t"/>
          <a:lstStyle/>
          <a:p>
            <a:pPr algn="ctr" indent="0" marL="0">
              <a:buNone/>
            </a:pPr>
            <a:r>
              <a:rPr lang="en-US" sz="1200" dirty="0">
                <a:solidFill>
                  <a:schemeClr val="tx2"/>
                </a:solidFill>
              </a:rPr>
              <a:t>Prices, map, offers</a:t>
            </a:r>
            <a:endParaRPr lang="en-US" sz="1200" dirty="0"/>
          </a:p>
        </p:txBody>
      </p:sp>
      <p:sp>
        <p:nvSpPr>
          <p:cNvPr id="7" name="Workflow step 3"/>
          <p:cNvSpPr txBox="1"/>
          <p:nvPr/>
        </p:nvSpPr>
        <p:spPr>
          <a:xfrm>
            <a:off x="5010912" y="1371600"/>
            <a:ext cx="2331720" cy="731520"/>
          </a:xfrm>
          <a:prstGeom prst="chevron">
            <a:avLst/>
          </a:prstGeom>
          <a:solidFill>
            <a:schemeClr val="tx1"/>
          </a:solidFill>
          <a:ln/>
        </p:spPr>
        <p:txBody>
          <a:bodyPr wrap="square" lIns="0" tIns="3810" rIns="3810" bIns="0" rtlCol="0" anchor="ctr"/>
          <a:lstStyle/>
          <a:p>
            <a:pPr algn="ctr" indent="0" marL="0">
              <a:buNone/>
            </a:pPr>
            <a:r>
              <a:rPr lang="en-US" sz="1500" b="1" dirty="0">
                <a:solidFill>
                  <a:schemeClr val="accent1"/>
                </a:solidFill>
              </a:rPr>
              <a:t>Select services</a:t>
            </a:r>
            <a:endParaRPr lang="en-US" sz="1500" dirty="0"/>
          </a:p>
        </p:txBody>
      </p:sp>
      <p:sp>
        <p:nvSpPr>
          <p:cNvPr id="8" name="Text 6"/>
          <p:cNvSpPr txBox="1"/>
          <p:nvPr/>
        </p:nvSpPr>
        <p:spPr>
          <a:xfrm>
            <a:off x="5148072" y="2194560"/>
            <a:ext cx="2011680" cy="502920"/>
          </a:xfrm>
          <a:prstGeom prst="rect">
            <a:avLst/>
          </a:prstGeom>
          <a:noFill/>
          <a:ln/>
        </p:spPr>
        <p:txBody>
          <a:bodyPr wrap="square" lIns="0" tIns="0" rIns="0" bIns="0" rtlCol="0" anchor="t"/>
          <a:lstStyle/>
          <a:p>
            <a:pPr algn="ctr" indent="0" marL="0">
              <a:buNone/>
            </a:pPr>
            <a:r>
              <a:rPr lang="en-US" sz="1200" dirty="0">
                <a:solidFill>
                  <a:schemeClr val="tx2"/>
                </a:solidFill>
              </a:rPr>
              <a:t>Pick services and a time slot</a:t>
            </a:r>
            <a:endParaRPr lang="en-US" sz="1200" dirty="0"/>
          </a:p>
        </p:txBody>
      </p:sp>
      <p:sp>
        <p:nvSpPr>
          <p:cNvPr id="9" name="Workflow step 4"/>
          <p:cNvSpPr txBox="1"/>
          <p:nvPr/>
        </p:nvSpPr>
        <p:spPr>
          <a:xfrm>
            <a:off x="7242048" y="1371600"/>
            <a:ext cx="2331720" cy="731520"/>
          </a:xfrm>
          <a:prstGeom prst="chevron">
            <a:avLst/>
          </a:prstGeom>
          <a:solidFill>
            <a:schemeClr val="tx1"/>
          </a:solidFill>
          <a:ln/>
        </p:spPr>
        <p:txBody>
          <a:bodyPr wrap="square" lIns="0" tIns="3810" rIns="3810" bIns="0" rtlCol="0" anchor="ctr"/>
          <a:lstStyle/>
          <a:p>
            <a:pPr algn="ctr" indent="0" marL="0">
              <a:buNone/>
            </a:pPr>
            <a:r>
              <a:rPr lang="en-US" sz="1500" b="1" dirty="0">
                <a:solidFill>
                  <a:schemeClr val="accent1"/>
                </a:solidFill>
              </a:rPr>
              <a:t>Book appointment</a:t>
            </a:r>
            <a:endParaRPr lang="en-US" sz="1500" dirty="0"/>
          </a:p>
        </p:txBody>
      </p:sp>
      <p:sp>
        <p:nvSpPr>
          <p:cNvPr id="10" name="Text 8"/>
          <p:cNvSpPr txBox="1"/>
          <p:nvPr/>
        </p:nvSpPr>
        <p:spPr>
          <a:xfrm>
            <a:off x="7379208" y="2194560"/>
            <a:ext cx="2011680" cy="502920"/>
          </a:xfrm>
          <a:prstGeom prst="rect">
            <a:avLst/>
          </a:prstGeom>
          <a:noFill/>
          <a:ln/>
        </p:spPr>
        <p:txBody>
          <a:bodyPr wrap="square" lIns="0" tIns="0" rIns="0" bIns="0" rtlCol="0" anchor="t"/>
          <a:lstStyle/>
          <a:p>
            <a:pPr algn="ctr" indent="0" marL="0">
              <a:buNone/>
            </a:pPr>
            <a:r>
              <a:rPr lang="en-US" sz="1200" dirty="0">
                <a:solidFill>
                  <a:schemeClr val="tx2"/>
                </a:solidFill>
              </a:rPr>
              <a:t>Login with a one-time code</a:t>
            </a:r>
            <a:endParaRPr lang="en-US" sz="1200" dirty="0"/>
          </a:p>
        </p:txBody>
      </p:sp>
      <p:sp>
        <p:nvSpPr>
          <p:cNvPr id="11" name="Workflow step 5"/>
          <p:cNvSpPr txBox="1"/>
          <p:nvPr/>
        </p:nvSpPr>
        <p:spPr>
          <a:xfrm>
            <a:off x="9473184" y="1371600"/>
            <a:ext cx="2331720" cy="731520"/>
          </a:xfrm>
          <a:prstGeom prst="chevron">
            <a:avLst/>
          </a:prstGeom>
          <a:solidFill>
            <a:schemeClr val="accent4"/>
          </a:solidFill>
          <a:ln/>
        </p:spPr>
        <p:txBody>
          <a:bodyPr wrap="square" lIns="0" tIns="3810" rIns="3810" bIns="0" rtlCol="0" anchor="ctr"/>
          <a:lstStyle/>
          <a:p>
            <a:pPr algn="ctr" indent="0" marL="0">
              <a:buNone/>
            </a:pPr>
            <a:r>
              <a:rPr lang="en-US" sz="1500" b="1" dirty="0">
                <a:solidFill>
                  <a:schemeClr val="accent1"/>
                </a:solidFill>
              </a:rPr>
              <a:t>Booking status</a:t>
            </a:r>
            <a:endParaRPr lang="en-US" sz="1500" dirty="0"/>
          </a:p>
        </p:txBody>
      </p:sp>
      <p:sp>
        <p:nvSpPr>
          <p:cNvPr id="12" name="Text 10"/>
          <p:cNvSpPr txBox="1"/>
          <p:nvPr/>
        </p:nvSpPr>
        <p:spPr>
          <a:xfrm>
            <a:off x="9610344" y="2194560"/>
            <a:ext cx="2011680" cy="502920"/>
          </a:xfrm>
          <a:prstGeom prst="rect">
            <a:avLst/>
          </a:prstGeom>
          <a:noFill/>
          <a:ln/>
        </p:spPr>
        <p:txBody>
          <a:bodyPr wrap="square" lIns="0" tIns="0" rIns="0" bIns="0" rtlCol="0" anchor="t"/>
          <a:lstStyle/>
          <a:p>
            <a:pPr algn="ctr" indent="0" marL="0">
              <a:buNone/>
            </a:pPr>
            <a:r>
              <a:rPr lang="en-US" sz="1200" dirty="0">
                <a:solidFill>
                  <a:schemeClr val="tx2"/>
                </a:solidFill>
              </a:rPr>
              <a:t>Pending, then confirmed</a:t>
            </a:r>
            <a:endParaRPr lang="en-US" sz="1200" dirty="0"/>
          </a:p>
        </p:txBody>
      </p:sp>
      <p:sp>
        <p:nvSpPr>
          <p:cNvPr id="13" name="Screenshot frame cust-salon-dialog-crop"/>
          <p:cNvSpPr/>
          <p:nvPr/>
        </p:nvSpPr>
        <p:spPr>
          <a:xfrm>
            <a:off x="539496" y="2871216"/>
            <a:ext cx="3630168" cy="2287627"/>
          </a:xfrm>
          <a:prstGeom prst="roundRect">
            <a:avLst>
              <a:gd name="adj" fmla="val 3198"/>
            </a:avLst>
          </a:prstGeom>
          <a:solidFill>
            <a:schemeClr val="bg1"/>
          </a:solidFill>
          <a:ln w="9525">
            <a:solidFill>
              <a:srgbClr val="D9C7A8"/>
            </a:solidFill>
            <a:prstDash val="solid"/>
          </a:ln>
          <a:effectLst>
            <a:outerShdw sx="100000" sy="100000" kx="0" ky="0" algn="bl" rotWithShape="0" blurRad="101600" dist="25400" dir="5400000">
              <a:srgbClr val="000000">
                <a:alpha val="14000"/>
              </a:srgbClr>
            </a:outerShdw>
          </a:effectLst>
        </p:spPr>
      </p:sp>
      <p:pic>
        <p:nvPicPr>
          <p:cNvPr id="14" name="Screenshot cust-salon-dialog-crop" descr="Salon details popup showing services and prices">    </p:cNvPr>
          <p:cNvPicPr>
            <a:picLocks noChangeAspect="1"/>
          </p:cNvPicPr>
          <p:nvPr/>
        </p:nvPicPr>
        <p:blipFill>
          <a:blip r:embed="rId1"/>
          <a:stretch>
            <a:fillRect/>
          </a:stretch>
        </p:blipFill>
        <p:spPr>
          <a:xfrm>
            <a:off x="594360" y="2926080"/>
            <a:ext cx="3520440" cy="2177899"/>
          </a:xfrm>
          <a:prstGeom prst="rect">
            <a:avLst/>
          </a:prstGeom>
        </p:spPr>
      </p:pic>
      <p:sp>
        <p:nvSpPr>
          <p:cNvPr id="15" name="Screenshot frame cust-book-crop"/>
          <p:cNvSpPr/>
          <p:nvPr/>
        </p:nvSpPr>
        <p:spPr>
          <a:xfrm>
            <a:off x="4288536" y="2871216"/>
            <a:ext cx="3630168" cy="2313830"/>
          </a:xfrm>
          <a:prstGeom prst="roundRect">
            <a:avLst>
              <a:gd name="adj" fmla="val 3162"/>
            </a:avLst>
          </a:prstGeom>
          <a:solidFill>
            <a:schemeClr val="bg1"/>
          </a:solidFill>
          <a:ln w="9525">
            <a:solidFill>
              <a:srgbClr val="D9C7A8"/>
            </a:solidFill>
            <a:prstDash val="solid"/>
          </a:ln>
          <a:effectLst>
            <a:outerShdw sx="100000" sy="100000" kx="0" ky="0" algn="bl" rotWithShape="0" blurRad="101600" dist="25400" dir="5400000">
              <a:srgbClr val="000000">
                <a:alpha val="14000"/>
              </a:srgbClr>
            </a:outerShdw>
          </a:effectLst>
        </p:spPr>
      </p:sp>
      <p:pic>
        <p:nvPicPr>
          <p:cNvPr id="16" name="Screenshot cust-book-crop" descr="Booking form with services and time slots">    </p:cNvPr>
          <p:cNvPicPr>
            <a:picLocks noChangeAspect="1"/>
          </p:cNvPicPr>
          <p:nvPr/>
        </p:nvPicPr>
        <p:blipFill>
          <a:blip r:embed="rId2"/>
          <a:stretch>
            <a:fillRect/>
          </a:stretch>
        </p:blipFill>
        <p:spPr>
          <a:xfrm>
            <a:off x="4343400" y="2926080"/>
            <a:ext cx="3520440" cy="2204102"/>
          </a:xfrm>
          <a:prstGeom prst="rect">
            <a:avLst/>
          </a:prstGeom>
        </p:spPr>
      </p:pic>
      <p:sp>
        <p:nvSpPr>
          <p:cNvPr id="17" name="Screenshot frame cust-booked-crop"/>
          <p:cNvSpPr/>
          <p:nvPr/>
        </p:nvSpPr>
        <p:spPr>
          <a:xfrm>
            <a:off x="8037576" y="2871216"/>
            <a:ext cx="3630168" cy="2271402"/>
          </a:xfrm>
          <a:prstGeom prst="roundRect">
            <a:avLst>
              <a:gd name="adj" fmla="val 3221"/>
            </a:avLst>
          </a:prstGeom>
          <a:solidFill>
            <a:schemeClr val="bg1"/>
          </a:solidFill>
          <a:ln w="9525">
            <a:solidFill>
              <a:srgbClr val="D9C7A8"/>
            </a:solidFill>
            <a:prstDash val="solid"/>
          </a:ln>
          <a:effectLst>
            <a:outerShdw sx="100000" sy="100000" kx="0" ky="0" algn="bl" rotWithShape="0" blurRad="101600" dist="25400" dir="5400000">
              <a:srgbClr val="000000">
                <a:alpha val="14000"/>
              </a:srgbClr>
            </a:outerShdw>
          </a:effectLst>
        </p:spPr>
      </p:sp>
      <p:pic>
        <p:nvPicPr>
          <p:cNvPr id="18" name="Screenshot cust-booked-crop" descr="Appointment requested confirmation screen">    </p:cNvPr>
          <p:cNvPicPr>
            <a:picLocks noChangeAspect="1"/>
          </p:cNvPicPr>
          <p:nvPr/>
        </p:nvPicPr>
        <p:blipFill>
          <a:blip r:embed="rId3"/>
          <a:stretch>
            <a:fillRect/>
          </a:stretch>
        </p:blipFill>
        <p:spPr>
          <a:xfrm>
            <a:off x="8092440" y="2926080"/>
            <a:ext cx="3520440" cy="2161674"/>
          </a:xfrm>
          <a:prstGeom prst="rect">
            <a:avLst/>
          </a:prstGeom>
        </p:spPr>
      </p:pic>
      <p:sp>
        <p:nvSpPr>
          <p:cNvPr id="19" name="Text 14"/>
          <p:cNvSpPr txBox="1"/>
          <p:nvPr/>
        </p:nvSpPr>
        <p:spPr>
          <a:xfrm>
            <a:off x="594360" y="5212080"/>
            <a:ext cx="3520440" cy="274320"/>
          </a:xfrm>
          <a:prstGeom prst="rect">
            <a:avLst/>
          </a:prstGeom>
          <a:noFill/>
          <a:ln/>
        </p:spPr>
        <p:txBody>
          <a:bodyPr wrap="square" lIns="0" tIns="0" rIns="0" bIns="0" rtlCol="0" anchor="t"/>
          <a:lstStyle/>
          <a:p>
            <a:pPr algn="ctr" indent="0" marL="0">
              <a:buNone/>
            </a:pPr>
            <a:r>
              <a:rPr lang="en-US" sz="1300" b="1" dirty="0">
                <a:solidFill>
                  <a:schemeClr val="accent3"/>
                </a:solidFill>
              </a:rPr>
              <a:t>2. Salon details and prices</a:t>
            </a:r>
            <a:endParaRPr lang="en-US" sz="1300" dirty="0"/>
          </a:p>
        </p:txBody>
      </p:sp>
      <p:sp>
        <p:nvSpPr>
          <p:cNvPr id="20" name="Text 15"/>
          <p:cNvSpPr txBox="1"/>
          <p:nvPr/>
        </p:nvSpPr>
        <p:spPr>
          <a:xfrm>
            <a:off x="4343400" y="5212080"/>
            <a:ext cx="3520440" cy="274320"/>
          </a:xfrm>
          <a:prstGeom prst="rect">
            <a:avLst/>
          </a:prstGeom>
          <a:noFill/>
          <a:ln/>
        </p:spPr>
        <p:txBody>
          <a:bodyPr wrap="square" lIns="0" tIns="0" rIns="0" bIns="0" rtlCol="0" anchor="t"/>
          <a:lstStyle/>
          <a:p>
            <a:pPr algn="ctr" indent="0" marL="0">
              <a:buNone/>
            </a:pPr>
            <a:r>
              <a:rPr lang="en-US" sz="1300" b="1" dirty="0">
                <a:solidFill>
                  <a:schemeClr val="accent3"/>
                </a:solidFill>
              </a:rPr>
              <a:t>3-4. Choose services and a slot</a:t>
            </a:r>
            <a:endParaRPr lang="en-US" sz="1300" dirty="0"/>
          </a:p>
        </p:txBody>
      </p:sp>
      <p:sp>
        <p:nvSpPr>
          <p:cNvPr id="21" name="Text 16"/>
          <p:cNvSpPr txBox="1"/>
          <p:nvPr/>
        </p:nvSpPr>
        <p:spPr>
          <a:xfrm>
            <a:off x="8092440" y="5212080"/>
            <a:ext cx="3520440" cy="274320"/>
          </a:xfrm>
          <a:prstGeom prst="rect">
            <a:avLst/>
          </a:prstGeom>
          <a:noFill/>
          <a:ln/>
        </p:spPr>
        <p:txBody>
          <a:bodyPr wrap="square" lIns="0" tIns="0" rIns="0" bIns="0" rtlCol="0" anchor="t"/>
          <a:lstStyle/>
          <a:p>
            <a:pPr algn="ctr" indent="0" marL="0">
              <a:buNone/>
            </a:pPr>
            <a:r>
              <a:rPr lang="en-US" sz="1300" b="1" dirty="0">
                <a:solidFill>
                  <a:schemeClr val="accent3"/>
                </a:solidFill>
              </a:rPr>
              <a:t>5. Request sent; owner confirms</a:t>
            </a:r>
            <a:endParaRPr lang="en-US" sz="1300" dirty="0"/>
          </a:p>
        </p:txBody>
      </p:sp>
      <p:sp>
        <p:nvSpPr>
          <p:cNvPr id="22" name="Text 17"/>
          <p:cNvSpPr txBox="1"/>
          <p:nvPr/>
        </p:nvSpPr>
        <p:spPr>
          <a:xfrm>
            <a:off x="594360" y="5623560"/>
            <a:ext cx="1463040" cy="365760"/>
          </a:xfrm>
          <a:prstGeom prst="rect">
            <a:avLst/>
          </a:prstGeom>
          <a:noFill/>
          <a:ln/>
        </p:spPr>
        <p:txBody>
          <a:bodyPr wrap="square" lIns="0" tIns="0" rIns="0" bIns="0" rtlCol="0" anchor="ctr"/>
          <a:lstStyle/>
          <a:p>
            <a:pPr indent="0" marL="0">
              <a:buNone/>
            </a:pPr>
            <a:r>
              <a:rPr lang="en-US" sz="1400" b="1" dirty="0">
                <a:solidFill>
                  <a:schemeClr val="tx1"/>
                </a:solidFill>
              </a:rPr>
              <a:t>Booking status:</a:t>
            </a:r>
            <a:endParaRPr lang="en-US" sz="1400" dirty="0"/>
          </a:p>
        </p:txBody>
      </p:sp>
      <p:sp>
        <p:nvSpPr>
          <p:cNvPr id="23" name="Status chip Pending"/>
          <p:cNvSpPr txBox="1"/>
          <p:nvPr/>
        </p:nvSpPr>
        <p:spPr>
          <a:xfrm>
            <a:off x="2103120" y="5669280"/>
            <a:ext cx="1280160" cy="310896"/>
          </a:xfrm>
          <a:prstGeom prst="roundRect">
            <a:avLst>
              <a:gd name="adj" fmla="val 44118"/>
            </a:avLst>
          </a:prstGeom>
          <a:solidFill>
            <a:schemeClr val="accent2"/>
          </a:solidFill>
          <a:ln/>
        </p:spPr>
        <p:txBody>
          <a:bodyPr wrap="square" lIns="0" tIns="0" rIns="0" bIns="0" rtlCol="0" anchor="ctr"/>
          <a:lstStyle/>
          <a:p>
            <a:pPr algn="ctr" indent="0" marL="0">
              <a:buNone/>
            </a:pPr>
            <a:r>
              <a:rPr lang="en-US" sz="1100" b="1" dirty="0">
                <a:solidFill>
                  <a:schemeClr val="bg1"/>
                </a:solidFill>
              </a:rPr>
              <a:t>Pending</a:t>
            </a:r>
            <a:endParaRPr lang="en-US" sz="1100" dirty="0"/>
          </a:p>
        </p:txBody>
      </p:sp>
      <p:sp>
        <p:nvSpPr>
          <p:cNvPr id="24" name="Shape 19"/>
          <p:cNvSpPr/>
          <p:nvPr/>
        </p:nvSpPr>
        <p:spPr>
          <a:xfrm>
            <a:off x="3401568" y="5824728"/>
            <a:ext cx="274320" cy="0"/>
          </a:xfrm>
          <a:prstGeom prst="line">
            <a:avLst/>
          </a:prstGeom>
          <a:noFill/>
          <a:ln w="19050">
            <a:solidFill>
              <a:schemeClr val="tx2"/>
            </a:solidFill>
            <a:prstDash val="solid"/>
            <a:tailEnd type="triangle"/>
          </a:ln>
        </p:spPr>
      </p:sp>
      <p:sp>
        <p:nvSpPr>
          <p:cNvPr id="25" name="Status chip Confirmed"/>
          <p:cNvSpPr txBox="1"/>
          <p:nvPr/>
        </p:nvSpPr>
        <p:spPr>
          <a:xfrm>
            <a:off x="3703320" y="5669280"/>
            <a:ext cx="1280160" cy="310896"/>
          </a:xfrm>
          <a:prstGeom prst="roundRect">
            <a:avLst>
              <a:gd name="adj" fmla="val 44118"/>
            </a:avLst>
          </a:prstGeom>
          <a:solidFill>
            <a:schemeClr val="accent3"/>
          </a:solidFill>
          <a:ln/>
        </p:spPr>
        <p:txBody>
          <a:bodyPr wrap="square" lIns="0" tIns="0" rIns="0" bIns="0" rtlCol="0" anchor="ctr"/>
          <a:lstStyle/>
          <a:p>
            <a:pPr algn="ctr" indent="0" marL="0">
              <a:buNone/>
            </a:pPr>
            <a:r>
              <a:rPr lang="en-US" sz="1100" b="1" dirty="0">
                <a:solidFill>
                  <a:schemeClr val="bg1"/>
                </a:solidFill>
              </a:rPr>
              <a:t>Confirmed</a:t>
            </a:r>
            <a:endParaRPr lang="en-US" sz="1100" dirty="0"/>
          </a:p>
        </p:txBody>
      </p:sp>
      <p:sp>
        <p:nvSpPr>
          <p:cNvPr id="26" name="Shape 21"/>
          <p:cNvSpPr/>
          <p:nvPr/>
        </p:nvSpPr>
        <p:spPr>
          <a:xfrm>
            <a:off x="5001768" y="5824728"/>
            <a:ext cx="274320" cy="0"/>
          </a:xfrm>
          <a:prstGeom prst="line">
            <a:avLst/>
          </a:prstGeom>
          <a:noFill/>
          <a:ln w="19050">
            <a:solidFill>
              <a:schemeClr val="tx2"/>
            </a:solidFill>
            <a:prstDash val="solid"/>
            <a:tailEnd type="triangle"/>
          </a:ln>
        </p:spPr>
      </p:sp>
      <p:sp>
        <p:nvSpPr>
          <p:cNvPr id="27" name="Status chip Completed"/>
          <p:cNvSpPr txBox="1"/>
          <p:nvPr/>
        </p:nvSpPr>
        <p:spPr>
          <a:xfrm>
            <a:off x="5303520" y="5669280"/>
            <a:ext cx="1280160" cy="310896"/>
          </a:xfrm>
          <a:prstGeom prst="roundRect">
            <a:avLst>
              <a:gd name="adj" fmla="val 44118"/>
            </a:avLst>
          </a:prstGeom>
          <a:solidFill>
            <a:schemeClr val="accent4"/>
          </a:solidFill>
          <a:ln/>
        </p:spPr>
        <p:txBody>
          <a:bodyPr wrap="square" lIns="0" tIns="0" rIns="0" bIns="0" rtlCol="0" anchor="ctr"/>
          <a:lstStyle/>
          <a:p>
            <a:pPr algn="ctr" indent="0" marL="0">
              <a:buNone/>
            </a:pPr>
            <a:r>
              <a:rPr lang="en-US" sz="1100" b="1" dirty="0">
                <a:solidFill>
                  <a:schemeClr val="bg1"/>
                </a:solidFill>
              </a:rPr>
              <a:t>Completed</a:t>
            </a:r>
            <a:endParaRPr lang="en-US" sz="1100" dirty="0"/>
          </a:p>
        </p:txBody>
      </p:sp>
      <p:sp>
        <p:nvSpPr>
          <p:cNvPr id="28" name="Shape 23"/>
          <p:cNvSpPr/>
          <p:nvPr/>
        </p:nvSpPr>
        <p:spPr>
          <a:xfrm>
            <a:off x="6601968" y="5824728"/>
            <a:ext cx="274320" cy="0"/>
          </a:xfrm>
          <a:prstGeom prst="line">
            <a:avLst/>
          </a:prstGeom>
          <a:noFill/>
          <a:ln w="19050">
            <a:solidFill>
              <a:schemeClr val="tx2"/>
            </a:solidFill>
            <a:prstDash val="solid"/>
            <a:tailEnd type="triangle"/>
          </a:ln>
        </p:spPr>
      </p:sp>
      <p:sp>
        <p:nvSpPr>
          <p:cNvPr id="29" name="Status chip Cancelled"/>
          <p:cNvSpPr txBox="1"/>
          <p:nvPr/>
        </p:nvSpPr>
        <p:spPr>
          <a:xfrm>
            <a:off x="6903720" y="5669280"/>
            <a:ext cx="1280160" cy="310896"/>
          </a:xfrm>
          <a:prstGeom prst="roundRect">
            <a:avLst>
              <a:gd name="adj" fmla="val 44118"/>
            </a:avLst>
          </a:prstGeom>
          <a:solidFill>
            <a:schemeClr val="accent5"/>
          </a:solidFill>
          <a:ln/>
        </p:spPr>
        <p:txBody>
          <a:bodyPr wrap="square" lIns="0" tIns="0" rIns="0" bIns="0" rtlCol="0" anchor="ctr"/>
          <a:lstStyle/>
          <a:p>
            <a:pPr algn="ctr" indent="0" marL="0">
              <a:buNone/>
            </a:pPr>
            <a:r>
              <a:rPr lang="en-US" sz="1100" b="1" dirty="0">
                <a:solidFill>
                  <a:schemeClr val="bg1"/>
                </a:solidFill>
              </a:rPr>
              <a:t>Cancelled</a:t>
            </a:r>
            <a:endParaRPr lang="en-US" sz="1100" dirty="0"/>
          </a:p>
        </p:txBody>
      </p:sp>
      <p:sp>
        <p:nvSpPr>
          <p:cNvPr id="30" name="Text 25"/>
          <p:cNvSpPr txBox="1"/>
          <p:nvPr/>
        </p:nvSpPr>
        <p:spPr>
          <a:xfrm>
            <a:off x="8595360" y="5623560"/>
            <a:ext cx="3017520" cy="365760"/>
          </a:xfrm>
          <a:prstGeom prst="rect">
            <a:avLst/>
          </a:prstGeom>
          <a:noFill/>
          <a:ln/>
        </p:spPr>
        <p:txBody>
          <a:bodyPr wrap="square" lIns="0" tIns="0" rIns="0" bIns="0" rtlCol="0" anchor="ctr"/>
          <a:lstStyle/>
          <a:p>
            <a:pPr indent="0" marL="0">
              <a:buNone/>
            </a:pPr>
            <a:r>
              <a:rPr lang="en-US" sz="1200" dirty="0">
                <a:solidFill>
                  <a:schemeClr val="tx2"/>
                </a:solidFill>
              </a:rPr>
              <a:t>Owner confirms or declines from the dashboard.</a:t>
            </a:r>
            <a:endParaRPr lang="en-US" sz="12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Salon owner dashboard</a:t>
            </a:r>
            <a:endParaRPr lang="en-US" sz="3400" dirty="0"/>
          </a:p>
        </p:txBody>
      </p:sp>
      <p:sp>
        <p:nvSpPr>
          <p:cNvPr id="3" name="Screenshot frame owner-dashboard2"/>
          <p:cNvSpPr/>
          <p:nvPr/>
        </p:nvSpPr>
        <p:spPr>
          <a:xfrm>
            <a:off x="539496" y="1316736"/>
            <a:ext cx="6144768" cy="3504438"/>
          </a:xfrm>
          <a:prstGeom prst="roundRect">
            <a:avLst>
              <a:gd name="adj" fmla="val 2087"/>
            </a:avLst>
          </a:prstGeom>
          <a:solidFill>
            <a:schemeClr val="bg1"/>
          </a:solidFill>
          <a:ln w="9525">
            <a:solidFill>
              <a:srgbClr val="D9C7A8"/>
            </a:solidFill>
            <a:prstDash val="solid"/>
          </a:ln>
          <a:effectLst>
            <a:outerShdw sx="100000" sy="100000" kx="0" ky="0" algn="bl" rotWithShape="0" blurRad="101600" dist="25400" dir="5400000">
              <a:srgbClr val="000000">
                <a:alpha val="14000"/>
              </a:srgbClr>
            </a:outerShdw>
          </a:effectLst>
        </p:spPr>
      </p:sp>
      <p:pic>
        <p:nvPicPr>
          <p:cNvPr id="4" name="Screenshot owner-dashboard2" descr="Owner dashboard with todays numbers and upcoming appointments">    </p:cNvPr>
          <p:cNvPicPr>
            <a:picLocks noChangeAspect="1"/>
          </p:cNvPicPr>
          <p:nvPr/>
        </p:nvPicPr>
        <p:blipFill>
          <a:blip r:embed="rId1"/>
          <a:stretch>
            <a:fillRect/>
          </a:stretch>
        </p:blipFill>
        <p:spPr>
          <a:xfrm>
            <a:off x="594360" y="1371600"/>
            <a:ext cx="6035040" cy="3394710"/>
          </a:xfrm>
          <a:prstGeom prst="rect">
            <a:avLst/>
          </a:prstGeom>
        </p:spPr>
      </p:pic>
      <p:sp>
        <p:nvSpPr>
          <p:cNvPr id="5" name="Screenshot frame owner-appointments-confirmed"/>
          <p:cNvSpPr/>
          <p:nvPr/>
        </p:nvSpPr>
        <p:spPr>
          <a:xfrm>
            <a:off x="539496" y="4940046"/>
            <a:ext cx="6144768" cy="1408938"/>
          </a:xfrm>
          <a:prstGeom prst="roundRect">
            <a:avLst>
              <a:gd name="adj" fmla="val 5192"/>
            </a:avLst>
          </a:prstGeom>
          <a:solidFill>
            <a:schemeClr val="bg1"/>
          </a:solidFill>
          <a:ln w="9525">
            <a:solidFill>
              <a:srgbClr val="D9C7A8"/>
            </a:solidFill>
            <a:prstDash val="solid"/>
          </a:ln>
          <a:effectLst>
            <a:outerShdw sx="100000" sy="100000" kx="0" ky="0" algn="bl" rotWithShape="0" blurRad="101600" dist="25400" dir="5400000">
              <a:srgbClr val="000000">
                <a:alpha val="14000"/>
              </a:srgbClr>
            </a:outerShdw>
          </a:effectLst>
        </p:spPr>
      </p:sp>
      <p:pic>
        <p:nvPicPr>
          <p:cNvPr id="6" name="Screenshot owner-appointments-confirmed" descr="Appointments page with a confirmed booking">    </p:cNvPr>
          <p:cNvPicPr>
            <a:picLocks noChangeAspect="1"/>
          </p:cNvPicPr>
          <p:nvPr/>
        </p:nvPicPr>
        <p:blipFill>
          <a:blip r:embed="rId2"/>
          <a:stretch>
            <a:fillRect/>
          </a:stretch>
        </p:blipFill>
        <p:spPr>
          <a:xfrm>
            <a:off x="594360" y="4994910"/>
            <a:ext cx="6035040" cy="1299210"/>
          </a:xfrm>
          <a:prstGeom prst="rect">
            <a:avLst/>
          </a:prstGeom>
        </p:spPr>
      </p:pic>
      <p:sp>
        <p:nvSpPr>
          <p:cNvPr id="7" name="Text 3"/>
          <p:cNvSpPr txBox="1"/>
          <p:nvPr/>
        </p:nvSpPr>
        <p:spPr>
          <a:xfrm>
            <a:off x="7086600" y="1371600"/>
            <a:ext cx="4572000" cy="365760"/>
          </a:xfrm>
          <a:prstGeom prst="rect">
            <a:avLst/>
          </a:prstGeom>
          <a:noFill/>
          <a:ln/>
        </p:spPr>
        <p:txBody>
          <a:bodyPr wrap="square" lIns="0" tIns="0" rIns="0" bIns="0" rtlCol="0" anchor="t"/>
          <a:lstStyle/>
          <a:p>
            <a:pPr indent="0" marL="0">
              <a:buNone/>
            </a:pPr>
            <a:r>
              <a:rPr lang="en-US" sz="2000" b="1" dirty="0">
                <a:solidFill>
                  <a:schemeClr val="tx1"/>
                </a:solidFill>
              </a:rPr>
              <a:t>Sidebar modules</a:t>
            </a:r>
            <a:endParaRPr lang="en-US" sz="2000" dirty="0"/>
          </a:p>
        </p:txBody>
      </p:sp>
      <p:sp>
        <p:nvSpPr>
          <p:cNvPr id="8" name="Icon circle FaChartLine"/>
          <p:cNvSpPr/>
          <p:nvPr/>
        </p:nvSpPr>
        <p:spPr>
          <a:xfrm>
            <a:off x="7086600" y="1828800"/>
            <a:ext cx="329184" cy="329184"/>
          </a:xfrm>
          <a:prstGeom prst="ellipse">
            <a:avLst/>
          </a:prstGeom>
          <a:solidFill>
            <a:schemeClr val="accent1"/>
          </a:solidFill>
          <a:ln w="12700">
            <a:solidFill>
              <a:schemeClr val="accent1"/>
            </a:solidFill>
            <a:prstDash val="solid"/>
          </a:ln>
        </p:spPr>
      </p:sp>
      <p:pic>
        <p:nvPicPr>
          <p:cNvPr id="9" name="Image 2" descr="ChartLine icon">    </p:cNvPr>
          <p:cNvPicPr>
            <a:picLocks noChangeAspect="1"/>
          </p:cNvPicPr>
          <p:nvPr/>
        </p:nvPicPr>
        <p:blipFill>
          <a:blip r:embed="rId3"/>
          <a:stretch>
            <a:fillRect/>
          </a:stretch>
        </p:blipFill>
        <p:spPr>
          <a:xfrm>
            <a:off x="7175480" y="1917680"/>
            <a:ext cx="151425" cy="151425"/>
          </a:xfrm>
          <a:prstGeom prst="rect">
            <a:avLst/>
          </a:prstGeom>
        </p:spPr>
      </p:pic>
      <p:sp>
        <p:nvSpPr>
          <p:cNvPr id="10" name="Text 5"/>
          <p:cNvSpPr txBox="1"/>
          <p:nvPr/>
        </p:nvSpPr>
        <p:spPr>
          <a:xfrm>
            <a:off x="7589520" y="1828800"/>
            <a:ext cx="3840480" cy="329184"/>
          </a:xfrm>
          <a:prstGeom prst="rect">
            <a:avLst/>
          </a:prstGeom>
          <a:noFill/>
          <a:ln/>
        </p:spPr>
        <p:txBody>
          <a:bodyPr wrap="square" lIns="0" tIns="0" rIns="0" bIns="0" rtlCol="0" anchor="ctr"/>
          <a:lstStyle/>
          <a:p>
            <a:pPr indent="0" marL="0">
              <a:buNone/>
            </a:pPr>
            <a:r>
              <a:rPr lang="en-US" sz="1500" b="1" dirty="0">
                <a:solidFill>
                  <a:schemeClr val="tx1"/>
                </a:solidFill>
              </a:rPr>
              <a:t>Dashboard</a:t>
            </a:r>
            <a:endParaRPr lang="en-US" sz="1500" dirty="0"/>
          </a:p>
        </p:txBody>
      </p:sp>
      <p:sp>
        <p:nvSpPr>
          <p:cNvPr id="11" name="Icon circle FaCalendarCheck"/>
          <p:cNvSpPr/>
          <p:nvPr/>
        </p:nvSpPr>
        <p:spPr>
          <a:xfrm>
            <a:off x="7086600" y="2231136"/>
            <a:ext cx="329184" cy="329184"/>
          </a:xfrm>
          <a:prstGeom prst="ellipse">
            <a:avLst/>
          </a:prstGeom>
          <a:solidFill>
            <a:schemeClr val="accent1"/>
          </a:solidFill>
          <a:ln w="12700">
            <a:solidFill>
              <a:schemeClr val="accent1"/>
            </a:solidFill>
            <a:prstDash val="solid"/>
          </a:ln>
        </p:spPr>
      </p:sp>
      <p:pic>
        <p:nvPicPr>
          <p:cNvPr id="12" name="Image 3" descr="CalendarCheck icon">    </p:cNvPr>
          <p:cNvPicPr>
            <a:picLocks noChangeAspect="1"/>
          </p:cNvPicPr>
          <p:nvPr/>
        </p:nvPicPr>
        <p:blipFill>
          <a:blip r:embed="rId4"/>
          <a:stretch>
            <a:fillRect/>
          </a:stretch>
        </p:blipFill>
        <p:spPr>
          <a:xfrm>
            <a:off x="7175480" y="2320016"/>
            <a:ext cx="151425" cy="151425"/>
          </a:xfrm>
          <a:prstGeom prst="rect">
            <a:avLst/>
          </a:prstGeom>
        </p:spPr>
      </p:pic>
      <p:sp>
        <p:nvSpPr>
          <p:cNvPr id="13" name="Text 7"/>
          <p:cNvSpPr txBox="1"/>
          <p:nvPr/>
        </p:nvSpPr>
        <p:spPr>
          <a:xfrm>
            <a:off x="7589520" y="2231136"/>
            <a:ext cx="3840480" cy="329184"/>
          </a:xfrm>
          <a:prstGeom prst="rect">
            <a:avLst/>
          </a:prstGeom>
          <a:noFill/>
          <a:ln/>
        </p:spPr>
        <p:txBody>
          <a:bodyPr wrap="square" lIns="0" tIns="0" rIns="0" bIns="0" rtlCol="0" anchor="ctr"/>
          <a:lstStyle/>
          <a:p>
            <a:pPr indent="0" marL="0">
              <a:buNone/>
            </a:pPr>
            <a:r>
              <a:rPr lang="en-US" sz="1500" dirty="0">
                <a:solidFill>
                  <a:schemeClr val="tx1"/>
                </a:solidFill>
              </a:rPr>
              <a:t>Appointments</a:t>
            </a:r>
            <a:endParaRPr lang="en-US" sz="1500" dirty="0"/>
          </a:p>
        </p:txBody>
      </p:sp>
      <p:sp>
        <p:nvSpPr>
          <p:cNvPr id="14" name="Icon circle FaUsers"/>
          <p:cNvSpPr/>
          <p:nvPr/>
        </p:nvSpPr>
        <p:spPr>
          <a:xfrm>
            <a:off x="7086600" y="2633472"/>
            <a:ext cx="329184" cy="329184"/>
          </a:xfrm>
          <a:prstGeom prst="ellipse">
            <a:avLst/>
          </a:prstGeom>
          <a:solidFill>
            <a:schemeClr val="accent1"/>
          </a:solidFill>
          <a:ln w="12700">
            <a:solidFill>
              <a:schemeClr val="accent1"/>
            </a:solidFill>
            <a:prstDash val="solid"/>
          </a:ln>
        </p:spPr>
      </p:sp>
      <p:pic>
        <p:nvPicPr>
          <p:cNvPr id="15" name="Image 4" descr="Users icon">    </p:cNvPr>
          <p:cNvPicPr>
            <a:picLocks noChangeAspect="1"/>
          </p:cNvPicPr>
          <p:nvPr/>
        </p:nvPicPr>
        <p:blipFill>
          <a:blip r:embed="rId5"/>
          <a:stretch>
            <a:fillRect/>
          </a:stretch>
        </p:blipFill>
        <p:spPr>
          <a:xfrm>
            <a:off x="7175480" y="2722352"/>
            <a:ext cx="151425" cy="151425"/>
          </a:xfrm>
          <a:prstGeom prst="rect">
            <a:avLst/>
          </a:prstGeom>
        </p:spPr>
      </p:pic>
      <p:sp>
        <p:nvSpPr>
          <p:cNvPr id="16" name="Text 9"/>
          <p:cNvSpPr txBox="1"/>
          <p:nvPr/>
        </p:nvSpPr>
        <p:spPr>
          <a:xfrm>
            <a:off x="7589520" y="2633472"/>
            <a:ext cx="3840480" cy="329184"/>
          </a:xfrm>
          <a:prstGeom prst="rect">
            <a:avLst/>
          </a:prstGeom>
          <a:noFill/>
          <a:ln/>
        </p:spPr>
        <p:txBody>
          <a:bodyPr wrap="square" lIns="0" tIns="0" rIns="0" bIns="0" rtlCol="0" anchor="ctr"/>
          <a:lstStyle/>
          <a:p>
            <a:pPr indent="0" marL="0">
              <a:buNone/>
            </a:pPr>
            <a:r>
              <a:rPr lang="en-US" sz="1500" dirty="0">
                <a:solidFill>
                  <a:schemeClr val="tx1"/>
                </a:solidFill>
              </a:rPr>
              <a:t>Customers</a:t>
            </a:r>
            <a:endParaRPr lang="en-US" sz="1500" dirty="0"/>
          </a:p>
        </p:txBody>
      </p:sp>
      <p:sp>
        <p:nvSpPr>
          <p:cNvPr id="17" name="Icon circle FaCut"/>
          <p:cNvSpPr/>
          <p:nvPr/>
        </p:nvSpPr>
        <p:spPr>
          <a:xfrm>
            <a:off x="7086600" y="3035808"/>
            <a:ext cx="329184" cy="329184"/>
          </a:xfrm>
          <a:prstGeom prst="ellipse">
            <a:avLst/>
          </a:prstGeom>
          <a:solidFill>
            <a:schemeClr val="accent1"/>
          </a:solidFill>
          <a:ln w="12700">
            <a:solidFill>
              <a:schemeClr val="accent1"/>
            </a:solidFill>
            <a:prstDash val="solid"/>
          </a:ln>
        </p:spPr>
      </p:sp>
      <p:pic>
        <p:nvPicPr>
          <p:cNvPr id="18" name="Image 5" descr="Cut icon">    </p:cNvPr>
          <p:cNvPicPr>
            <a:picLocks noChangeAspect="1"/>
          </p:cNvPicPr>
          <p:nvPr/>
        </p:nvPicPr>
        <p:blipFill>
          <a:blip r:embed="rId6"/>
          <a:stretch>
            <a:fillRect/>
          </a:stretch>
        </p:blipFill>
        <p:spPr>
          <a:xfrm>
            <a:off x="7175480" y="3124688"/>
            <a:ext cx="151425" cy="151425"/>
          </a:xfrm>
          <a:prstGeom prst="rect">
            <a:avLst/>
          </a:prstGeom>
        </p:spPr>
      </p:pic>
      <p:sp>
        <p:nvSpPr>
          <p:cNvPr id="19" name="Text 11"/>
          <p:cNvSpPr txBox="1"/>
          <p:nvPr/>
        </p:nvSpPr>
        <p:spPr>
          <a:xfrm>
            <a:off x="7589520" y="3035808"/>
            <a:ext cx="3840480" cy="329184"/>
          </a:xfrm>
          <a:prstGeom prst="rect">
            <a:avLst/>
          </a:prstGeom>
          <a:noFill/>
          <a:ln/>
        </p:spPr>
        <p:txBody>
          <a:bodyPr wrap="square" lIns="0" tIns="0" rIns="0" bIns="0" rtlCol="0" anchor="ctr"/>
          <a:lstStyle/>
          <a:p>
            <a:pPr indent="0" marL="0">
              <a:buNone/>
            </a:pPr>
            <a:r>
              <a:rPr lang="en-US" sz="1500" dirty="0">
                <a:solidFill>
                  <a:schemeClr val="tx1"/>
                </a:solidFill>
              </a:rPr>
              <a:t>Services</a:t>
            </a:r>
            <a:endParaRPr lang="en-US" sz="1500" dirty="0"/>
          </a:p>
        </p:txBody>
      </p:sp>
      <p:sp>
        <p:nvSpPr>
          <p:cNvPr id="20" name="Icon circle FaUserTie"/>
          <p:cNvSpPr/>
          <p:nvPr/>
        </p:nvSpPr>
        <p:spPr>
          <a:xfrm>
            <a:off x="7086600" y="3438144"/>
            <a:ext cx="329184" cy="329184"/>
          </a:xfrm>
          <a:prstGeom prst="ellipse">
            <a:avLst/>
          </a:prstGeom>
          <a:solidFill>
            <a:schemeClr val="accent1"/>
          </a:solidFill>
          <a:ln w="12700">
            <a:solidFill>
              <a:schemeClr val="accent1"/>
            </a:solidFill>
            <a:prstDash val="solid"/>
          </a:ln>
        </p:spPr>
      </p:sp>
      <p:pic>
        <p:nvPicPr>
          <p:cNvPr id="21" name="Image 6" descr="UserTie icon">    </p:cNvPr>
          <p:cNvPicPr>
            <a:picLocks noChangeAspect="1"/>
          </p:cNvPicPr>
          <p:nvPr/>
        </p:nvPicPr>
        <p:blipFill>
          <a:blip r:embed="rId7"/>
          <a:stretch>
            <a:fillRect/>
          </a:stretch>
        </p:blipFill>
        <p:spPr>
          <a:xfrm>
            <a:off x="7175480" y="3527024"/>
            <a:ext cx="151425" cy="151425"/>
          </a:xfrm>
          <a:prstGeom prst="rect">
            <a:avLst/>
          </a:prstGeom>
        </p:spPr>
      </p:pic>
      <p:sp>
        <p:nvSpPr>
          <p:cNvPr id="22" name="Text 13"/>
          <p:cNvSpPr txBox="1"/>
          <p:nvPr/>
        </p:nvSpPr>
        <p:spPr>
          <a:xfrm>
            <a:off x="7589520" y="3438144"/>
            <a:ext cx="3840480" cy="329184"/>
          </a:xfrm>
          <a:prstGeom prst="rect">
            <a:avLst/>
          </a:prstGeom>
          <a:noFill/>
          <a:ln/>
        </p:spPr>
        <p:txBody>
          <a:bodyPr wrap="square" lIns="0" tIns="0" rIns="0" bIns="0" rtlCol="0" anchor="ctr"/>
          <a:lstStyle/>
          <a:p>
            <a:pPr indent="0" marL="0">
              <a:buNone/>
            </a:pPr>
            <a:r>
              <a:rPr lang="en-US" sz="1500" dirty="0">
                <a:solidFill>
                  <a:schemeClr val="tx1"/>
                </a:solidFill>
              </a:rPr>
              <a:t>Staff</a:t>
            </a:r>
            <a:endParaRPr lang="en-US" sz="1500" dirty="0"/>
          </a:p>
        </p:txBody>
      </p:sp>
      <p:sp>
        <p:nvSpPr>
          <p:cNvPr id="23" name="Icon circle FaGift"/>
          <p:cNvSpPr/>
          <p:nvPr/>
        </p:nvSpPr>
        <p:spPr>
          <a:xfrm>
            <a:off x="7086600" y="3840480"/>
            <a:ext cx="329184" cy="329184"/>
          </a:xfrm>
          <a:prstGeom prst="ellipse">
            <a:avLst/>
          </a:prstGeom>
          <a:solidFill>
            <a:schemeClr val="accent1"/>
          </a:solidFill>
          <a:ln w="12700">
            <a:solidFill>
              <a:schemeClr val="accent1"/>
            </a:solidFill>
            <a:prstDash val="solid"/>
          </a:ln>
        </p:spPr>
      </p:sp>
      <p:pic>
        <p:nvPicPr>
          <p:cNvPr id="24" name="Image 7" descr="Gift icon">    </p:cNvPr>
          <p:cNvPicPr>
            <a:picLocks noChangeAspect="1"/>
          </p:cNvPicPr>
          <p:nvPr/>
        </p:nvPicPr>
        <p:blipFill>
          <a:blip r:embed="rId8"/>
          <a:stretch>
            <a:fillRect/>
          </a:stretch>
        </p:blipFill>
        <p:spPr>
          <a:xfrm>
            <a:off x="7175480" y="3929360"/>
            <a:ext cx="151425" cy="151425"/>
          </a:xfrm>
          <a:prstGeom prst="rect">
            <a:avLst/>
          </a:prstGeom>
        </p:spPr>
      </p:pic>
      <p:sp>
        <p:nvSpPr>
          <p:cNvPr id="25" name="Text 15"/>
          <p:cNvSpPr txBox="1"/>
          <p:nvPr/>
        </p:nvSpPr>
        <p:spPr>
          <a:xfrm>
            <a:off x="7589520" y="3840480"/>
            <a:ext cx="3840480" cy="329184"/>
          </a:xfrm>
          <a:prstGeom prst="rect">
            <a:avLst/>
          </a:prstGeom>
          <a:noFill/>
          <a:ln/>
        </p:spPr>
        <p:txBody>
          <a:bodyPr wrap="square" lIns="0" tIns="0" rIns="0" bIns="0" rtlCol="0" anchor="ctr"/>
          <a:lstStyle/>
          <a:p>
            <a:pPr indent="0" marL="0">
              <a:buNone/>
            </a:pPr>
            <a:r>
              <a:rPr lang="en-US" sz="1500" dirty="0">
                <a:solidFill>
                  <a:schemeClr val="tx1"/>
                </a:solidFill>
              </a:rPr>
              <a:t>Packages &amp; Memberships</a:t>
            </a:r>
            <a:endParaRPr lang="en-US" sz="1500" dirty="0"/>
          </a:p>
        </p:txBody>
      </p:sp>
      <p:sp>
        <p:nvSpPr>
          <p:cNvPr id="26" name="Icon circle FaFileInvoiceDollar"/>
          <p:cNvSpPr/>
          <p:nvPr/>
        </p:nvSpPr>
        <p:spPr>
          <a:xfrm>
            <a:off x="7086600" y="4242816"/>
            <a:ext cx="329184" cy="329184"/>
          </a:xfrm>
          <a:prstGeom prst="ellipse">
            <a:avLst/>
          </a:prstGeom>
          <a:solidFill>
            <a:schemeClr val="accent1"/>
          </a:solidFill>
          <a:ln w="12700">
            <a:solidFill>
              <a:schemeClr val="accent1"/>
            </a:solidFill>
            <a:prstDash val="solid"/>
          </a:ln>
        </p:spPr>
      </p:sp>
      <p:pic>
        <p:nvPicPr>
          <p:cNvPr id="27" name="Image 8" descr="FileInvoiceDollar icon">    </p:cNvPr>
          <p:cNvPicPr>
            <a:picLocks noChangeAspect="1"/>
          </p:cNvPicPr>
          <p:nvPr/>
        </p:nvPicPr>
        <p:blipFill>
          <a:blip r:embed="rId9"/>
          <a:stretch>
            <a:fillRect/>
          </a:stretch>
        </p:blipFill>
        <p:spPr>
          <a:xfrm>
            <a:off x="7175480" y="4331696"/>
            <a:ext cx="151425" cy="151425"/>
          </a:xfrm>
          <a:prstGeom prst="rect">
            <a:avLst/>
          </a:prstGeom>
        </p:spPr>
      </p:pic>
      <p:sp>
        <p:nvSpPr>
          <p:cNvPr id="28" name="Text 17"/>
          <p:cNvSpPr txBox="1"/>
          <p:nvPr/>
        </p:nvSpPr>
        <p:spPr>
          <a:xfrm>
            <a:off x="7589520" y="4242816"/>
            <a:ext cx="3840480" cy="329184"/>
          </a:xfrm>
          <a:prstGeom prst="rect">
            <a:avLst/>
          </a:prstGeom>
          <a:noFill/>
          <a:ln/>
        </p:spPr>
        <p:txBody>
          <a:bodyPr wrap="square" lIns="0" tIns="0" rIns="0" bIns="0" rtlCol="0" anchor="ctr"/>
          <a:lstStyle/>
          <a:p>
            <a:pPr indent="0" marL="0">
              <a:buNone/>
            </a:pPr>
            <a:r>
              <a:rPr lang="en-US" sz="1500" dirty="0">
                <a:solidFill>
                  <a:schemeClr val="tx1"/>
                </a:solidFill>
              </a:rPr>
              <a:t>Billing</a:t>
            </a:r>
            <a:endParaRPr lang="en-US" sz="1500" dirty="0"/>
          </a:p>
        </p:txBody>
      </p:sp>
      <p:sp>
        <p:nvSpPr>
          <p:cNvPr id="29" name="Icon circle FaTags"/>
          <p:cNvSpPr/>
          <p:nvPr/>
        </p:nvSpPr>
        <p:spPr>
          <a:xfrm>
            <a:off x="7086600" y="4645152"/>
            <a:ext cx="329184" cy="329184"/>
          </a:xfrm>
          <a:prstGeom prst="ellipse">
            <a:avLst/>
          </a:prstGeom>
          <a:solidFill>
            <a:schemeClr val="accent1"/>
          </a:solidFill>
          <a:ln w="12700">
            <a:solidFill>
              <a:schemeClr val="accent1"/>
            </a:solidFill>
            <a:prstDash val="solid"/>
          </a:ln>
        </p:spPr>
      </p:sp>
      <p:pic>
        <p:nvPicPr>
          <p:cNvPr id="30" name="Image 9" descr="Tags icon">    </p:cNvPr>
          <p:cNvPicPr>
            <a:picLocks noChangeAspect="1"/>
          </p:cNvPicPr>
          <p:nvPr/>
        </p:nvPicPr>
        <p:blipFill>
          <a:blip r:embed="rId10"/>
          <a:stretch>
            <a:fillRect/>
          </a:stretch>
        </p:blipFill>
        <p:spPr>
          <a:xfrm>
            <a:off x="7175480" y="4734032"/>
            <a:ext cx="151425" cy="151425"/>
          </a:xfrm>
          <a:prstGeom prst="rect">
            <a:avLst/>
          </a:prstGeom>
        </p:spPr>
      </p:pic>
      <p:sp>
        <p:nvSpPr>
          <p:cNvPr id="31" name="Text 19"/>
          <p:cNvSpPr txBox="1"/>
          <p:nvPr/>
        </p:nvSpPr>
        <p:spPr>
          <a:xfrm>
            <a:off x="7589520" y="4645152"/>
            <a:ext cx="3840480" cy="329184"/>
          </a:xfrm>
          <a:prstGeom prst="rect">
            <a:avLst/>
          </a:prstGeom>
          <a:noFill/>
          <a:ln/>
        </p:spPr>
        <p:txBody>
          <a:bodyPr wrap="square" lIns="0" tIns="0" rIns="0" bIns="0" rtlCol="0" anchor="ctr"/>
          <a:lstStyle/>
          <a:p>
            <a:pPr indent="0" marL="0">
              <a:buNone/>
            </a:pPr>
            <a:r>
              <a:rPr lang="en-US" sz="1500" dirty="0">
                <a:solidFill>
                  <a:schemeClr val="tx1"/>
                </a:solidFill>
              </a:rPr>
              <a:t>Offers</a:t>
            </a:r>
            <a:endParaRPr lang="en-US" sz="1500" dirty="0"/>
          </a:p>
        </p:txBody>
      </p:sp>
      <p:sp>
        <p:nvSpPr>
          <p:cNvPr id="32" name="Icon circle FaCog"/>
          <p:cNvSpPr/>
          <p:nvPr/>
        </p:nvSpPr>
        <p:spPr>
          <a:xfrm>
            <a:off x="7086600" y="5047488"/>
            <a:ext cx="329184" cy="329184"/>
          </a:xfrm>
          <a:prstGeom prst="ellipse">
            <a:avLst/>
          </a:prstGeom>
          <a:solidFill>
            <a:schemeClr val="accent1"/>
          </a:solidFill>
          <a:ln w="12700">
            <a:solidFill>
              <a:schemeClr val="accent1"/>
            </a:solidFill>
            <a:prstDash val="solid"/>
          </a:ln>
        </p:spPr>
      </p:sp>
      <p:pic>
        <p:nvPicPr>
          <p:cNvPr id="33" name="Image 10" descr="Cog icon">    </p:cNvPr>
          <p:cNvPicPr>
            <a:picLocks noChangeAspect="1"/>
          </p:cNvPicPr>
          <p:nvPr/>
        </p:nvPicPr>
        <p:blipFill>
          <a:blip r:embed="rId11"/>
          <a:stretch>
            <a:fillRect/>
          </a:stretch>
        </p:blipFill>
        <p:spPr>
          <a:xfrm>
            <a:off x="7175480" y="5136368"/>
            <a:ext cx="151425" cy="151425"/>
          </a:xfrm>
          <a:prstGeom prst="rect">
            <a:avLst/>
          </a:prstGeom>
        </p:spPr>
      </p:pic>
      <p:sp>
        <p:nvSpPr>
          <p:cNvPr id="34" name="Text 21"/>
          <p:cNvSpPr txBox="1"/>
          <p:nvPr/>
        </p:nvSpPr>
        <p:spPr>
          <a:xfrm>
            <a:off x="7589520" y="5047488"/>
            <a:ext cx="3840480" cy="329184"/>
          </a:xfrm>
          <a:prstGeom prst="rect">
            <a:avLst/>
          </a:prstGeom>
          <a:noFill/>
          <a:ln/>
        </p:spPr>
        <p:txBody>
          <a:bodyPr wrap="square" lIns="0" tIns="0" rIns="0" bIns="0" rtlCol="0" anchor="ctr"/>
          <a:lstStyle/>
          <a:p>
            <a:pPr indent="0" marL="0">
              <a:buNone/>
            </a:pPr>
            <a:r>
              <a:rPr lang="en-US" sz="1500" dirty="0">
                <a:solidFill>
                  <a:schemeClr val="tx1"/>
                </a:solidFill>
              </a:rPr>
              <a:t>Settings</a:t>
            </a:r>
            <a:endParaRPr lang="en-US" sz="1500" dirty="0"/>
          </a:p>
        </p:txBody>
      </p:sp>
      <p:sp>
        <p:nvSpPr>
          <p:cNvPr id="35" name="Roles card"/>
          <p:cNvSpPr/>
          <p:nvPr/>
        </p:nvSpPr>
        <p:spPr>
          <a:xfrm>
            <a:off x="7086600" y="5486400"/>
            <a:ext cx="4526280" cy="777240"/>
          </a:xfrm>
          <a:prstGeom prst="roundRect">
            <a:avLst>
              <a:gd name="adj" fmla="val 14118"/>
            </a:avLst>
          </a:prstGeom>
          <a:solidFill>
            <a:schemeClr val="tx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36" name="Text 23"/>
          <p:cNvSpPr txBox="1"/>
          <p:nvPr/>
        </p:nvSpPr>
        <p:spPr>
          <a:xfrm>
            <a:off x="7269480" y="5504688"/>
            <a:ext cx="4206240" cy="731520"/>
          </a:xfrm>
          <a:prstGeom prst="rect">
            <a:avLst/>
          </a:prstGeom>
          <a:noFill/>
          <a:ln/>
        </p:spPr>
        <p:txBody>
          <a:bodyPr wrap="square" lIns="0" tIns="0" rIns="0" bIns="0" rtlCol="0" anchor="ctr"/>
          <a:lstStyle/>
          <a:p>
            <a:pPr indent="0" marL="0">
              <a:buNone/>
            </a:pPr>
            <a:r>
              <a:rPr lang="en-US" sz="1300" b="1" dirty="0">
                <a:solidFill>
                  <a:schemeClr val="accent1"/>
                </a:solidFill>
              </a:rPr>
              <a:t>Roles: Owner, Manager, Receptionist, Staff</a:t>
            </a:r>
            <a:endParaRPr lang="en-US" sz="1300" dirty="0"/>
          </a:p>
          <a:p>
            <a:pPr indent="0" marL="0">
              <a:buNone/>
            </a:pPr>
            <a:r>
              <a:rPr lang="en-US" sz="1300" dirty="0">
                <a:solidFill>
                  <a:schemeClr val="accent6"/>
                </a:solidFill>
              </a:rPr>
              <a:t>Each role sees only the pages it is allowed to use.</a:t>
            </a:r>
            <a:endParaRPr lang="en-US" sz="13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Platform admin (Super Admin)</a:t>
            </a:r>
            <a:endParaRPr lang="en-US" sz="3400" dirty="0"/>
          </a:p>
        </p:txBody>
      </p:sp>
      <p:sp>
        <p:nvSpPr>
          <p:cNvPr id="3" name="Salon owner card"/>
          <p:cNvSpPr/>
          <p:nvPr/>
        </p:nvSpPr>
        <p:spPr>
          <a:xfrm>
            <a:off x="548640" y="1371600"/>
            <a:ext cx="5120640" cy="1600200"/>
          </a:xfrm>
          <a:prstGeom prst="roundRect">
            <a:avLst>
              <a:gd name="adj" fmla="val 6857"/>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4" name="Icon circle FaStore"/>
          <p:cNvSpPr/>
          <p:nvPr/>
        </p:nvSpPr>
        <p:spPr>
          <a:xfrm>
            <a:off x="777240" y="1600200"/>
            <a:ext cx="548640" cy="548640"/>
          </a:xfrm>
          <a:prstGeom prst="ellipse">
            <a:avLst/>
          </a:prstGeom>
          <a:solidFill>
            <a:schemeClr val="accent1"/>
          </a:solidFill>
          <a:ln w="12700">
            <a:solidFill>
              <a:schemeClr val="accent1"/>
            </a:solidFill>
            <a:prstDash val="solid"/>
          </a:ln>
        </p:spPr>
      </p:sp>
      <p:pic>
        <p:nvPicPr>
          <p:cNvPr id="5" name="Image 0" descr="Store icon">    </p:cNvPr>
          <p:cNvPicPr>
            <a:picLocks noChangeAspect="1"/>
          </p:cNvPicPr>
          <p:nvPr/>
        </p:nvPicPr>
        <p:blipFill>
          <a:blip r:embed="rId1"/>
          <a:stretch>
            <a:fillRect/>
          </a:stretch>
        </p:blipFill>
        <p:spPr>
          <a:xfrm>
            <a:off x="925373" y="1748333"/>
            <a:ext cx="252374" cy="252374"/>
          </a:xfrm>
          <a:prstGeom prst="rect">
            <a:avLst/>
          </a:prstGeom>
        </p:spPr>
      </p:pic>
      <p:sp>
        <p:nvSpPr>
          <p:cNvPr id="6" name="Text 3"/>
          <p:cNvSpPr txBox="1"/>
          <p:nvPr/>
        </p:nvSpPr>
        <p:spPr>
          <a:xfrm>
            <a:off x="1508760" y="1554480"/>
            <a:ext cx="3931920" cy="320040"/>
          </a:xfrm>
          <a:prstGeom prst="rect">
            <a:avLst/>
          </a:prstGeom>
          <a:noFill/>
          <a:ln/>
        </p:spPr>
        <p:txBody>
          <a:bodyPr wrap="square" lIns="0" tIns="0" rIns="0" bIns="0" rtlCol="0" anchor="t"/>
          <a:lstStyle/>
          <a:p>
            <a:pPr indent="0" marL="0">
              <a:buNone/>
            </a:pPr>
            <a:r>
              <a:rPr lang="en-US" sz="1800" b="1" dirty="0">
                <a:solidFill>
                  <a:schemeClr val="tx1"/>
                </a:solidFill>
              </a:rPr>
              <a:t>Salon owner</a:t>
            </a:r>
            <a:endParaRPr lang="en-US" sz="1800" dirty="0"/>
          </a:p>
        </p:txBody>
      </p:sp>
      <p:sp>
        <p:nvSpPr>
          <p:cNvPr id="7" name="Text 4"/>
          <p:cNvSpPr txBox="1"/>
          <p:nvPr/>
        </p:nvSpPr>
        <p:spPr>
          <a:xfrm>
            <a:off x="1508760" y="1965960"/>
            <a:ext cx="3977640" cy="822960"/>
          </a:xfrm>
          <a:prstGeom prst="rect">
            <a:avLst/>
          </a:prstGeom>
          <a:noFill/>
          <a:ln/>
        </p:spPr>
        <p:txBody>
          <a:bodyPr wrap="square" lIns="0" tIns="0" rIns="0" bIns="0" rtlCol="0" anchor="t"/>
          <a:lstStyle/>
          <a:p>
            <a:pPr indent="0" marL="0">
              <a:buNone/>
            </a:pPr>
            <a:r>
              <a:rPr lang="en-US" sz="1400" dirty="0">
                <a:solidFill>
                  <a:schemeClr val="tx2"/>
                </a:solidFill>
              </a:rPr>
              <a:t>Works inside ONE salon: bookings, customers, billing, staff, offers.</a:t>
            </a:r>
            <a:endParaRPr lang="en-US" sz="1400" dirty="0"/>
          </a:p>
        </p:txBody>
      </p:sp>
      <p:sp>
        <p:nvSpPr>
          <p:cNvPr id="8" name="Super admin card"/>
          <p:cNvSpPr/>
          <p:nvPr/>
        </p:nvSpPr>
        <p:spPr>
          <a:xfrm>
            <a:off x="548640" y="3154680"/>
            <a:ext cx="5120640" cy="3017520"/>
          </a:xfrm>
          <a:prstGeom prst="roundRect">
            <a:avLst>
              <a:gd name="adj" fmla="val 3636"/>
            </a:avLst>
          </a:prstGeom>
          <a:solidFill>
            <a:schemeClr val="tx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9" name="Icon circle FaUserShield"/>
          <p:cNvSpPr/>
          <p:nvPr/>
        </p:nvSpPr>
        <p:spPr>
          <a:xfrm>
            <a:off x="777240" y="3383280"/>
            <a:ext cx="548640" cy="548640"/>
          </a:xfrm>
          <a:prstGeom prst="ellipse">
            <a:avLst/>
          </a:prstGeom>
          <a:solidFill>
            <a:schemeClr val="accent1"/>
          </a:solidFill>
          <a:ln w="12700">
            <a:solidFill>
              <a:schemeClr val="accent1"/>
            </a:solidFill>
            <a:prstDash val="solid"/>
          </a:ln>
        </p:spPr>
      </p:sp>
      <p:pic>
        <p:nvPicPr>
          <p:cNvPr id="10" name="Image 1" descr="UserShield icon">    </p:cNvPr>
          <p:cNvPicPr>
            <a:picLocks noChangeAspect="1"/>
          </p:cNvPicPr>
          <p:nvPr/>
        </p:nvPicPr>
        <p:blipFill>
          <a:blip r:embed="rId2"/>
          <a:stretch>
            <a:fillRect/>
          </a:stretch>
        </p:blipFill>
        <p:spPr>
          <a:xfrm>
            <a:off x="925373" y="3531413"/>
            <a:ext cx="252374" cy="252374"/>
          </a:xfrm>
          <a:prstGeom prst="rect">
            <a:avLst/>
          </a:prstGeom>
        </p:spPr>
      </p:pic>
      <p:sp>
        <p:nvSpPr>
          <p:cNvPr id="11" name="Text 7"/>
          <p:cNvSpPr txBox="1"/>
          <p:nvPr/>
        </p:nvSpPr>
        <p:spPr>
          <a:xfrm>
            <a:off x="1508760" y="3474720"/>
            <a:ext cx="3931920" cy="365760"/>
          </a:xfrm>
          <a:prstGeom prst="rect">
            <a:avLst/>
          </a:prstGeom>
          <a:noFill/>
          <a:ln/>
        </p:spPr>
        <p:txBody>
          <a:bodyPr wrap="square" lIns="0" tIns="0" rIns="0" bIns="0" rtlCol="0" anchor="t"/>
          <a:lstStyle/>
          <a:p>
            <a:pPr indent="0" marL="0">
              <a:buNone/>
            </a:pPr>
            <a:r>
              <a:rPr lang="en-US" sz="1800" b="1" dirty="0">
                <a:solidFill>
                  <a:schemeClr val="accent1"/>
                </a:solidFill>
              </a:rPr>
              <a:t>Super Admin</a:t>
            </a:r>
            <a:endParaRPr lang="en-US" sz="1800" dirty="0"/>
          </a:p>
        </p:txBody>
      </p:sp>
      <p:sp>
        <p:nvSpPr>
          <p:cNvPr id="12" name="Text 8"/>
          <p:cNvSpPr txBox="1"/>
          <p:nvPr/>
        </p:nvSpPr>
        <p:spPr>
          <a:xfrm>
            <a:off x="868680" y="4114800"/>
            <a:ext cx="4572000" cy="192024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bg1"/>
                </a:solidFill>
              </a:rPr>
              <a:t>Sees ALL salons and platform numbers</a:t>
            </a:r>
            <a:endParaRPr lang="en-US" sz="1400" dirty="0"/>
          </a:p>
          <a:p>
            <a:pPr marL="203200" indent="-203200">
              <a:spcAft>
                <a:spcPts val="800"/>
              </a:spcAft>
              <a:buSzPct val="100000"/>
              <a:buChar char="•"/>
            </a:pPr>
            <a:r>
              <a:rPr lang="en-US" sz="1400" dirty="0">
                <a:solidFill>
                  <a:schemeClr val="bg1"/>
                </a:solidFill>
              </a:rPr>
              <a:t>Approves or rejects new owner requests</a:t>
            </a:r>
            <a:endParaRPr lang="en-US" sz="1400" dirty="0"/>
          </a:p>
          <a:p>
            <a:pPr marL="203200" indent="-203200">
              <a:spcAft>
                <a:spcPts val="800"/>
              </a:spcAft>
              <a:buSzPct val="100000"/>
              <a:buChar char="•"/>
            </a:pPr>
            <a:r>
              <a:rPr lang="en-US" sz="1400" dirty="0">
                <a:solidFill>
                  <a:schemeClr val="bg1"/>
                </a:solidFill>
              </a:rPr>
              <a:t>Creates salons; sets them active or suspended</a:t>
            </a:r>
            <a:endParaRPr lang="en-US" sz="1400" dirty="0"/>
          </a:p>
          <a:p>
            <a:pPr marL="203200" indent="-203200">
              <a:spcAft>
                <a:spcPts val="800"/>
              </a:spcAft>
              <a:buSzPct val="100000"/>
              <a:buChar char="•"/>
            </a:pPr>
            <a:r>
              <a:rPr lang="en-US" sz="1400" dirty="0">
                <a:solidFill>
                  <a:schemeClr val="bg1"/>
                </a:solidFill>
              </a:rPr>
              <a:t>Reads contact inquiries and platform audit history</a:t>
            </a:r>
            <a:endParaRPr lang="en-US" sz="1400" dirty="0"/>
          </a:p>
        </p:txBody>
      </p:sp>
      <p:sp>
        <p:nvSpPr>
          <p:cNvPr id="13" name="Screenshot frame admin-overview"/>
          <p:cNvSpPr/>
          <p:nvPr/>
        </p:nvSpPr>
        <p:spPr>
          <a:xfrm>
            <a:off x="6025896" y="1316736"/>
            <a:ext cx="5641848" cy="3221546"/>
          </a:xfrm>
          <a:prstGeom prst="roundRect">
            <a:avLst>
              <a:gd name="adj" fmla="val 2271"/>
            </a:avLst>
          </a:prstGeom>
          <a:solidFill>
            <a:schemeClr val="bg1"/>
          </a:solidFill>
          <a:ln w="9525">
            <a:solidFill>
              <a:srgbClr val="D9C7A8"/>
            </a:solidFill>
            <a:prstDash val="solid"/>
          </a:ln>
          <a:effectLst>
            <a:outerShdw sx="100000" sy="100000" kx="0" ky="0" algn="bl" rotWithShape="0" blurRad="101600" dist="25400" dir="5400000">
              <a:srgbClr val="000000">
                <a:alpha val="14000"/>
              </a:srgbClr>
            </a:outerShdw>
          </a:effectLst>
        </p:spPr>
      </p:sp>
      <p:pic>
        <p:nvPicPr>
          <p:cNvPr id="14" name="Screenshot admin-overview" descr="Platform overview page for the Super Admin">    </p:cNvPr>
          <p:cNvPicPr>
            <a:picLocks noChangeAspect="1"/>
          </p:cNvPicPr>
          <p:nvPr/>
        </p:nvPicPr>
        <p:blipFill>
          <a:blip r:embed="rId3"/>
          <a:stretch>
            <a:fillRect/>
          </a:stretch>
        </p:blipFill>
        <p:spPr>
          <a:xfrm>
            <a:off x="6080760" y="1371600"/>
            <a:ext cx="5532120" cy="3111818"/>
          </a:xfrm>
          <a:prstGeom prst="rect">
            <a:avLst/>
          </a:prstGeom>
        </p:spPr>
      </p:pic>
      <p:sp>
        <p:nvSpPr>
          <p:cNvPr id="15" name="Text 10"/>
          <p:cNvSpPr txBox="1"/>
          <p:nvPr/>
        </p:nvSpPr>
        <p:spPr>
          <a:xfrm>
            <a:off x="6080760" y="4712018"/>
            <a:ext cx="5486400" cy="320040"/>
          </a:xfrm>
          <a:prstGeom prst="rect">
            <a:avLst/>
          </a:prstGeom>
          <a:noFill/>
          <a:ln/>
        </p:spPr>
        <p:txBody>
          <a:bodyPr wrap="square" lIns="0" tIns="0" rIns="0" bIns="0" rtlCol="0" anchor="t"/>
          <a:lstStyle/>
          <a:p>
            <a:pPr indent="0" marL="0">
              <a:buNone/>
            </a:pPr>
            <a:r>
              <a:rPr lang="en-US" sz="1500" b="1" dirty="0">
                <a:solidFill>
                  <a:schemeClr val="tx1"/>
                </a:solidFill>
              </a:rPr>
              <a:t>Owner sign-up flow</a:t>
            </a:r>
            <a:endParaRPr lang="en-US" sz="1500" dirty="0"/>
          </a:p>
        </p:txBody>
      </p:sp>
      <p:sp>
        <p:nvSpPr>
          <p:cNvPr id="16" name="Sign-up step 1"/>
          <p:cNvSpPr txBox="1"/>
          <p:nvPr/>
        </p:nvSpPr>
        <p:spPr>
          <a:xfrm>
            <a:off x="6080760" y="5123498"/>
            <a:ext cx="1280160" cy="777240"/>
          </a:xfrm>
          <a:prstGeom prst="roundRect">
            <a:avLst>
              <a:gd name="adj" fmla="val 11765"/>
            </a:avLst>
          </a:prstGeom>
          <a:solidFill>
            <a:schemeClr val="bg1"/>
          </a:solidFill>
          <a:ln w="9525">
            <a:solidFill>
              <a:srgbClr val="D9C7A8"/>
            </a:solidFill>
          </a:ln>
        </p:spPr>
        <p:txBody>
          <a:bodyPr wrap="square" lIns="635" tIns="635" rIns="635" bIns="635" rtlCol="0" anchor="ctr"/>
          <a:lstStyle/>
          <a:p>
            <a:pPr algn="ctr" indent="0" marL="0">
              <a:buNone/>
            </a:pPr>
            <a:r>
              <a:rPr lang="en-US" sz="1200" b="1" dirty="0">
                <a:solidFill>
                  <a:schemeClr val="tx1"/>
                </a:solidFill>
              </a:rPr>
              <a:t>Owner registers</a:t>
            </a:r>
            <a:endParaRPr lang="en-US" sz="1200" dirty="0"/>
          </a:p>
        </p:txBody>
      </p:sp>
      <p:sp>
        <p:nvSpPr>
          <p:cNvPr id="17" name="Shape 12"/>
          <p:cNvSpPr/>
          <p:nvPr/>
        </p:nvSpPr>
        <p:spPr>
          <a:xfrm>
            <a:off x="7360920" y="5507546"/>
            <a:ext cx="137160" cy="0"/>
          </a:xfrm>
          <a:prstGeom prst="line">
            <a:avLst/>
          </a:prstGeom>
          <a:noFill/>
          <a:ln w="19050">
            <a:solidFill>
              <a:schemeClr val="tx2"/>
            </a:solidFill>
            <a:prstDash val="solid"/>
            <a:tailEnd type="triangle"/>
          </a:ln>
        </p:spPr>
      </p:sp>
      <p:sp>
        <p:nvSpPr>
          <p:cNvPr id="18" name="Sign-up step 2"/>
          <p:cNvSpPr txBox="1"/>
          <p:nvPr/>
        </p:nvSpPr>
        <p:spPr>
          <a:xfrm>
            <a:off x="7498080" y="5123498"/>
            <a:ext cx="1280160" cy="777240"/>
          </a:xfrm>
          <a:prstGeom prst="roundRect">
            <a:avLst>
              <a:gd name="adj" fmla="val 11765"/>
            </a:avLst>
          </a:prstGeom>
          <a:solidFill>
            <a:schemeClr val="accent1"/>
          </a:solidFill>
          <a:ln w="9525">
            <a:solidFill>
              <a:srgbClr val="D9C7A8"/>
            </a:solidFill>
          </a:ln>
        </p:spPr>
        <p:txBody>
          <a:bodyPr wrap="square" lIns="635" tIns="635" rIns="635" bIns="635" rtlCol="0" anchor="ctr"/>
          <a:lstStyle/>
          <a:p>
            <a:pPr algn="ctr" indent="0" marL="0">
              <a:buNone/>
            </a:pPr>
            <a:r>
              <a:rPr lang="en-US" sz="1200" b="1" dirty="0">
                <a:solidFill>
                  <a:schemeClr val="tx1"/>
                </a:solidFill>
              </a:rPr>
              <a:t>Super Admin approves</a:t>
            </a:r>
            <a:endParaRPr lang="en-US" sz="1200" dirty="0"/>
          </a:p>
        </p:txBody>
      </p:sp>
      <p:sp>
        <p:nvSpPr>
          <p:cNvPr id="19" name="Shape 14"/>
          <p:cNvSpPr/>
          <p:nvPr/>
        </p:nvSpPr>
        <p:spPr>
          <a:xfrm>
            <a:off x="8778240" y="5507546"/>
            <a:ext cx="137160" cy="0"/>
          </a:xfrm>
          <a:prstGeom prst="line">
            <a:avLst/>
          </a:prstGeom>
          <a:noFill/>
          <a:ln w="19050">
            <a:solidFill>
              <a:schemeClr val="tx2"/>
            </a:solidFill>
            <a:prstDash val="solid"/>
            <a:tailEnd type="triangle"/>
          </a:ln>
        </p:spPr>
      </p:sp>
      <p:sp>
        <p:nvSpPr>
          <p:cNvPr id="20" name="Sign-up step 3"/>
          <p:cNvSpPr txBox="1"/>
          <p:nvPr/>
        </p:nvSpPr>
        <p:spPr>
          <a:xfrm>
            <a:off x="8915400" y="5123498"/>
            <a:ext cx="1280160" cy="777240"/>
          </a:xfrm>
          <a:prstGeom prst="roundRect">
            <a:avLst>
              <a:gd name="adj" fmla="val 11765"/>
            </a:avLst>
          </a:prstGeom>
          <a:solidFill>
            <a:schemeClr val="bg1"/>
          </a:solidFill>
          <a:ln w="9525">
            <a:solidFill>
              <a:srgbClr val="D9C7A8"/>
            </a:solidFill>
          </a:ln>
        </p:spPr>
        <p:txBody>
          <a:bodyPr wrap="square" lIns="635" tIns="635" rIns="635" bIns="635" rtlCol="0" anchor="ctr"/>
          <a:lstStyle/>
          <a:p>
            <a:pPr algn="ctr" indent="0" marL="0">
              <a:buNone/>
            </a:pPr>
            <a:r>
              <a:rPr lang="en-US" sz="1200" b="1" dirty="0">
                <a:solidFill>
                  <a:schemeClr val="tx1"/>
                </a:solidFill>
              </a:rPr>
              <a:t>Email verified</a:t>
            </a:r>
            <a:endParaRPr lang="en-US" sz="1200" dirty="0"/>
          </a:p>
        </p:txBody>
      </p:sp>
      <p:sp>
        <p:nvSpPr>
          <p:cNvPr id="21" name="Shape 16"/>
          <p:cNvSpPr/>
          <p:nvPr/>
        </p:nvSpPr>
        <p:spPr>
          <a:xfrm>
            <a:off x="10195560" y="5507546"/>
            <a:ext cx="137160" cy="0"/>
          </a:xfrm>
          <a:prstGeom prst="line">
            <a:avLst/>
          </a:prstGeom>
          <a:noFill/>
          <a:ln w="19050">
            <a:solidFill>
              <a:schemeClr val="tx2"/>
            </a:solidFill>
            <a:prstDash val="solid"/>
            <a:tailEnd type="triangle"/>
          </a:ln>
        </p:spPr>
      </p:sp>
      <p:sp>
        <p:nvSpPr>
          <p:cNvPr id="22" name="Sign-up step 4"/>
          <p:cNvSpPr txBox="1"/>
          <p:nvPr/>
        </p:nvSpPr>
        <p:spPr>
          <a:xfrm>
            <a:off x="10332720" y="5123498"/>
            <a:ext cx="1280160" cy="777240"/>
          </a:xfrm>
          <a:prstGeom prst="roundRect">
            <a:avLst>
              <a:gd name="adj" fmla="val 11765"/>
            </a:avLst>
          </a:prstGeom>
          <a:solidFill>
            <a:schemeClr val="bg1"/>
          </a:solidFill>
          <a:ln w="9525">
            <a:solidFill>
              <a:srgbClr val="D9C7A8"/>
            </a:solidFill>
          </a:ln>
        </p:spPr>
        <p:txBody>
          <a:bodyPr wrap="square" lIns="635" tIns="635" rIns="635" bIns="635" rtlCol="0" anchor="ctr"/>
          <a:lstStyle/>
          <a:p>
            <a:pPr algn="ctr" indent="0" marL="0">
              <a:buNone/>
            </a:pPr>
            <a:r>
              <a:rPr lang="en-US" sz="1200" b="1" dirty="0">
                <a:solidFill>
                  <a:schemeClr val="tx1"/>
                </a:solidFill>
              </a:rPr>
              <a:t>Owner sets up salon</a:t>
            </a:r>
            <a:endParaRPr lang="en-US" sz="12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Technology stack</a:t>
            </a:r>
            <a:endParaRPr lang="en-US" sz="3400" dirty="0"/>
          </a:p>
        </p:txBody>
      </p:sp>
      <p:sp>
        <p:nvSpPr>
          <p:cNvPr id="3" name="Tech card Frontend (website)"/>
          <p:cNvSpPr/>
          <p:nvPr/>
        </p:nvSpPr>
        <p:spPr>
          <a:xfrm>
            <a:off x="548640" y="1371600"/>
            <a:ext cx="3566160" cy="2331720"/>
          </a:xfrm>
          <a:prstGeom prst="roundRect">
            <a:avLst>
              <a:gd name="adj" fmla="val 4706"/>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4" name="Icon circle FaLaptopCode"/>
          <p:cNvSpPr/>
          <p:nvPr/>
        </p:nvSpPr>
        <p:spPr>
          <a:xfrm>
            <a:off x="777240" y="1600200"/>
            <a:ext cx="548640" cy="548640"/>
          </a:xfrm>
          <a:prstGeom prst="ellipse">
            <a:avLst/>
          </a:prstGeom>
          <a:solidFill>
            <a:schemeClr val="accent1"/>
          </a:solidFill>
          <a:ln w="12700">
            <a:solidFill>
              <a:schemeClr val="accent1"/>
            </a:solidFill>
            <a:prstDash val="solid"/>
          </a:ln>
        </p:spPr>
      </p:sp>
      <p:pic>
        <p:nvPicPr>
          <p:cNvPr id="5" name="Image 0" descr="LaptopCode icon">    </p:cNvPr>
          <p:cNvPicPr>
            <a:picLocks noChangeAspect="1"/>
          </p:cNvPicPr>
          <p:nvPr/>
        </p:nvPicPr>
        <p:blipFill>
          <a:blip r:embed="rId1"/>
          <a:stretch>
            <a:fillRect/>
          </a:stretch>
        </p:blipFill>
        <p:spPr>
          <a:xfrm>
            <a:off x="925373" y="1748333"/>
            <a:ext cx="252374" cy="252374"/>
          </a:xfrm>
          <a:prstGeom prst="rect">
            <a:avLst/>
          </a:prstGeom>
        </p:spPr>
      </p:pic>
      <p:sp>
        <p:nvSpPr>
          <p:cNvPr id="6" name="Text 3"/>
          <p:cNvSpPr txBox="1"/>
          <p:nvPr/>
        </p:nvSpPr>
        <p:spPr>
          <a:xfrm>
            <a:off x="1508760" y="1645920"/>
            <a:ext cx="2423160" cy="457200"/>
          </a:xfrm>
          <a:prstGeom prst="rect">
            <a:avLst/>
          </a:prstGeom>
          <a:noFill/>
          <a:ln/>
        </p:spPr>
        <p:txBody>
          <a:bodyPr wrap="square" lIns="0" tIns="0" rIns="0" bIns="0" rtlCol="0" anchor="ctr"/>
          <a:lstStyle/>
          <a:p>
            <a:pPr indent="0" marL="0">
              <a:buNone/>
            </a:pPr>
            <a:r>
              <a:rPr lang="en-US" sz="1800" b="1" dirty="0">
                <a:solidFill>
                  <a:schemeClr val="tx1"/>
                </a:solidFill>
              </a:rPr>
              <a:t>Frontend (website)</a:t>
            </a:r>
            <a:endParaRPr lang="en-US" sz="1800" dirty="0"/>
          </a:p>
        </p:txBody>
      </p:sp>
      <p:sp>
        <p:nvSpPr>
          <p:cNvPr id="7" name="Text 4"/>
          <p:cNvSpPr txBox="1"/>
          <p:nvPr/>
        </p:nvSpPr>
        <p:spPr>
          <a:xfrm>
            <a:off x="822960" y="2331720"/>
            <a:ext cx="3108960" cy="1234440"/>
          </a:xfrm>
          <a:prstGeom prst="rect">
            <a:avLst/>
          </a:prstGeom>
          <a:noFill/>
          <a:ln/>
        </p:spPr>
        <p:txBody>
          <a:bodyPr wrap="square" lIns="0" tIns="0" rIns="0" bIns="0" rtlCol="0" anchor="t"/>
          <a:lstStyle/>
          <a:p>
            <a:pPr marL="203200" indent="-203200">
              <a:spcAft>
                <a:spcPts val="500"/>
              </a:spcAft>
              <a:buSzPct val="100000"/>
              <a:buChar char="•"/>
            </a:pPr>
            <a:r>
              <a:rPr lang="en-US" sz="1500" dirty="0">
                <a:solidFill>
                  <a:schemeClr val="tx1"/>
                </a:solidFill>
              </a:rPr>
              <a:t>React 19 + Vite 8</a:t>
            </a:r>
            <a:endParaRPr lang="en-US" sz="1500" dirty="0"/>
          </a:p>
          <a:p>
            <a:pPr marL="203200" indent="-203200">
              <a:spcAft>
                <a:spcPts val="500"/>
              </a:spcAft>
              <a:buSzPct val="100000"/>
              <a:buChar char="•"/>
            </a:pPr>
            <a:r>
              <a:rPr lang="en-US" sz="1500" dirty="0">
                <a:solidFill>
                  <a:schemeClr val="tx1"/>
                </a:solidFill>
              </a:rPr>
              <a:t>Material UI (MUI 9)</a:t>
            </a:r>
            <a:endParaRPr lang="en-US" sz="1500" dirty="0"/>
          </a:p>
          <a:p>
            <a:pPr marL="203200" indent="-203200">
              <a:spcAft>
                <a:spcPts val="500"/>
              </a:spcAft>
              <a:buSzPct val="100000"/>
              <a:buChar char="•"/>
            </a:pPr>
            <a:r>
              <a:rPr lang="en-US" sz="1500" dirty="0">
                <a:solidFill>
                  <a:schemeClr val="tx1"/>
                </a:solidFill>
              </a:rPr>
              <a:t>React Router, TanStack Query</a:t>
            </a:r>
            <a:endParaRPr lang="en-US" sz="1500" dirty="0"/>
          </a:p>
          <a:p>
            <a:pPr marL="203200" indent="-203200">
              <a:spcAft>
                <a:spcPts val="500"/>
              </a:spcAft>
              <a:buSzPct val="100000"/>
              <a:buChar char="•"/>
            </a:pPr>
            <a:r>
              <a:rPr lang="en-US" sz="1500" dirty="0">
                <a:solidFill>
                  <a:schemeClr val="tx1"/>
                </a:solidFill>
              </a:rPr>
              <a:t>React Hook Form + Zod</a:t>
            </a:r>
            <a:endParaRPr lang="en-US" sz="1500" dirty="0"/>
          </a:p>
        </p:txBody>
      </p:sp>
      <p:sp>
        <p:nvSpPr>
          <p:cNvPr id="8" name="Tech card Backend (API)"/>
          <p:cNvSpPr/>
          <p:nvPr/>
        </p:nvSpPr>
        <p:spPr>
          <a:xfrm>
            <a:off x="4297680" y="1371600"/>
            <a:ext cx="3566160" cy="2331720"/>
          </a:xfrm>
          <a:prstGeom prst="roundRect">
            <a:avLst>
              <a:gd name="adj" fmla="val 4706"/>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9" name="Icon circle FaServer"/>
          <p:cNvSpPr/>
          <p:nvPr/>
        </p:nvSpPr>
        <p:spPr>
          <a:xfrm>
            <a:off x="4526280" y="1600200"/>
            <a:ext cx="548640" cy="548640"/>
          </a:xfrm>
          <a:prstGeom prst="ellipse">
            <a:avLst/>
          </a:prstGeom>
          <a:solidFill>
            <a:schemeClr val="accent1"/>
          </a:solidFill>
          <a:ln w="12700">
            <a:solidFill>
              <a:schemeClr val="accent1"/>
            </a:solidFill>
            <a:prstDash val="solid"/>
          </a:ln>
        </p:spPr>
      </p:sp>
      <p:pic>
        <p:nvPicPr>
          <p:cNvPr id="10" name="Image 1" descr="Server icon">    </p:cNvPr>
          <p:cNvPicPr>
            <a:picLocks noChangeAspect="1"/>
          </p:cNvPicPr>
          <p:nvPr/>
        </p:nvPicPr>
        <p:blipFill>
          <a:blip r:embed="rId2"/>
          <a:stretch>
            <a:fillRect/>
          </a:stretch>
        </p:blipFill>
        <p:spPr>
          <a:xfrm>
            <a:off x="4674413" y="1748333"/>
            <a:ext cx="252374" cy="252374"/>
          </a:xfrm>
          <a:prstGeom prst="rect">
            <a:avLst/>
          </a:prstGeom>
        </p:spPr>
      </p:pic>
      <p:sp>
        <p:nvSpPr>
          <p:cNvPr id="11" name="Text 7"/>
          <p:cNvSpPr txBox="1"/>
          <p:nvPr/>
        </p:nvSpPr>
        <p:spPr>
          <a:xfrm>
            <a:off x="5257800" y="1645920"/>
            <a:ext cx="2423160" cy="457200"/>
          </a:xfrm>
          <a:prstGeom prst="rect">
            <a:avLst/>
          </a:prstGeom>
          <a:noFill/>
          <a:ln/>
        </p:spPr>
        <p:txBody>
          <a:bodyPr wrap="square" lIns="0" tIns="0" rIns="0" bIns="0" rtlCol="0" anchor="ctr"/>
          <a:lstStyle/>
          <a:p>
            <a:pPr indent="0" marL="0">
              <a:buNone/>
            </a:pPr>
            <a:r>
              <a:rPr lang="en-US" sz="1800" b="1" dirty="0">
                <a:solidFill>
                  <a:schemeClr val="tx1"/>
                </a:solidFill>
              </a:rPr>
              <a:t>Backend (API)</a:t>
            </a:r>
            <a:endParaRPr lang="en-US" sz="1800" dirty="0"/>
          </a:p>
        </p:txBody>
      </p:sp>
      <p:sp>
        <p:nvSpPr>
          <p:cNvPr id="12" name="Text 8"/>
          <p:cNvSpPr txBox="1"/>
          <p:nvPr/>
        </p:nvSpPr>
        <p:spPr>
          <a:xfrm>
            <a:off x="4572000" y="2331720"/>
            <a:ext cx="3108960" cy="1234440"/>
          </a:xfrm>
          <a:prstGeom prst="rect">
            <a:avLst/>
          </a:prstGeom>
          <a:noFill/>
          <a:ln/>
        </p:spPr>
        <p:txBody>
          <a:bodyPr wrap="square" lIns="0" tIns="0" rIns="0" bIns="0" rtlCol="0" anchor="t"/>
          <a:lstStyle/>
          <a:p>
            <a:pPr marL="203200" indent="-203200">
              <a:spcAft>
                <a:spcPts val="500"/>
              </a:spcAft>
              <a:buSzPct val="100000"/>
              <a:buChar char="•"/>
            </a:pPr>
            <a:r>
              <a:rPr lang="en-US" sz="1500" dirty="0">
                <a:solidFill>
                  <a:schemeClr val="tx1"/>
                </a:solidFill>
              </a:rPr>
              <a:t>Node.js + Express 5</a:t>
            </a:r>
            <a:endParaRPr lang="en-US" sz="1500" dirty="0"/>
          </a:p>
          <a:p>
            <a:pPr marL="203200" indent="-203200">
              <a:spcAft>
                <a:spcPts val="500"/>
              </a:spcAft>
              <a:buSzPct val="100000"/>
              <a:buChar char="•"/>
            </a:pPr>
            <a:r>
              <a:rPr lang="en-US" sz="1500" dirty="0">
                <a:solidFill>
                  <a:schemeClr val="tx1"/>
                </a:solidFill>
              </a:rPr>
              <a:t>Mongoose 9 (ODM)</a:t>
            </a:r>
            <a:endParaRPr lang="en-US" sz="1500" dirty="0"/>
          </a:p>
          <a:p>
            <a:pPr marL="203200" indent="-203200">
              <a:spcAft>
                <a:spcPts val="500"/>
              </a:spcAft>
              <a:buSzPct val="100000"/>
              <a:buChar char="•"/>
            </a:pPr>
            <a:r>
              <a:rPr lang="en-US" sz="1500" dirty="0">
                <a:solidFill>
                  <a:schemeClr val="tx1"/>
                </a:solidFill>
              </a:rPr>
              <a:t>JWT, bcrypt, Helmet</a:t>
            </a:r>
            <a:endParaRPr lang="en-US" sz="1500" dirty="0"/>
          </a:p>
          <a:p>
            <a:pPr marL="203200" indent="-203200">
              <a:spcAft>
                <a:spcPts val="500"/>
              </a:spcAft>
              <a:buSzPct val="100000"/>
              <a:buChar char="•"/>
            </a:pPr>
            <a:r>
              <a:rPr lang="en-US" sz="1500" dirty="0">
                <a:solidFill>
                  <a:schemeClr val="tx1"/>
                </a:solidFill>
              </a:rPr>
              <a:t>Zod, rate limiting, Nodemailer</a:t>
            </a:r>
            <a:endParaRPr lang="en-US" sz="1500" dirty="0"/>
          </a:p>
        </p:txBody>
      </p:sp>
      <p:sp>
        <p:nvSpPr>
          <p:cNvPr id="13" name="Tech card Database"/>
          <p:cNvSpPr/>
          <p:nvPr/>
        </p:nvSpPr>
        <p:spPr>
          <a:xfrm>
            <a:off x="8046720" y="1371600"/>
            <a:ext cx="3566160" cy="2331720"/>
          </a:xfrm>
          <a:prstGeom prst="roundRect">
            <a:avLst>
              <a:gd name="adj" fmla="val 4706"/>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14" name="Icon circle FaDatabase"/>
          <p:cNvSpPr/>
          <p:nvPr/>
        </p:nvSpPr>
        <p:spPr>
          <a:xfrm>
            <a:off x="8275320" y="1600200"/>
            <a:ext cx="548640" cy="548640"/>
          </a:xfrm>
          <a:prstGeom prst="ellipse">
            <a:avLst/>
          </a:prstGeom>
          <a:solidFill>
            <a:schemeClr val="accent1"/>
          </a:solidFill>
          <a:ln w="12700">
            <a:solidFill>
              <a:schemeClr val="accent1"/>
            </a:solidFill>
            <a:prstDash val="solid"/>
          </a:ln>
        </p:spPr>
      </p:sp>
      <p:pic>
        <p:nvPicPr>
          <p:cNvPr id="15" name="Image 2" descr="Database icon">    </p:cNvPr>
          <p:cNvPicPr>
            <a:picLocks noChangeAspect="1"/>
          </p:cNvPicPr>
          <p:nvPr/>
        </p:nvPicPr>
        <p:blipFill>
          <a:blip r:embed="rId3"/>
          <a:stretch>
            <a:fillRect/>
          </a:stretch>
        </p:blipFill>
        <p:spPr>
          <a:xfrm>
            <a:off x="8423453" y="1748333"/>
            <a:ext cx="252374" cy="252374"/>
          </a:xfrm>
          <a:prstGeom prst="rect">
            <a:avLst/>
          </a:prstGeom>
        </p:spPr>
      </p:pic>
      <p:sp>
        <p:nvSpPr>
          <p:cNvPr id="16" name="Text 11"/>
          <p:cNvSpPr txBox="1"/>
          <p:nvPr/>
        </p:nvSpPr>
        <p:spPr>
          <a:xfrm>
            <a:off x="9006840" y="1645920"/>
            <a:ext cx="2423160" cy="457200"/>
          </a:xfrm>
          <a:prstGeom prst="rect">
            <a:avLst/>
          </a:prstGeom>
          <a:noFill/>
          <a:ln/>
        </p:spPr>
        <p:txBody>
          <a:bodyPr wrap="square" lIns="0" tIns="0" rIns="0" bIns="0" rtlCol="0" anchor="ctr"/>
          <a:lstStyle/>
          <a:p>
            <a:pPr indent="0" marL="0">
              <a:buNone/>
            </a:pPr>
            <a:r>
              <a:rPr lang="en-US" sz="1800" b="1" dirty="0">
                <a:solidFill>
                  <a:schemeClr val="tx1"/>
                </a:solidFill>
              </a:rPr>
              <a:t>Database</a:t>
            </a:r>
            <a:endParaRPr lang="en-US" sz="1800" dirty="0"/>
          </a:p>
        </p:txBody>
      </p:sp>
      <p:sp>
        <p:nvSpPr>
          <p:cNvPr id="17" name="Text 12"/>
          <p:cNvSpPr txBox="1"/>
          <p:nvPr/>
        </p:nvSpPr>
        <p:spPr>
          <a:xfrm>
            <a:off x="8321040" y="2331720"/>
            <a:ext cx="3108960" cy="1234440"/>
          </a:xfrm>
          <a:prstGeom prst="rect">
            <a:avLst/>
          </a:prstGeom>
          <a:noFill/>
          <a:ln/>
        </p:spPr>
        <p:txBody>
          <a:bodyPr wrap="square" lIns="0" tIns="0" rIns="0" bIns="0" rtlCol="0" anchor="t"/>
          <a:lstStyle/>
          <a:p>
            <a:pPr marL="203200" indent="-203200">
              <a:spcAft>
                <a:spcPts val="500"/>
              </a:spcAft>
              <a:buSzPct val="100000"/>
              <a:buChar char="•"/>
            </a:pPr>
            <a:r>
              <a:rPr lang="en-US" sz="1500" dirty="0">
                <a:solidFill>
                  <a:schemeClr val="tx1"/>
                </a:solidFill>
              </a:rPr>
              <a:t>MongoDB</a:t>
            </a:r>
            <a:endParaRPr lang="en-US" sz="1500" dirty="0"/>
          </a:p>
          <a:p>
            <a:pPr marL="203200" indent="-203200">
              <a:spcAft>
                <a:spcPts val="500"/>
              </a:spcAft>
              <a:buSzPct val="100000"/>
              <a:buChar char="•"/>
            </a:pPr>
            <a:r>
              <a:rPr lang="en-US" sz="1500" dirty="0">
                <a:solidFill>
                  <a:schemeClr val="tx1"/>
                </a:solidFill>
              </a:rPr>
              <a:t>Replica set for transactions</a:t>
            </a:r>
            <a:endParaRPr lang="en-US" sz="1500" dirty="0"/>
          </a:p>
          <a:p>
            <a:pPr marL="203200" indent="-203200">
              <a:spcAft>
                <a:spcPts val="500"/>
              </a:spcAft>
              <a:buSzPct val="100000"/>
              <a:buChar char="•"/>
            </a:pPr>
            <a:r>
              <a:rPr lang="en-US" sz="1500" dirty="0">
                <a:solidFill>
                  <a:schemeClr val="tx1"/>
                </a:solidFill>
              </a:rPr>
              <a:t>24 collections (Mongoose models)</a:t>
            </a:r>
            <a:endParaRPr lang="en-US" sz="1500" dirty="0"/>
          </a:p>
        </p:txBody>
      </p:sp>
      <p:sp>
        <p:nvSpPr>
          <p:cNvPr id="18" name="Tech card Mobile app"/>
          <p:cNvSpPr/>
          <p:nvPr/>
        </p:nvSpPr>
        <p:spPr>
          <a:xfrm>
            <a:off x="548640" y="3886200"/>
            <a:ext cx="5440680" cy="2286000"/>
          </a:xfrm>
          <a:prstGeom prst="roundRect">
            <a:avLst>
              <a:gd name="adj" fmla="val 4800"/>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19" name="Icon circle FaMobileAlt"/>
          <p:cNvSpPr/>
          <p:nvPr/>
        </p:nvSpPr>
        <p:spPr>
          <a:xfrm>
            <a:off x="777240" y="4114800"/>
            <a:ext cx="548640" cy="548640"/>
          </a:xfrm>
          <a:prstGeom prst="ellipse">
            <a:avLst/>
          </a:prstGeom>
          <a:solidFill>
            <a:schemeClr val="accent1"/>
          </a:solidFill>
          <a:ln w="12700">
            <a:solidFill>
              <a:schemeClr val="accent1"/>
            </a:solidFill>
            <a:prstDash val="solid"/>
          </a:ln>
        </p:spPr>
      </p:sp>
      <p:pic>
        <p:nvPicPr>
          <p:cNvPr id="20" name="Image 3" descr="MobileAlt icon">    </p:cNvPr>
          <p:cNvPicPr>
            <a:picLocks noChangeAspect="1"/>
          </p:cNvPicPr>
          <p:nvPr/>
        </p:nvPicPr>
        <p:blipFill>
          <a:blip r:embed="rId4"/>
          <a:stretch>
            <a:fillRect/>
          </a:stretch>
        </p:blipFill>
        <p:spPr>
          <a:xfrm>
            <a:off x="925373" y="4262933"/>
            <a:ext cx="252374" cy="252374"/>
          </a:xfrm>
          <a:prstGeom prst="rect">
            <a:avLst/>
          </a:prstGeom>
        </p:spPr>
      </p:pic>
      <p:sp>
        <p:nvSpPr>
          <p:cNvPr id="21" name="Text 15"/>
          <p:cNvSpPr txBox="1"/>
          <p:nvPr/>
        </p:nvSpPr>
        <p:spPr>
          <a:xfrm>
            <a:off x="1508760" y="4160520"/>
            <a:ext cx="4297680" cy="457200"/>
          </a:xfrm>
          <a:prstGeom prst="rect">
            <a:avLst/>
          </a:prstGeom>
          <a:noFill/>
          <a:ln/>
        </p:spPr>
        <p:txBody>
          <a:bodyPr wrap="square" lIns="0" tIns="0" rIns="0" bIns="0" rtlCol="0" anchor="ctr"/>
          <a:lstStyle/>
          <a:p>
            <a:pPr indent="0" marL="0">
              <a:buNone/>
            </a:pPr>
            <a:r>
              <a:rPr lang="en-US" sz="1800" b="1" dirty="0">
                <a:solidFill>
                  <a:schemeClr val="tx1"/>
                </a:solidFill>
              </a:rPr>
              <a:t>Mobile app</a:t>
            </a:r>
            <a:endParaRPr lang="en-US" sz="1800" dirty="0"/>
          </a:p>
        </p:txBody>
      </p:sp>
      <p:sp>
        <p:nvSpPr>
          <p:cNvPr id="22" name="Text 16"/>
          <p:cNvSpPr txBox="1"/>
          <p:nvPr/>
        </p:nvSpPr>
        <p:spPr>
          <a:xfrm>
            <a:off x="822960" y="4846320"/>
            <a:ext cx="4983480" cy="1188720"/>
          </a:xfrm>
          <a:prstGeom prst="rect">
            <a:avLst/>
          </a:prstGeom>
          <a:noFill/>
          <a:ln/>
        </p:spPr>
        <p:txBody>
          <a:bodyPr wrap="square" lIns="0" tIns="0" rIns="0" bIns="0" rtlCol="0" anchor="t"/>
          <a:lstStyle/>
          <a:p>
            <a:pPr marL="203200" indent="-203200">
              <a:spcAft>
                <a:spcPts val="500"/>
              </a:spcAft>
              <a:buSzPct val="100000"/>
              <a:buChar char="•"/>
            </a:pPr>
            <a:r>
              <a:rPr lang="en-US" sz="1500" dirty="0">
                <a:solidFill>
                  <a:schemeClr val="tx1"/>
                </a:solidFill>
              </a:rPr>
              <a:t>React Native 0.88 + Expo 58</a:t>
            </a:r>
            <a:endParaRPr lang="en-US" sz="1500" dirty="0"/>
          </a:p>
          <a:p>
            <a:pPr marL="203200" indent="-203200">
              <a:spcAft>
                <a:spcPts val="500"/>
              </a:spcAft>
              <a:buSzPct val="100000"/>
              <a:buChar char="•"/>
            </a:pPr>
            <a:r>
              <a:rPr lang="en-US" sz="1500" dirty="0">
                <a:solidFill>
                  <a:schemeClr val="tx1"/>
                </a:solidFill>
              </a:rPr>
              <a:t>React Navigation</a:t>
            </a:r>
            <a:endParaRPr lang="en-US" sz="1500" dirty="0"/>
          </a:p>
          <a:p>
            <a:pPr marL="203200" indent="-203200">
              <a:spcAft>
                <a:spcPts val="500"/>
              </a:spcAft>
              <a:buSzPct val="100000"/>
              <a:buChar char="•"/>
            </a:pPr>
            <a:r>
              <a:rPr lang="en-US" sz="1500" dirty="0">
                <a:solidFill>
                  <a:schemeClr val="tx1"/>
                </a:solidFill>
              </a:rPr>
              <a:t>TanStack Query, shared REST API</a:t>
            </a:r>
            <a:endParaRPr lang="en-US" sz="1500" dirty="0"/>
          </a:p>
        </p:txBody>
      </p:sp>
      <p:sp>
        <p:nvSpPr>
          <p:cNvPr id="23" name="Tech card Testing"/>
          <p:cNvSpPr/>
          <p:nvPr/>
        </p:nvSpPr>
        <p:spPr>
          <a:xfrm>
            <a:off x="6172200" y="3886200"/>
            <a:ext cx="5440680" cy="2286000"/>
          </a:xfrm>
          <a:prstGeom prst="roundRect">
            <a:avLst>
              <a:gd name="adj" fmla="val 4800"/>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24" name="Icon circle FaVial"/>
          <p:cNvSpPr/>
          <p:nvPr/>
        </p:nvSpPr>
        <p:spPr>
          <a:xfrm>
            <a:off x="6400800" y="4114800"/>
            <a:ext cx="548640" cy="548640"/>
          </a:xfrm>
          <a:prstGeom prst="ellipse">
            <a:avLst/>
          </a:prstGeom>
          <a:solidFill>
            <a:schemeClr val="accent1"/>
          </a:solidFill>
          <a:ln w="12700">
            <a:solidFill>
              <a:schemeClr val="accent1"/>
            </a:solidFill>
            <a:prstDash val="solid"/>
          </a:ln>
        </p:spPr>
      </p:sp>
      <p:pic>
        <p:nvPicPr>
          <p:cNvPr id="25" name="Image 4" descr="Vial icon">    </p:cNvPr>
          <p:cNvPicPr>
            <a:picLocks noChangeAspect="1"/>
          </p:cNvPicPr>
          <p:nvPr/>
        </p:nvPicPr>
        <p:blipFill>
          <a:blip r:embed="rId5"/>
          <a:stretch>
            <a:fillRect/>
          </a:stretch>
        </p:blipFill>
        <p:spPr>
          <a:xfrm>
            <a:off x="6548933" y="4262933"/>
            <a:ext cx="252374" cy="252374"/>
          </a:xfrm>
          <a:prstGeom prst="rect">
            <a:avLst/>
          </a:prstGeom>
        </p:spPr>
      </p:pic>
      <p:sp>
        <p:nvSpPr>
          <p:cNvPr id="26" name="Text 19"/>
          <p:cNvSpPr txBox="1"/>
          <p:nvPr/>
        </p:nvSpPr>
        <p:spPr>
          <a:xfrm>
            <a:off x="7132320" y="4160520"/>
            <a:ext cx="4297680" cy="457200"/>
          </a:xfrm>
          <a:prstGeom prst="rect">
            <a:avLst/>
          </a:prstGeom>
          <a:noFill/>
          <a:ln/>
        </p:spPr>
        <p:txBody>
          <a:bodyPr wrap="square" lIns="0" tIns="0" rIns="0" bIns="0" rtlCol="0" anchor="ctr"/>
          <a:lstStyle/>
          <a:p>
            <a:pPr indent="0" marL="0">
              <a:buNone/>
            </a:pPr>
            <a:r>
              <a:rPr lang="en-US" sz="1800" b="1" dirty="0">
                <a:solidFill>
                  <a:schemeClr val="tx1"/>
                </a:solidFill>
              </a:rPr>
              <a:t>Testing</a:t>
            </a:r>
            <a:endParaRPr lang="en-US" sz="1800" dirty="0"/>
          </a:p>
        </p:txBody>
      </p:sp>
      <p:sp>
        <p:nvSpPr>
          <p:cNvPr id="27" name="Text 20"/>
          <p:cNvSpPr txBox="1"/>
          <p:nvPr/>
        </p:nvSpPr>
        <p:spPr>
          <a:xfrm>
            <a:off x="6446520" y="4846320"/>
            <a:ext cx="4983480" cy="1188720"/>
          </a:xfrm>
          <a:prstGeom prst="rect">
            <a:avLst/>
          </a:prstGeom>
          <a:noFill/>
          <a:ln/>
        </p:spPr>
        <p:txBody>
          <a:bodyPr wrap="square" lIns="0" tIns="0" rIns="0" bIns="0" rtlCol="0" anchor="t"/>
          <a:lstStyle/>
          <a:p>
            <a:pPr marL="203200" indent="-203200">
              <a:spcAft>
                <a:spcPts val="500"/>
              </a:spcAft>
              <a:buSzPct val="100000"/>
              <a:buChar char="•"/>
            </a:pPr>
            <a:r>
              <a:rPr lang="en-US" sz="1500" dirty="0">
                <a:solidFill>
                  <a:schemeClr val="tx1"/>
                </a:solidFill>
              </a:rPr>
              <a:t>Node test runner + Supertest</a:t>
            </a:r>
            <a:endParaRPr lang="en-US" sz="1500" dirty="0"/>
          </a:p>
          <a:p>
            <a:pPr marL="203200" indent="-203200">
              <a:spcAft>
                <a:spcPts val="500"/>
              </a:spcAft>
              <a:buSzPct val="100000"/>
              <a:buChar char="•"/>
            </a:pPr>
            <a:r>
              <a:rPr lang="en-US" sz="1500" dirty="0">
                <a:solidFill>
                  <a:schemeClr val="tx1"/>
                </a:solidFill>
              </a:rPr>
              <a:t>137 backend tests, all passing</a:t>
            </a:r>
            <a:endParaRPr lang="en-US" sz="15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System architecture</a:t>
            </a:r>
            <a:endParaRPr lang="en-US" sz="3400" dirty="0"/>
          </a:p>
        </p:txBody>
      </p:sp>
      <p:sp>
        <p:nvSpPr>
          <p:cNvPr id="3" name="Text 1"/>
          <p:cNvSpPr txBox="1"/>
          <p:nvPr/>
        </p:nvSpPr>
        <p:spPr>
          <a:xfrm>
            <a:off x="548640" y="1371600"/>
            <a:ext cx="2560320" cy="320040"/>
          </a:xfrm>
          <a:prstGeom prst="rect">
            <a:avLst/>
          </a:prstGeom>
          <a:noFill/>
          <a:ln/>
        </p:spPr>
        <p:txBody>
          <a:bodyPr wrap="square" lIns="0" tIns="0" rIns="0" bIns="0" rtlCol="0" anchor="t"/>
          <a:lstStyle/>
          <a:p>
            <a:pPr algn="ctr" indent="0" marL="0">
              <a:buNone/>
            </a:pPr>
            <a:r>
              <a:rPr lang="en-US" sz="1500" b="1" dirty="0">
                <a:solidFill>
                  <a:schemeClr val="accent3"/>
                </a:solidFill>
              </a:rPr>
              <a:t>Clients</a:t>
            </a:r>
            <a:endParaRPr lang="en-US" sz="1500" dirty="0"/>
          </a:p>
        </p:txBody>
      </p:sp>
      <p:sp>
        <p:nvSpPr>
          <p:cNvPr id="4" name="Client website"/>
          <p:cNvSpPr txBox="1"/>
          <p:nvPr/>
        </p:nvSpPr>
        <p:spPr>
          <a:xfrm>
            <a:off x="548640" y="1783080"/>
            <a:ext cx="2560320" cy="1188720"/>
          </a:xfrm>
          <a:prstGeom prst="roundRect">
            <a:avLst>
              <a:gd name="adj" fmla="val 7692"/>
            </a:avLst>
          </a:prstGeom>
          <a:solidFill>
            <a:schemeClr val="bg1"/>
          </a:solidFill>
          <a:ln w="9525">
            <a:solidFill>
              <a:srgbClr val="D9C7A8"/>
            </a:solidFill>
          </a:ln>
        </p:spPr>
        <p:txBody>
          <a:bodyPr wrap="square" lIns="1016" tIns="1016" rIns="1016" bIns="1016" rtlCol="0" anchor="ctr"/>
          <a:lstStyle/>
          <a:p>
            <a:pPr algn="ctr" indent="0" marL="0">
              <a:buNone/>
            </a:pPr>
            <a:r>
              <a:rPr lang="en-US" sz="1500" b="1" dirty="0">
                <a:solidFill>
                  <a:schemeClr val="tx1"/>
                </a:solidFill>
              </a:rPr>
              <a:t>Website</a:t>
            </a:r>
            <a:endParaRPr lang="en-US" sz="1500" dirty="0"/>
          </a:p>
          <a:p>
            <a:pPr algn="ctr" indent="0" marL="0">
              <a:buNone/>
            </a:pPr>
            <a:r>
              <a:rPr lang="en-US" sz="1500" b="1" dirty="0">
                <a:solidFill>
                  <a:schemeClr val="tx1"/>
                </a:solidFill>
              </a:rPr>
              <a:t>React + Vite + MUI</a:t>
            </a:r>
            <a:endParaRPr lang="en-US" sz="1500" dirty="0"/>
          </a:p>
        </p:txBody>
      </p:sp>
      <p:sp>
        <p:nvSpPr>
          <p:cNvPr id="5" name="Client mobile app"/>
          <p:cNvSpPr txBox="1"/>
          <p:nvPr/>
        </p:nvSpPr>
        <p:spPr>
          <a:xfrm>
            <a:off x="548640" y="3246120"/>
            <a:ext cx="2560320" cy="1188720"/>
          </a:xfrm>
          <a:prstGeom prst="roundRect">
            <a:avLst>
              <a:gd name="adj" fmla="val 7692"/>
            </a:avLst>
          </a:prstGeom>
          <a:solidFill>
            <a:schemeClr val="bg1"/>
          </a:solidFill>
          <a:ln w="9525">
            <a:solidFill>
              <a:srgbClr val="D9C7A8"/>
            </a:solidFill>
          </a:ln>
        </p:spPr>
        <p:txBody>
          <a:bodyPr wrap="square" lIns="1016" tIns="1016" rIns="1016" bIns="1016" rtlCol="0" anchor="ctr"/>
          <a:lstStyle/>
          <a:p>
            <a:pPr algn="ctr" indent="0" marL="0">
              <a:buNone/>
            </a:pPr>
            <a:r>
              <a:rPr lang="en-US" sz="1500" b="1" dirty="0">
                <a:solidFill>
                  <a:schemeClr val="tx1"/>
                </a:solidFill>
              </a:rPr>
              <a:t>Mobile app</a:t>
            </a:r>
            <a:endParaRPr lang="en-US" sz="1500" dirty="0"/>
          </a:p>
          <a:p>
            <a:pPr algn="ctr" indent="0" marL="0">
              <a:buNone/>
            </a:pPr>
            <a:r>
              <a:rPr lang="en-US" sz="1500" b="1" dirty="0">
                <a:solidFill>
                  <a:schemeClr val="tx1"/>
                </a:solidFill>
              </a:rPr>
              <a:t>React Native + Expo</a:t>
            </a:r>
            <a:endParaRPr lang="en-US" sz="1500" dirty="0"/>
          </a:p>
        </p:txBody>
      </p:sp>
      <p:sp>
        <p:nvSpPr>
          <p:cNvPr id="6" name="Arrow HTTPS + JSON"/>
          <p:cNvSpPr/>
          <p:nvPr/>
        </p:nvSpPr>
        <p:spPr>
          <a:xfrm>
            <a:off x="3154680" y="3154680"/>
            <a:ext cx="868680" cy="0"/>
          </a:xfrm>
          <a:prstGeom prst="line">
            <a:avLst/>
          </a:prstGeom>
          <a:noFill/>
          <a:ln w="28575">
            <a:solidFill>
              <a:schemeClr val="accent3"/>
            </a:solidFill>
            <a:prstDash val="solid"/>
            <a:tailEnd type="triangle"/>
          </a:ln>
        </p:spPr>
      </p:sp>
      <p:sp>
        <p:nvSpPr>
          <p:cNvPr id="7" name="Text 5"/>
          <p:cNvSpPr txBox="1"/>
          <p:nvPr/>
        </p:nvSpPr>
        <p:spPr>
          <a:xfrm>
            <a:off x="3108960" y="2587752"/>
            <a:ext cx="960120" cy="457200"/>
          </a:xfrm>
          <a:prstGeom prst="rect">
            <a:avLst/>
          </a:prstGeom>
          <a:noFill/>
          <a:ln/>
        </p:spPr>
        <p:txBody>
          <a:bodyPr wrap="square" lIns="0" tIns="0" rIns="0" bIns="0" rtlCol="0" anchor="b"/>
          <a:lstStyle/>
          <a:p>
            <a:pPr algn="ctr" indent="0" marL="0">
              <a:buNone/>
            </a:pPr>
            <a:r>
              <a:rPr lang="en-US" sz="1100" dirty="0">
                <a:solidFill>
                  <a:schemeClr val="tx2"/>
                </a:solidFill>
              </a:rPr>
              <a:t>HTTPS + JSON</a:t>
            </a:r>
            <a:endParaRPr lang="en-US" sz="1100" dirty="0"/>
          </a:p>
        </p:txBody>
      </p:sp>
      <p:sp>
        <p:nvSpPr>
          <p:cNvPr id="8" name="Text 6"/>
          <p:cNvSpPr txBox="1"/>
          <p:nvPr/>
        </p:nvSpPr>
        <p:spPr>
          <a:xfrm>
            <a:off x="4023360" y="1371600"/>
            <a:ext cx="4023360" cy="320040"/>
          </a:xfrm>
          <a:prstGeom prst="rect">
            <a:avLst/>
          </a:prstGeom>
          <a:noFill/>
          <a:ln/>
        </p:spPr>
        <p:txBody>
          <a:bodyPr wrap="square" lIns="0" tIns="0" rIns="0" bIns="0" rtlCol="0" anchor="t"/>
          <a:lstStyle/>
          <a:p>
            <a:pPr algn="ctr" indent="0" marL="0">
              <a:buNone/>
            </a:pPr>
            <a:r>
              <a:rPr lang="en-US" sz="1500" b="1" dirty="0">
                <a:solidFill>
                  <a:schemeClr val="accent3"/>
                </a:solidFill>
              </a:rPr>
              <a:t>REST API (Node.js + Express)</a:t>
            </a:r>
            <a:endParaRPr lang="en-US" sz="1500" dirty="0"/>
          </a:p>
        </p:txBody>
      </p:sp>
      <p:sp>
        <p:nvSpPr>
          <p:cNvPr id="9" name="API layer panel"/>
          <p:cNvSpPr/>
          <p:nvPr/>
        </p:nvSpPr>
        <p:spPr>
          <a:xfrm>
            <a:off x="4023360" y="1783080"/>
            <a:ext cx="4023360" cy="3200400"/>
          </a:xfrm>
          <a:prstGeom prst="roundRect">
            <a:avLst>
              <a:gd name="adj" fmla="val 3429"/>
            </a:avLst>
          </a:prstGeom>
          <a:solidFill>
            <a:schemeClr val="tx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10" name="API layer 1"/>
          <p:cNvSpPr txBox="1"/>
          <p:nvPr/>
        </p:nvSpPr>
        <p:spPr>
          <a:xfrm>
            <a:off x="4206240" y="1920240"/>
            <a:ext cx="3657600" cy="502920"/>
          </a:xfrm>
          <a:prstGeom prst="roundRect">
            <a:avLst>
              <a:gd name="adj" fmla="val 18182"/>
            </a:avLst>
          </a:prstGeom>
          <a:solidFill>
            <a:srgbClr val="6B4A33"/>
          </a:solidFill>
          <a:ln w="9525">
            <a:solidFill>
              <a:srgbClr val="D9C7A8"/>
            </a:solidFill>
          </a:ln>
        </p:spPr>
        <p:txBody>
          <a:bodyPr wrap="square" lIns="1016" tIns="1016" rIns="1016" bIns="1016" rtlCol="0" anchor="ctr"/>
          <a:lstStyle/>
          <a:p>
            <a:pPr algn="ctr" indent="0" marL="0">
              <a:buNone/>
            </a:pPr>
            <a:r>
              <a:rPr lang="en-US" sz="1200" b="1" dirty="0">
                <a:solidFill>
                  <a:schemeClr val="bg1"/>
                </a:solidFill>
              </a:rPr>
              <a:t>Security headers, CORS, rate limit</a:t>
            </a:r>
            <a:endParaRPr lang="en-US" sz="1200" dirty="0"/>
          </a:p>
        </p:txBody>
      </p:sp>
      <p:sp>
        <p:nvSpPr>
          <p:cNvPr id="11" name="API layer 2"/>
          <p:cNvSpPr txBox="1"/>
          <p:nvPr/>
        </p:nvSpPr>
        <p:spPr>
          <a:xfrm>
            <a:off x="4206240" y="2505456"/>
            <a:ext cx="3657600" cy="502920"/>
          </a:xfrm>
          <a:prstGeom prst="roundRect">
            <a:avLst>
              <a:gd name="adj" fmla="val 18182"/>
            </a:avLst>
          </a:prstGeom>
          <a:solidFill>
            <a:srgbClr val="6B4A33"/>
          </a:solidFill>
          <a:ln w="9525">
            <a:solidFill>
              <a:srgbClr val="D9C7A8"/>
            </a:solidFill>
          </a:ln>
        </p:spPr>
        <p:txBody>
          <a:bodyPr wrap="square" lIns="1016" tIns="1016" rIns="1016" bIns="1016" rtlCol="0" anchor="ctr"/>
          <a:lstStyle/>
          <a:p>
            <a:pPr algn="ctr" indent="0" marL="0">
              <a:buNone/>
            </a:pPr>
            <a:r>
              <a:rPr lang="en-US" sz="1200" b="1" dirty="0">
                <a:solidFill>
                  <a:schemeClr val="bg1"/>
                </a:solidFill>
              </a:rPr>
              <a:t>Authentication (JWT, sessions)</a:t>
            </a:r>
            <a:endParaRPr lang="en-US" sz="1200" dirty="0"/>
          </a:p>
        </p:txBody>
      </p:sp>
      <p:sp>
        <p:nvSpPr>
          <p:cNvPr id="12" name="API layer 3"/>
          <p:cNvSpPr txBox="1"/>
          <p:nvPr/>
        </p:nvSpPr>
        <p:spPr>
          <a:xfrm>
            <a:off x="4206240" y="3090672"/>
            <a:ext cx="3657600" cy="502920"/>
          </a:xfrm>
          <a:prstGeom prst="roundRect">
            <a:avLst>
              <a:gd name="adj" fmla="val 18182"/>
            </a:avLst>
          </a:prstGeom>
          <a:solidFill>
            <a:srgbClr val="6B4A33"/>
          </a:solidFill>
          <a:ln w="9525">
            <a:solidFill>
              <a:srgbClr val="D9C7A8"/>
            </a:solidFill>
          </a:ln>
        </p:spPr>
        <p:txBody>
          <a:bodyPr wrap="square" lIns="1016" tIns="1016" rIns="1016" bIns="1016" rtlCol="0" anchor="ctr"/>
          <a:lstStyle/>
          <a:p>
            <a:pPr algn="ctr" indent="0" marL="0">
              <a:buNone/>
            </a:pPr>
            <a:r>
              <a:rPr lang="en-US" sz="1200" b="1" dirty="0">
                <a:solidFill>
                  <a:schemeClr val="bg1"/>
                </a:solidFill>
              </a:rPr>
              <a:t>Role and salon check (RBAC)</a:t>
            </a:r>
            <a:endParaRPr lang="en-US" sz="1200" dirty="0"/>
          </a:p>
        </p:txBody>
      </p:sp>
      <p:sp>
        <p:nvSpPr>
          <p:cNvPr id="13" name="API layer 4"/>
          <p:cNvSpPr txBox="1"/>
          <p:nvPr/>
        </p:nvSpPr>
        <p:spPr>
          <a:xfrm>
            <a:off x="4206240" y="3675888"/>
            <a:ext cx="3657600" cy="502920"/>
          </a:xfrm>
          <a:prstGeom prst="roundRect">
            <a:avLst>
              <a:gd name="adj" fmla="val 18182"/>
            </a:avLst>
          </a:prstGeom>
          <a:solidFill>
            <a:srgbClr val="6B4A33"/>
          </a:solidFill>
          <a:ln w="9525">
            <a:solidFill>
              <a:srgbClr val="D9C7A8"/>
            </a:solidFill>
          </a:ln>
        </p:spPr>
        <p:txBody>
          <a:bodyPr wrap="square" lIns="1016" tIns="1016" rIns="1016" bIns="1016" rtlCol="0" anchor="ctr"/>
          <a:lstStyle/>
          <a:p>
            <a:pPr algn="ctr" indent="0" marL="0">
              <a:buNone/>
            </a:pPr>
            <a:r>
              <a:rPr lang="en-US" sz="1200" b="1" dirty="0">
                <a:solidFill>
                  <a:schemeClr val="bg1"/>
                </a:solidFill>
              </a:rPr>
              <a:t>Input validation (Zod)</a:t>
            </a:r>
            <a:endParaRPr lang="en-US" sz="1200" dirty="0"/>
          </a:p>
        </p:txBody>
      </p:sp>
      <p:sp>
        <p:nvSpPr>
          <p:cNvPr id="14" name="API layer 5"/>
          <p:cNvSpPr txBox="1"/>
          <p:nvPr/>
        </p:nvSpPr>
        <p:spPr>
          <a:xfrm>
            <a:off x="4206240" y="4261104"/>
            <a:ext cx="3657600" cy="868680"/>
          </a:xfrm>
          <a:prstGeom prst="roundRect">
            <a:avLst>
              <a:gd name="adj" fmla="val 10526"/>
            </a:avLst>
          </a:prstGeom>
          <a:solidFill>
            <a:schemeClr val="accent1"/>
          </a:solidFill>
          <a:ln w="9525">
            <a:solidFill>
              <a:srgbClr val="D9C7A8"/>
            </a:solidFill>
          </a:ln>
        </p:spPr>
        <p:txBody>
          <a:bodyPr wrap="square" lIns="1016" tIns="1016" rIns="1016" bIns="1016" rtlCol="0" anchor="ctr"/>
          <a:lstStyle/>
          <a:p>
            <a:pPr algn="ctr" indent="0" marL="0">
              <a:buNone/>
            </a:pPr>
            <a:r>
              <a:rPr lang="en-US" sz="1200" b="1" dirty="0">
                <a:solidFill>
                  <a:schemeClr val="tx1"/>
                </a:solidFill>
              </a:rPr>
              <a:t>Modules: bookings, billing, customers, packages, memberships, offers, platform</a:t>
            </a:r>
            <a:endParaRPr lang="en-US" sz="1200" dirty="0"/>
          </a:p>
        </p:txBody>
      </p:sp>
      <p:sp>
        <p:nvSpPr>
          <p:cNvPr id="15" name="Arrow Mongoose"/>
          <p:cNvSpPr/>
          <p:nvPr/>
        </p:nvSpPr>
        <p:spPr>
          <a:xfrm>
            <a:off x="8092440" y="3154680"/>
            <a:ext cx="868680" cy="0"/>
          </a:xfrm>
          <a:prstGeom prst="line">
            <a:avLst/>
          </a:prstGeom>
          <a:noFill/>
          <a:ln w="28575">
            <a:solidFill>
              <a:schemeClr val="accent3"/>
            </a:solidFill>
            <a:prstDash val="solid"/>
            <a:tailEnd type="triangle"/>
          </a:ln>
        </p:spPr>
      </p:sp>
      <p:sp>
        <p:nvSpPr>
          <p:cNvPr id="16" name="Text 14"/>
          <p:cNvSpPr txBox="1"/>
          <p:nvPr/>
        </p:nvSpPr>
        <p:spPr>
          <a:xfrm>
            <a:off x="8046720" y="2587752"/>
            <a:ext cx="960120" cy="457200"/>
          </a:xfrm>
          <a:prstGeom prst="rect">
            <a:avLst/>
          </a:prstGeom>
          <a:noFill/>
          <a:ln/>
        </p:spPr>
        <p:txBody>
          <a:bodyPr wrap="square" lIns="0" tIns="0" rIns="0" bIns="0" rtlCol="0" anchor="b"/>
          <a:lstStyle/>
          <a:p>
            <a:pPr algn="ctr" indent="0" marL="0">
              <a:buNone/>
            </a:pPr>
            <a:r>
              <a:rPr lang="en-US" sz="1100" dirty="0">
                <a:solidFill>
                  <a:schemeClr val="tx2"/>
                </a:solidFill>
              </a:rPr>
              <a:t>Mongoose</a:t>
            </a:r>
            <a:endParaRPr lang="en-US" sz="1100" dirty="0"/>
          </a:p>
        </p:txBody>
      </p:sp>
      <p:sp>
        <p:nvSpPr>
          <p:cNvPr id="17" name="Text 15"/>
          <p:cNvSpPr txBox="1"/>
          <p:nvPr/>
        </p:nvSpPr>
        <p:spPr>
          <a:xfrm>
            <a:off x="8961120" y="1371600"/>
            <a:ext cx="2651760" cy="320040"/>
          </a:xfrm>
          <a:prstGeom prst="rect">
            <a:avLst/>
          </a:prstGeom>
          <a:noFill/>
          <a:ln/>
        </p:spPr>
        <p:txBody>
          <a:bodyPr wrap="square" lIns="0" tIns="0" rIns="0" bIns="0" rtlCol="0" anchor="t"/>
          <a:lstStyle/>
          <a:p>
            <a:pPr algn="ctr" indent="0" marL="0">
              <a:buNone/>
            </a:pPr>
            <a:r>
              <a:rPr lang="en-US" sz="1500" b="1" dirty="0">
                <a:solidFill>
                  <a:schemeClr val="accent3"/>
                </a:solidFill>
              </a:rPr>
              <a:t>Database</a:t>
            </a:r>
            <a:endParaRPr lang="en-US" sz="1500" dirty="0"/>
          </a:p>
        </p:txBody>
      </p:sp>
      <p:sp>
        <p:nvSpPr>
          <p:cNvPr id="18" name="Database MongoDB"/>
          <p:cNvSpPr txBox="1"/>
          <p:nvPr/>
        </p:nvSpPr>
        <p:spPr>
          <a:xfrm>
            <a:off x="8961120" y="1783080"/>
            <a:ext cx="2651760" cy="3200400"/>
          </a:xfrm>
          <a:prstGeom prst="roundRect">
            <a:avLst>
              <a:gd name="adj" fmla="val 3448"/>
            </a:avLst>
          </a:prstGeom>
          <a:solidFill>
            <a:schemeClr val="bg1"/>
          </a:solidFill>
          <a:ln w="9525">
            <a:solidFill>
              <a:srgbClr val="D9C7A8"/>
            </a:solidFill>
          </a:ln>
        </p:spPr>
        <p:txBody>
          <a:bodyPr wrap="square" lIns="1016" tIns="1016" rIns="1016" bIns="1016" rtlCol="0" anchor="ctr"/>
          <a:lstStyle/>
          <a:p>
            <a:pPr algn="ctr" indent="0" marL="0">
              <a:buNone/>
            </a:pPr>
            <a:r>
              <a:rPr lang="en-US" sz="1600" b="1" dirty="0">
                <a:solidFill>
                  <a:schemeClr val="tx1"/>
                </a:solidFill>
              </a:rPr>
              <a:t>MongoDB</a:t>
            </a:r>
            <a:endParaRPr lang="en-US" sz="1600" dirty="0"/>
          </a:p>
          <a:p>
            <a:pPr algn="ctr" indent="0" marL="0">
              <a:buNone/>
            </a:pPr>
            <a:r>
              <a:rPr lang="en-US" sz="1600" b="1" dirty="0">
                <a:solidFill>
                  <a:schemeClr val="tx1"/>
                </a:solidFill>
              </a:rPr>
              <a:t>24 collections</a:t>
            </a:r>
            <a:endParaRPr lang="en-US" sz="1600" dirty="0"/>
          </a:p>
          <a:p>
            <a:pPr algn="ctr" indent="0" marL="0">
              <a:buNone/>
            </a:pPr>
            <a:r>
              <a:rPr lang="en-US" sz="1600" b="1" dirty="0">
                <a:solidFill>
                  <a:schemeClr val="tx1"/>
                </a:solidFill>
              </a:rPr>
              <a:t>Replica set (transactions)</a:t>
            </a:r>
            <a:endParaRPr lang="en-US" sz="1600" dirty="0"/>
          </a:p>
        </p:txBody>
      </p:sp>
      <p:sp>
        <p:nvSpPr>
          <p:cNvPr id="19" name="External services panel"/>
          <p:cNvSpPr/>
          <p:nvPr/>
        </p:nvSpPr>
        <p:spPr>
          <a:xfrm>
            <a:off x="4023360" y="5257800"/>
            <a:ext cx="7589520" cy="960120"/>
          </a:xfrm>
          <a:prstGeom prst="roundRect">
            <a:avLst>
              <a:gd name="adj" fmla="val 11429"/>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20" name="Text 18"/>
          <p:cNvSpPr txBox="1"/>
          <p:nvPr/>
        </p:nvSpPr>
        <p:spPr>
          <a:xfrm>
            <a:off x="4251960" y="5321808"/>
            <a:ext cx="7223760" cy="822960"/>
          </a:xfrm>
          <a:prstGeom prst="rect">
            <a:avLst/>
          </a:prstGeom>
          <a:noFill/>
          <a:ln/>
        </p:spPr>
        <p:txBody>
          <a:bodyPr wrap="square" lIns="0" tIns="0" rIns="0" bIns="0" rtlCol="0" anchor="ctr"/>
          <a:lstStyle/>
          <a:p>
            <a:pPr indent="0" marL="0">
              <a:buNone/>
            </a:pPr>
            <a:r>
              <a:rPr lang="en-US" sz="1300" b="1" dirty="0">
                <a:solidFill>
                  <a:schemeClr val="tx1"/>
                </a:solidFill>
              </a:rPr>
              <a:t>Email (SMTP via Nodemailer) and SMS / OTP (Twilio adapter)</a:t>
            </a:r>
            <a:endParaRPr lang="en-US" sz="1300" dirty="0"/>
          </a:p>
          <a:p>
            <a:pPr indent="0" marL="0">
              <a:buNone/>
            </a:pPr>
            <a:r>
              <a:rPr lang="en-US" sz="1300" dirty="0">
                <a:solidFill>
                  <a:schemeClr val="tx1"/>
                </a:solidFill>
              </a:rPr>
              <a:t>In development, codes are written to a local log instead of being sent.</a:t>
            </a:r>
            <a:endParaRPr lang="en-US" sz="1300" dirty="0"/>
          </a:p>
        </p:txBody>
      </p:sp>
      <p:sp>
        <p:nvSpPr>
          <p:cNvPr id="21" name="Text 19"/>
          <p:cNvSpPr txBox="1"/>
          <p:nvPr/>
        </p:nvSpPr>
        <p:spPr>
          <a:xfrm>
            <a:off x="548640" y="5257800"/>
            <a:ext cx="3200400" cy="914400"/>
          </a:xfrm>
          <a:prstGeom prst="rect">
            <a:avLst/>
          </a:prstGeom>
          <a:noFill/>
          <a:ln/>
        </p:spPr>
        <p:txBody>
          <a:bodyPr wrap="square" lIns="0" tIns="0" rIns="0" bIns="0" rtlCol="0" anchor="ctr"/>
          <a:lstStyle/>
          <a:p>
            <a:pPr indent="0" marL="0">
              <a:buNone/>
            </a:pPr>
            <a:r>
              <a:rPr lang="en-US" sz="1400" dirty="0">
                <a:solidFill>
                  <a:schemeClr val="tx2"/>
                </a:solidFill>
              </a:rPr>
              <a:t>The website and the mobile app share the same API.</a:t>
            </a:r>
            <a:endParaRPr lang="en-US" sz="14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Database design</a:t>
            </a:r>
            <a:endParaRPr lang="en-US" sz="3400" dirty="0"/>
          </a:p>
        </p:txBody>
      </p:sp>
      <p:sp>
        <p:nvSpPr>
          <p:cNvPr id="3" name="Link to User  (via Membership role)"/>
          <p:cNvSpPr/>
          <p:nvPr/>
        </p:nvSpPr>
        <p:spPr>
          <a:xfrm>
            <a:off x="1371600" y="1691640"/>
            <a:ext cx="1920240" cy="2057400"/>
          </a:xfrm>
          <a:prstGeom prst="line">
            <a:avLst/>
          </a:prstGeom>
          <a:noFill/>
          <a:ln w="19050">
            <a:solidFill>
              <a:srgbClr val="D9C7A8"/>
            </a:solidFill>
            <a:prstDash val="solid"/>
          </a:ln>
        </p:spPr>
      </p:sp>
      <p:sp>
        <p:nvSpPr>
          <p:cNvPr id="4" name="Link to Branch (hours)"/>
          <p:cNvSpPr/>
          <p:nvPr/>
        </p:nvSpPr>
        <p:spPr>
          <a:xfrm flipH="1">
            <a:off x="3291840" y="1691640"/>
            <a:ext cx="274320" cy="2057400"/>
          </a:xfrm>
          <a:prstGeom prst="line">
            <a:avLst/>
          </a:prstGeom>
          <a:noFill/>
          <a:ln w="19050">
            <a:solidFill>
              <a:srgbClr val="D9C7A8"/>
            </a:solidFill>
            <a:prstDash val="solid"/>
          </a:ln>
        </p:spPr>
      </p:sp>
      <p:sp>
        <p:nvSpPr>
          <p:cNvPr id="5" name="Link to Service"/>
          <p:cNvSpPr/>
          <p:nvPr/>
        </p:nvSpPr>
        <p:spPr>
          <a:xfrm flipH="1">
            <a:off x="3291840" y="1691640"/>
            <a:ext cx="2468880" cy="2057400"/>
          </a:xfrm>
          <a:prstGeom prst="line">
            <a:avLst/>
          </a:prstGeom>
          <a:noFill/>
          <a:ln w="19050">
            <a:solidFill>
              <a:srgbClr val="D9C7A8"/>
            </a:solidFill>
            <a:prstDash val="solid"/>
          </a:ln>
        </p:spPr>
      </p:sp>
      <p:sp>
        <p:nvSpPr>
          <p:cNvPr id="6" name="Link to Staff"/>
          <p:cNvSpPr/>
          <p:nvPr/>
        </p:nvSpPr>
        <p:spPr>
          <a:xfrm>
            <a:off x="1371600" y="3703320"/>
            <a:ext cx="1920240" cy="45720"/>
          </a:xfrm>
          <a:prstGeom prst="line">
            <a:avLst/>
          </a:prstGeom>
          <a:noFill/>
          <a:ln w="19050">
            <a:solidFill>
              <a:srgbClr val="D9C7A8"/>
            </a:solidFill>
            <a:prstDash val="solid"/>
          </a:ln>
        </p:spPr>
      </p:sp>
      <p:sp>
        <p:nvSpPr>
          <p:cNvPr id="7" name="Link to Offer"/>
          <p:cNvSpPr/>
          <p:nvPr/>
        </p:nvSpPr>
        <p:spPr>
          <a:xfrm flipH="1">
            <a:off x="3291840" y="3703320"/>
            <a:ext cx="2468880" cy="45720"/>
          </a:xfrm>
          <a:prstGeom prst="line">
            <a:avLst/>
          </a:prstGeom>
          <a:noFill/>
          <a:ln w="19050">
            <a:solidFill>
              <a:srgbClr val="D9C7A8"/>
            </a:solidFill>
            <a:prstDash val="solid"/>
          </a:ln>
        </p:spPr>
      </p:sp>
      <p:sp>
        <p:nvSpPr>
          <p:cNvPr id="8" name="Link to Customer"/>
          <p:cNvSpPr/>
          <p:nvPr/>
        </p:nvSpPr>
        <p:spPr>
          <a:xfrm flipH="1">
            <a:off x="1371600" y="3749040"/>
            <a:ext cx="1920240" cy="1097280"/>
          </a:xfrm>
          <a:prstGeom prst="line">
            <a:avLst/>
          </a:prstGeom>
          <a:noFill/>
          <a:ln w="19050">
            <a:solidFill>
              <a:srgbClr val="D9C7A8"/>
            </a:solidFill>
            <a:prstDash val="solid"/>
          </a:ln>
        </p:spPr>
      </p:sp>
      <p:sp>
        <p:nvSpPr>
          <p:cNvPr id="9" name="Link to Booking"/>
          <p:cNvSpPr/>
          <p:nvPr/>
        </p:nvSpPr>
        <p:spPr>
          <a:xfrm flipH="1">
            <a:off x="3154680" y="3749040"/>
            <a:ext cx="137160" cy="1783080"/>
          </a:xfrm>
          <a:prstGeom prst="line">
            <a:avLst/>
          </a:prstGeom>
          <a:noFill/>
          <a:ln w="19050">
            <a:solidFill>
              <a:srgbClr val="D9C7A8"/>
            </a:solidFill>
            <a:prstDash val="solid"/>
          </a:ln>
        </p:spPr>
      </p:sp>
      <p:sp>
        <p:nvSpPr>
          <p:cNvPr id="10" name="Link to Invoice  &gt;  Payment"/>
          <p:cNvSpPr/>
          <p:nvPr/>
        </p:nvSpPr>
        <p:spPr>
          <a:xfrm>
            <a:off x="3291840" y="3749040"/>
            <a:ext cx="1645920" cy="1783080"/>
          </a:xfrm>
          <a:prstGeom prst="line">
            <a:avLst/>
          </a:prstGeom>
          <a:noFill/>
          <a:ln w="19050">
            <a:solidFill>
              <a:srgbClr val="D9C7A8"/>
            </a:solidFill>
            <a:prstDash val="solid"/>
          </a:ln>
        </p:spPr>
      </p:sp>
      <p:sp>
        <p:nvSpPr>
          <p:cNvPr id="11" name="Link to Package  &gt;  CustomerPackage"/>
          <p:cNvSpPr/>
          <p:nvPr/>
        </p:nvSpPr>
        <p:spPr>
          <a:xfrm>
            <a:off x="3291840" y="3749040"/>
            <a:ext cx="2468880" cy="1097280"/>
          </a:xfrm>
          <a:prstGeom prst="line">
            <a:avLst/>
          </a:prstGeom>
          <a:noFill/>
          <a:ln w="19050">
            <a:solidFill>
              <a:srgbClr val="D9C7A8"/>
            </a:solidFill>
            <a:prstDash val="solid"/>
          </a:ln>
        </p:spPr>
      </p:sp>
      <p:sp>
        <p:nvSpPr>
          <p:cNvPr id="12" name="Collection User  (via Membership role)"/>
          <p:cNvSpPr txBox="1"/>
          <p:nvPr/>
        </p:nvSpPr>
        <p:spPr>
          <a:xfrm>
            <a:off x="548640" y="1417320"/>
            <a:ext cx="1645920" cy="548640"/>
          </a:xfrm>
          <a:prstGeom prst="roundRect">
            <a:avLst>
              <a:gd name="adj" fmla="val 16667"/>
            </a:avLst>
          </a:prstGeom>
          <a:solidFill>
            <a:schemeClr val="bg1"/>
          </a:solidFill>
          <a:ln w="12700">
            <a:solidFill>
              <a:schemeClr val="accent2"/>
            </a:solidFill>
          </a:ln>
        </p:spPr>
        <p:txBody>
          <a:bodyPr wrap="square" lIns="508" tIns="508" rIns="508" bIns="508" rtlCol="0" anchor="ctr"/>
          <a:lstStyle/>
          <a:p>
            <a:pPr algn="ctr" indent="0" marL="0">
              <a:buNone/>
            </a:pPr>
            <a:r>
              <a:rPr lang="en-US" sz="1200" b="1" dirty="0">
                <a:solidFill>
                  <a:schemeClr val="tx1"/>
                </a:solidFill>
              </a:rPr>
              <a:t>User  (via Membership role)</a:t>
            </a:r>
            <a:endParaRPr lang="en-US" sz="1200" dirty="0"/>
          </a:p>
        </p:txBody>
      </p:sp>
      <p:sp>
        <p:nvSpPr>
          <p:cNvPr id="13" name="Collection Branch (hours)"/>
          <p:cNvSpPr txBox="1"/>
          <p:nvPr/>
        </p:nvSpPr>
        <p:spPr>
          <a:xfrm>
            <a:off x="2743200" y="1417320"/>
            <a:ext cx="1645920" cy="548640"/>
          </a:xfrm>
          <a:prstGeom prst="roundRect">
            <a:avLst>
              <a:gd name="adj" fmla="val 16667"/>
            </a:avLst>
          </a:prstGeom>
          <a:solidFill>
            <a:schemeClr val="bg1"/>
          </a:solidFill>
          <a:ln w="12700">
            <a:solidFill>
              <a:schemeClr val="accent2"/>
            </a:solidFill>
          </a:ln>
        </p:spPr>
        <p:txBody>
          <a:bodyPr wrap="square" lIns="508" tIns="508" rIns="508" bIns="508" rtlCol="0" anchor="ctr"/>
          <a:lstStyle/>
          <a:p>
            <a:pPr algn="ctr" indent="0" marL="0">
              <a:buNone/>
            </a:pPr>
            <a:r>
              <a:rPr lang="en-US" sz="1200" b="1" dirty="0">
                <a:solidFill>
                  <a:schemeClr val="tx1"/>
                </a:solidFill>
              </a:rPr>
              <a:t>Branch (hours)</a:t>
            </a:r>
            <a:endParaRPr lang="en-US" sz="1200" dirty="0"/>
          </a:p>
        </p:txBody>
      </p:sp>
      <p:sp>
        <p:nvSpPr>
          <p:cNvPr id="14" name="Collection Service"/>
          <p:cNvSpPr txBox="1"/>
          <p:nvPr/>
        </p:nvSpPr>
        <p:spPr>
          <a:xfrm>
            <a:off x="4937760" y="1417320"/>
            <a:ext cx="1645920" cy="548640"/>
          </a:xfrm>
          <a:prstGeom prst="roundRect">
            <a:avLst>
              <a:gd name="adj" fmla="val 16667"/>
            </a:avLst>
          </a:prstGeom>
          <a:solidFill>
            <a:schemeClr val="bg1"/>
          </a:solidFill>
          <a:ln w="12700">
            <a:solidFill>
              <a:schemeClr val="accent2"/>
            </a:solidFill>
          </a:ln>
        </p:spPr>
        <p:txBody>
          <a:bodyPr wrap="square" lIns="508" tIns="508" rIns="508" bIns="508" rtlCol="0" anchor="ctr"/>
          <a:lstStyle/>
          <a:p>
            <a:pPr algn="ctr" indent="0" marL="0">
              <a:buNone/>
            </a:pPr>
            <a:r>
              <a:rPr lang="en-US" sz="1200" b="1" dirty="0">
                <a:solidFill>
                  <a:schemeClr val="tx1"/>
                </a:solidFill>
              </a:rPr>
              <a:t>Service</a:t>
            </a:r>
            <a:endParaRPr lang="en-US" sz="1200" dirty="0"/>
          </a:p>
        </p:txBody>
      </p:sp>
      <p:sp>
        <p:nvSpPr>
          <p:cNvPr id="15" name="Collection Staff"/>
          <p:cNvSpPr txBox="1"/>
          <p:nvPr/>
        </p:nvSpPr>
        <p:spPr>
          <a:xfrm>
            <a:off x="548640" y="3429000"/>
            <a:ext cx="1645920" cy="548640"/>
          </a:xfrm>
          <a:prstGeom prst="roundRect">
            <a:avLst>
              <a:gd name="adj" fmla="val 16667"/>
            </a:avLst>
          </a:prstGeom>
          <a:solidFill>
            <a:schemeClr val="bg1"/>
          </a:solidFill>
          <a:ln w="12700">
            <a:solidFill>
              <a:schemeClr val="accent2"/>
            </a:solidFill>
          </a:ln>
        </p:spPr>
        <p:txBody>
          <a:bodyPr wrap="square" lIns="508" tIns="508" rIns="508" bIns="508" rtlCol="0" anchor="ctr"/>
          <a:lstStyle/>
          <a:p>
            <a:pPr algn="ctr" indent="0" marL="0">
              <a:buNone/>
            </a:pPr>
            <a:r>
              <a:rPr lang="en-US" sz="1200" b="1" dirty="0">
                <a:solidFill>
                  <a:schemeClr val="tx1"/>
                </a:solidFill>
              </a:rPr>
              <a:t>Staff</a:t>
            </a:r>
            <a:endParaRPr lang="en-US" sz="1200" dirty="0"/>
          </a:p>
        </p:txBody>
      </p:sp>
      <p:sp>
        <p:nvSpPr>
          <p:cNvPr id="16" name="Collection Offer"/>
          <p:cNvSpPr txBox="1"/>
          <p:nvPr/>
        </p:nvSpPr>
        <p:spPr>
          <a:xfrm>
            <a:off x="4937760" y="3429000"/>
            <a:ext cx="1645920" cy="548640"/>
          </a:xfrm>
          <a:prstGeom prst="roundRect">
            <a:avLst>
              <a:gd name="adj" fmla="val 16667"/>
            </a:avLst>
          </a:prstGeom>
          <a:solidFill>
            <a:schemeClr val="bg1"/>
          </a:solidFill>
          <a:ln w="12700">
            <a:solidFill>
              <a:schemeClr val="accent2"/>
            </a:solidFill>
          </a:ln>
        </p:spPr>
        <p:txBody>
          <a:bodyPr wrap="square" lIns="508" tIns="508" rIns="508" bIns="508" rtlCol="0" anchor="ctr"/>
          <a:lstStyle/>
          <a:p>
            <a:pPr algn="ctr" indent="0" marL="0">
              <a:buNone/>
            </a:pPr>
            <a:r>
              <a:rPr lang="en-US" sz="1200" b="1" dirty="0">
                <a:solidFill>
                  <a:schemeClr val="tx1"/>
                </a:solidFill>
              </a:rPr>
              <a:t>Offer</a:t>
            </a:r>
            <a:endParaRPr lang="en-US" sz="1200" dirty="0"/>
          </a:p>
        </p:txBody>
      </p:sp>
      <p:sp>
        <p:nvSpPr>
          <p:cNvPr id="17" name="Collection Customer"/>
          <p:cNvSpPr txBox="1"/>
          <p:nvPr/>
        </p:nvSpPr>
        <p:spPr>
          <a:xfrm>
            <a:off x="548640" y="4572000"/>
            <a:ext cx="1645920" cy="548640"/>
          </a:xfrm>
          <a:prstGeom prst="roundRect">
            <a:avLst>
              <a:gd name="adj" fmla="val 16667"/>
            </a:avLst>
          </a:prstGeom>
          <a:solidFill>
            <a:schemeClr val="bg1"/>
          </a:solidFill>
          <a:ln w="12700">
            <a:solidFill>
              <a:schemeClr val="accent2"/>
            </a:solidFill>
          </a:ln>
        </p:spPr>
        <p:txBody>
          <a:bodyPr wrap="square" lIns="508" tIns="508" rIns="508" bIns="508" rtlCol="0" anchor="ctr"/>
          <a:lstStyle/>
          <a:p>
            <a:pPr algn="ctr" indent="0" marL="0">
              <a:buNone/>
            </a:pPr>
            <a:r>
              <a:rPr lang="en-US" sz="1200" b="1" dirty="0">
                <a:solidFill>
                  <a:schemeClr val="tx1"/>
                </a:solidFill>
              </a:rPr>
              <a:t>Customer</a:t>
            </a:r>
            <a:endParaRPr lang="en-US" sz="1200" dirty="0"/>
          </a:p>
        </p:txBody>
      </p:sp>
      <p:sp>
        <p:nvSpPr>
          <p:cNvPr id="18" name="Collection Booking"/>
          <p:cNvSpPr txBox="1"/>
          <p:nvPr/>
        </p:nvSpPr>
        <p:spPr>
          <a:xfrm>
            <a:off x="2331720" y="5257800"/>
            <a:ext cx="1645920" cy="548640"/>
          </a:xfrm>
          <a:prstGeom prst="roundRect">
            <a:avLst>
              <a:gd name="adj" fmla="val 16667"/>
            </a:avLst>
          </a:prstGeom>
          <a:solidFill>
            <a:schemeClr val="bg1"/>
          </a:solidFill>
          <a:ln w="12700">
            <a:solidFill>
              <a:schemeClr val="accent2"/>
            </a:solidFill>
          </a:ln>
        </p:spPr>
        <p:txBody>
          <a:bodyPr wrap="square" lIns="508" tIns="508" rIns="508" bIns="508" rtlCol="0" anchor="ctr"/>
          <a:lstStyle/>
          <a:p>
            <a:pPr algn="ctr" indent="0" marL="0">
              <a:buNone/>
            </a:pPr>
            <a:r>
              <a:rPr lang="en-US" sz="1200" b="1" dirty="0">
                <a:solidFill>
                  <a:schemeClr val="tx1"/>
                </a:solidFill>
              </a:rPr>
              <a:t>Booking</a:t>
            </a:r>
            <a:endParaRPr lang="en-US" sz="1200" dirty="0"/>
          </a:p>
        </p:txBody>
      </p:sp>
      <p:sp>
        <p:nvSpPr>
          <p:cNvPr id="19" name="Collection Invoice  &amp;gt;  Payment"/>
          <p:cNvSpPr txBox="1"/>
          <p:nvPr/>
        </p:nvSpPr>
        <p:spPr>
          <a:xfrm>
            <a:off x="4114800" y="5257800"/>
            <a:ext cx="1645920" cy="548640"/>
          </a:xfrm>
          <a:prstGeom prst="roundRect">
            <a:avLst>
              <a:gd name="adj" fmla="val 16667"/>
            </a:avLst>
          </a:prstGeom>
          <a:solidFill>
            <a:schemeClr val="bg1"/>
          </a:solidFill>
          <a:ln w="12700">
            <a:solidFill>
              <a:schemeClr val="accent2"/>
            </a:solidFill>
          </a:ln>
        </p:spPr>
        <p:txBody>
          <a:bodyPr wrap="square" lIns="508" tIns="508" rIns="508" bIns="508" rtlCol="0" anchor="ctr"/>
          <a:lstStyle/>
          <a:p>
            <a:pPr algn="ctr" indent="0" marL="0">
              <a:buNone/>
            </a:pPr>
            <a:r>
              <a:rPr lang="en-US" sz="1200" b="1" dirty="0">
                <a:solidFill>
                  <a:schemeClr val="tx1"/>
                </a:solidFill>
              </a:rPr>
              <a:t>Invoice  &gt;  Payment</a:t>
            </a:r>
            <a:endParaRPr lang="en-US" sz="1200" dirty="0"/>
          </a:p>
        </p:txBody>
      </p:sp>
      <p:sp>
        <p:nvSpPr>
          <p:cNvPr id="20" name="Collection Package  &amp;gt;  CustomerPackage"/>
          <p:cNvSpPr txBox="1"/>
          <p:nvPr/>
        </p:nvSpPr>
        <p:spPr>
          <a:xfrm>
            <a:off x="4937760" y="4572000"/>
            <a:ext cx="1645920" cy="548640"/>
          </a:xfrm>
          <a:prstGeom prst="roundRect">
            <a:avLst>
              <a:gd name="adj" fmla="val 16667"/>
            </a:avLst>
          </a:prstGeom>
          <a:solidFill>
            <a:schemeClr val="bg1"/>
          </a:solidFill>
          <a:ln w="12700">
            <a:solidFill>
              <a:schemeClr val="accent2"/>
            </a:solidFill>
          </a:ln>
        </p:spPr>
        <p:txBody>
          <a:bodyPr wrap="square" lIns="508" tIns="508" rIns="508" bIns="508" rtlCol="0" anchor="ctr"/>
          <a:lstStyle/>
          <a:p>
            <a:pPr algn="ctr" indent="0" marL="0">
              <a:buNone/>
            </a:pPr>
            <a:r>
              <a:rPr lang="en-US" sz="1200" b="1" dirty="0">
                <a:solidFill>
                  <a:schemeClr val="tx1"/>
                </a:solidFill>
              </a:rPr>
              <a:t>Package  &gt;  CustomerPackage</a:t>
            </a:r>
            <a:endParaRPr lang="en-US" sz="1200" dirty="0"/>
          </a:p>
        </p:txBody>
      </p:sp>
      <p:sp>
        <p:nvSpPr>
          <p:cNvPr id="21" name="Collection Salon (tenant)"/>
          <p:cNvSpPr txBox="1"/>
          <p:nvPr/>
        </p:nvSpPr>
        <p:spPr>
          <a:xfrm>
            <a:off x="2606040" y="3383280"/>
            <a:ext cx="1371600" cy="731520"/>
          </a:xfrm>
          <a:prstGeom prst="ellipse">
            <a:avLst/>
          </a:prstGeom>
          <a:solidFill>
            <a:schemeClr val="tx1"/>
          </a:solidFill>
          <a:ln w="25400">
            <a:solidFill>
              <a:schemeClr val="accent1"/>
            </a:solidFill>
          </a:ln>
        </p:spPr>
        <p:txBody>
          <a:bodyPr wrap="square" lIns="0" tIns="0" rIns="0" bIns="0" rtlCol="0" anchor="ctr"/>
          <a:lstStyle/>
          <a:p>
            <a:pPr algn="ctr" indent="0" marL="0">
              <a:buNone/>
            </a:pPr>
            <a:r>
              <a:rPr lang="en-US" sz="2000" b="1" dirty="0">
                <a:solidFill>
                  <a:schemeClr val="accent1"/>
                </a:solidFill>
              </a:rPr>
              <a:t>Salon</a:t>
            </a:r>
            <a:endParaRPr lang="en-US" sz="2000" dirty="0"/>
          </a:p>
        </p:txBody>
      </p:sp>
      <p:sp>
        <p:nvSpPr>
          <p:cNvPr id="22" name="Text 20"/>
          <p:cNvSpPr txBox="1"/>
          <p:nvPr/>
        </p:nvSpPr>
        <p:spPr>
          <a:xfrm>
            <a:off x="548640" y="5943600"/>
            <a:ext cx="6035040" cy="457200"/>
          </a:xfrm>
          <a:prstGeom prst="rect">
            <a:avLst/>
          </a:prstGeom>
          <a:noFill/>
          <a:ln/>
        </p:spPr>
        <p:txBody>
          <a:bodyPr wrap="square" lIns="0" tIns="0" rIns="0" bIns="0" rtlCol="0" anchor="t"/>
          <a:lstStyle/>
          <a:p>
            <a:pPr indent="0" marL="0">
              <a:buNone/>
            </a:pPr>
            <a:r>
              <a:rPr lang="en-US" sz="1200" dirty="0">
                <a:solidFill>
                  <a:schemeClr val="tx2"/>
                </a:solidFill>
              </a:rPr>
              <a:t>Every record that belongs to a salon stores its salonId, so one salon never sees another salon's data.</a:t>
            </a:r>
            <a:endParaRPr lang="en-US" sz="1200" dirty="0"/>
          </a:p>
        </p:txBody>
      </p:sp>
      <p:sp>
        <p:nvSpPr>
          <p:cNvPr id="23" name="Collections list card"/>
          <p:cNvSpPr/>
          <p:nvPr/>
        </p:nvSpPr>
        <p:spPr>
          <a:xfrm>
            <a:off x="7040880" y="1371600"/>
            <a:ext cx="4572000" cy="4846320"/>
          </a:xfrm>
          <a:prstGeom prst="roundRect">
            <a:avLst>
              <a:gd name="adj" fmla="val 2400"/>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24" name="Text 22"/>
          <p:cNvSpPr txBox="1"/>
          <p:nvPr/>
        </p:nvSpPr>
        <p:spPr>
          <a:xfrm>
            <a:off x="7269480" y="1508760"/>
            <a:ext cx="4114800" cy="365760"/>
          </a:xfrm>
          <a:prstGeom prst="rect">
            <a:avLst/>
          </a:prstGeom>
          <a:noFill/>
          <a:ln/>
        </p:spPr>
        <p:txBody>
          <a:bodyPr wrap="square" lIns="0" tIns="0" rIns="0" bIns="0" rtlCol="0" anchor="t"/>
          <a:lstStyle/>
          <a:p>
            <a:pPr indent="0" marL="0">
              <a:buNone/>
            </a:pPr>
            <a:r>
              <a:rPr lang="en-US" sz="1800" b="1" dirty="0">
                <a:solidFill>
                  <a:schemeClr val="tx1"/>
                </a:solidFill>
              </a:rPr>
              <a:t>24 collections in 7 groups</a:t>
            </a:r>
            <a:endParaRPr lang="en-US" sz="1800" dirty="0"/>
          </a:p>
        </p:txBody>
      </p:sp>
      <p:sp>
        <p:nvSpPr>
          <p:cNvPr id="25" name="Text 23"/>
          <p:cNvSpPr txBox="1"/>
          <p:nvPr/>
        </p:nvSpPr>
        <p:spPr>
          <a:xfrm>
            <a:off x="7269480" y="1965960"/>
            <a:ext cx="4160520" cy="4160520"/>
          </a:xfrm>
          <a:prstGeom prst="rect">
            <a:avLst/>
          </a:prstGeom>
          <a:noFill/>
          <a:ln/>
        </p:spPr>
        <p:txBody>
          <a:bodyPr wrap="square" lIns="0" tIns="0" rIns="0" bIns="0" rtlCol="0" anchor="t"/>
          <a:lstStyle/>
          <a:p>
            <a:pPr indent="0" marL="0">
              <a:buNone/>
            </a:pPr>
            <a:r>
              <a:rPr lang="en-US" sz="1300" b="1" dirty="0">
                <a:solidFill>
                  <a:srgbClr val="8B5E3C"/>
                </a:solidFill>
              </a:rPr>
              <a:t>Core (6)</a:t>
            </a:r>
            <a:endParaRPr lang="en-US" sz="1300" dirty="0"/>
          </a:p>
          <a:p>
            <a:pPr indent="0" marL="0">
              <a:spcAft>
                <a:spcPts val="600"/>
              </a:spcAft>
              <a:buNone/>
            </a:pPr>
            <a:r>
              <a:rPr lang="en-US" sz="1300" dirty="0">
                <a:solidFill>
                  <a:schemeClr val="tx1"/>
                </a:solidFill>
              </a:rPr>
              <a:t>User, Salon, Branch, Membership, Session, VerificationToken</a:t>
            </a:r>
            <a:endParaRPr lang="en-US" sz="1300" dirty="0"/>
          </a:p>
          <a:p>
            <a:pPr indent="0" marL="0">
              <a:buNone/>
            </a:pPr>
            <a:r>
              <a:rPr lang="en-US" sz="1300" b="1" dirty="0">
                <a:solidFill>
                  <a:srgbClr val="8B5E3C"/>
                </a:solidFill>
              </a:rPr>
              <a:t>Catalogue (3)</a:t>
            </a:r>
            <a:endParaRPr lang="en-US" sz="1300" dirty="0"/>
          </a:p>
          <a:p>
            <a:pPr indent="0" marL="0">
              <a:spcAft>
                <a:spcPts val="600"/>
              </a:spcAft>
              <a:buNone/>
            </a:pPr>
            <a:r>
              <a:rPr lang="en-US" sz="1300" dirty="0">
                <a:solidFill>
                  <a:schemeClr val="tx1"/>
                </a:solidFill>
              </a:rPr>
              <a:t>Service, Staff, Offer</a:t>
            </a:r>
            <a:endParaRPr lang="en-US" sz="1300" dirty="0"/>
          </a:p>
          <a:p>
            <a:pPr indent="0" marL="0">
              <a:buNone/>
            </a:pPr>
            <a:r>
              <a:rPr lang="en-US" sz="1300" b="1" dirty="0">
                <a:solidFill>
                  <a:srgbClr val="8B5E3C"/>
                </a:solidFill>
              </a:rPr>
              <a:t>Customers &amp; booking (3)</a:t>
            </a:r>
            <a:endParaRPr lang="en-US" sz="1300" dirty="0"/>
          </a:p>
          <a:p>
            <a:pPr indent="0" marL="0">
              <a:spcAft>
                <a:spcPts val="600"/>
              </a:spcAft>
              <a:buNone/>
            </a:pPr>
            <a:r>
              <a:rPr lang="en-US" sz="1300" dirty="0">
                <a:solidFill>
                  <a:schemeClr val="tx1"/>
                </a:solidFill>
              </a:rPr>
              <a:t>Customer, CustomerOtp, Booking</a:t>
            </a:r>
            <a:endParaRPr lang="en-US" sz="1300" dirty="0"/>
          </a:p>
          <a:p>
            <a:pPr indent="0" marL="0">
              <a:buNone/>
            </a:pPr>
            <a:r>
              <a:rPr lang="en-US" sz="1300" b="1" dirty="0">
                <a:solidFill>
                  <a:srgbClr val="8B5E3C"/>
                </a:solidFill>
              </a:rPr>
              <a:t>Packages (3)</a:t>
            </a:r>
            <a:endParaRPr lang="en-US" sz="1300" dirty="0"/>
          </a:p>
          <a:p>
            <a:pPr indent="0" marL="0">
              <a:spcAft>
                <a:spcPts val="600"/>
              </a:spcAft>
              <a:buNone/>
            </a:pPr>
            <a:r>
              <a:rPr lang="en-US" sz="1300" dirty="0">
                <a:solidFill>
                  <a:schemeClr val="tx1"/>
                </a:solidFill>
              </a:rPr>
              <a:t>Package, CustomerPackage, PackageLedger</a:t>
            </a:r>
            <a:endParaRPr lang="en-US" sz="1300" dirty="0"/>
          </a:p>
          <a:p>
            <a:pPr indent="0" marL="0">
              <a:buNone/>
            </a:pPr>
            <a:r>
              <a:rPr lang="en-US" sz="1300" b="1" dirty="0">
                <a:solidFill>
                  <a:srgbClr val="8B5E3C"/>
                </a:solidFill>
              </a:rPr>
              <a:t>Memberships (3)</a:t>
            </a:r>
            <a:endParaRPr lang="en-US" sz="1300" dirty="0"/>
          </a:p>
          <a:p>
            <a:pPr indent="0" marL="0">
              <a:spcAft>
                <a:spcPts val="600"/>
              </a:spcAft>
              <a:buNone/>
            </a:pPr>
            <a:r>
              <a:rPr lang="en-US" sz="1300" dirty="0">
                <a:solidFill>
                  <a:schemeClr val="tx1"/>
                </a:solidFill>
              </a:rPr>
              <a:t>MembershipPlan, CustomerMembership, MembershipLedger</a:t>
            </a:r>
            <a:endParaRPr lang="en-US" sz="1300" dirty="0"/>
          </a:p>
          <a:p>
            <a:pPr indent="0" marL="0">
              <a:buNone/>
            </a:pPr>
            <a:r>
              <a:rPr lang="en-US" sz="1300" b="1" dirty="0">
                <a:solidFill>
                  <a:srgbClr val="8B5E3C"/>
                </a:solidFill>
              </a:rPr>
              <a:t>Billing (3)</a:t>
            </a:r>
            <a:endParaRPr lang="en-US" sz="1300" dirty="0"/>
          </a:p>
          <a:p>
            <a:pPr indent="0" marL="0">
              <a:spcAft>
                <a:spcPts val="600"/>
              </a:spcAft>
              <a:buNone/>
            </a:pPr>
            <a:r>
              <a:rPr lang="en-US" sz="1300" dirty="0">
                <a:solidFill>
                  <a:schemeClr val="tx1"/>
                </a:solidFill>
              </a:rPr>
              <a:t>Invoice, Payment, InvoiceCounter</a:t>
            </a:r>
            <a:endParaRPr lang="en-US" sz="1300" dirty="0"/>
          </a:p>
          <a:p>
            <a:pPr indent="0" marL="0">
              <a:buNone/>
            </a:pPr>
            <a:r>
              <a:rPr lang="en-US" sz="1300" b="1" dirty="0">
                <a:solidFill>
                  <a:srgbClr val="8B5E3C"/>
                </a:solidFill>
              </a:rPr>
              <a:t>Operations (3)</a:t>
            </a:r>
            <a:endParaRPr lang="en-US" sz="1300" dirty="0"/>
          </a:p>
          <a:p>
            <a:pPr indent="0" marL="0">
              <a:spcAft>
                <a:spcPts val="600"/>
              </a:spcAft>
              <a:buNone/>
            </a:pPr>
            <a:r>
              <a:rPr lang="en-US" sz="1300" dirty="0">
                <a:solidFill>
                  <a:schemeClr val="tx1"/>
                </a:solidFill>
              </a:rPr>
              <a:t>Notification, AuditEvent, ContactInquiry</a:t>
            </a:r>
            <a:endParaRPr lang="en-US" sz="13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Security &amp; authentication</a:t>
            </a:r>
            <a:endParaRPr lang="en-US" sz="3400" dirty="0"/>
          </a:p>
        </p:txBody>
      </p:sp>
      <p:sp>
        <p:nvSpPr>
          <p:cNvPr id="3" name="Auth step Login"/>
          <p:cNvSpPr/>
          <p:nvPr/>
        </p:nvSpPr>
        <p:spPr>
          <a:xfrm>
            <a:off x="548640" y="1371600"/>
            <a:ext cx="4937760" cy="868680"/>
          </a:xfrm>
          <a:prstGeom prst="roundRect">
            <a:avLst>
              <a:gd name="adj" fmla="val 12632"/>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4" name="Step number 1"/>
          <p:cNvSpPr txBox="1"/>
          <p:nvPr/>
        </p:nvSpPr>
        <p:spPr>
          <a:xfrm>
            <a:off x="713232" y="1554480"/>
            <a:ext cx="502920" cy="502920"/>
          </a:xfrm>
          <a:prstGeom prst="ellipse">
            <a:avLst/>
          </a:prstGeom>
          <a:solidFill>
            <a:schemeClr val="tx1"/>
          </a:solidFill>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5" name="Text 3"/>
          <p:cNvSpPr txBox="1"/>
          <p:nvPr/>
        </p:nvSpPr>
        <p:spPr>
          <a:xfrm>
            <a:off x="1417320" y="1463040"/>
            <a:ext cx="3931920" cy="274320"/>
          </a:xfrm>
          <a:prstGeom prst="rect">
            <a:avLst/>
          </a:prstGeom>
          <a:noFill/>
          <a:ln/>
        </p:spPr>
        <p:txBody>
          <a:bodyPr wrap="square" lIns="0" tIns="0" rIns="0" bIns="0" rtlCol="0" anchor="t"/>
          <a:lstStyle/>
          <a:p>
            <a:pPr indent="0" marL="0">
              <a:buNone/>
            </a:pPr>
            <a:r>
              <a:rPr lang="en-US" sz="1500" b="1" dirty="0">
                <a:solidFill>
                  <a:schemeClr val="tx1"/>
                </a:solidFill>
              </a:rPr>
              <a:t>Login</a:t>
            </a:r>
            <a:endParaRPr lang="en-US" sz="1500" dirty="0"/>
          </a:p>
        </p:txBody>
      </p:sp>
      <p:sp>
        <p:nvSpPr>
          <p:cNvPr id="6" name="Text 4"/>
          <p:cNvSpPr txBox="1"/>
          <p:nvPr/>
        </p:nvSpPr>
        <p:spPr>
          <a:xfrm>
            <a:off x="1417320" y="1764792"/>
            <a:ext cx="3931920" cy="457200"/>
          </a:xfrm>
          <a:prstGeom prst="rect">
            <a:avLst/>
          </a:prstGeom>
          <a:noFill/>
          <a:ln/>
        </p:spPr>
        <p:txBody>
          <a:bodyPr wrap="square" lIns="0" tIns="0" rIns="0" bIns="0" rtlCol="0" anchor="t"/>
          <a:lstStyle/>
          <a:p>
            <a:pPr indent="0" marL="0">
              <a:buNone/>
            </a:pPr>
            <a:r>
              <a:rPr lang="en-US" sz="1200" dirty="0">
                <a:solidFill>
                  <a:schemeClr val="tx2"/>
                </a:solidFill>
              </a:rPr>
              <a:t>Email + password (customers use a one-time code)</a:t>
            </a:r>
            <a:endParaRPr lang="en-US" sz="1200" dirty="0"/>
          </a:p>
        </p:txBody>
      </p:sp>
      <p:sp>
        <p:nvSpPr>
          <p:cNvPr id="7" name="Auth step Tokens"/>
          <p:cNvSpPr/>
          <p:nvPr/>
        </p:nvSpPr>
        <p:spPr>
          <a:xfrm>
            <a:off x="548640" y="2350008"/>
            <a:ext cx="4937760" cy="868680"/>
          </a:xfrm>
          <a:prstGeom prst="roundRect">
            <a:avLst>
              <a:gd name="adj" fmla="val 12632"/>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8" name="Step number 2"/>
          <p:cNvSpPr txBox="1"/>
          <p:nvPr/>
        </p:nvSpPr>
        <p:spPr>
          <a:xfrm>
            <a:off x="713232" y="2532888"/>
            <a:ext cx="502920" cy="502920"/>
          </a:xfrm>
          <a:prstGeom prst="ellipse">
            <a:avLst/>
          </a:prstGeom>
          <a:solidFill>
            <a:schemeClr val="tx1"/>
          </a:solidFill>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9" name="Text 7"/>
          <p:cNvSpPr txBox="1"/>
          <p:nvPr/>
        </p:nvSpPr>
        <p:spPr>
          <a:xfrm>
            <a:off x="1417320" y="2441448"/>
            <a:ext cx="3931920" cy="274320"/>
          </a:xfrm>
          <a:prstGeom prst="rect">
            <a:avLst/>
          </a:prstGeom>
          <a:noFill/>
          <a:ln/>
        </p:spPr>
        <p:txBody>
          <a:bodyPr wrap="square" lIns="0" tIns="0" rIns="0" bIns="0" rtlCol="0" anchor="t"/>
          <a:lstStyle/>
          <a:p>
            <a:pPr indent="0" marL="0">
              <a:buNone/>
            </a:pPr>
            <a:r>
              <a:rPr lang="en-US" sz="1500" b="1" dirty="0">
                <a:solidFill>
                  <a:schemeClr val="tx1"/>
                </a:solidFill>
              </a:rPr>
              <a:t>Tokens</a:t>
            </a:r>
            <a:endParaRPr lang="en-US" sz="1500" dirty="0"/>
          </a:p>
        </p:txBody>
      </p:sp>
      <p:sp>
        <p:nvSpPr>
          <p:cNvPr id="10" name="Text 8"/>
          <p:cNvSpPr txBox="1"/>
          <p:nvPr/>
        </p:nvSpPr>
        <p:spPr>
          <a:xfrm>
            <a:off x="1417320" y="2743200"/>
            <a:ext cx="3931920" cy="457200"/>
          </a:xfrm>
          <a:prstGeom prst="rect">
            <a:avLst/>
          </a:prstGeom>
          <a:noFill/>
          <a:ln/>
        </p:spPr>
        <p:txBody>
          <a:bodyPr wrap="square" lIns="0" tIns="0" rIns="0" bIns="0" rtlCol="0" anchor="t"/>
          <a:lstStyle/>
          <a:p>
            <a:pPr indent="0" marL="0">
              <a:buNone/>
            </a:pPr>
            <a:r>
              <a:rPr lang="en-US" sz="1200" dirty="0">
                <a:solidFill>
                  <a:schemeClr val="tx2"/>
                </a:solidFill>
              </a:rPr>
              <a:t>Access token (15 min) + refresh token (7 days, httpOnly cookie)</a:t>
            </a:r>
            <a:endParaRPr lang="en-US" sz="1200" dirty="0"/>
          </a:p>
        </p:txBody>
      </p:sp>
      <p:sp>
        <p:nvSpPr>
          <p:cNvPr id="11" name="Auth step Every API call"/>
          <p:cNvSpPr/>
          <p:nvPr/>
        </p:nvSpPr>
        <p:spPr>
          <a:xfrm>
            <a:off x="548640" y="3328416"/>
            <a:ext cx="4937760" cy="868680"/>
          </a:xfrm>
          <a:prstGeom prst="roundRect">
            <a:avLst>
              <a:gd name="adj" fmla="val 12632"/>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12" name="Step number 3"/>
          <p:cNvSpPr txBox="1"/>
          <p:nvPr/>
        </p:nvSpPr>
        <p:spPr>
          <a:xfrm>
            <a:off x="713232" y="3511296"/>
            <a:ext cx="502920" cy="502920"/>
          </a:xfrm>
          <a:prstGeom prst="ellipse">
            <a:avLst/>
          </a:prstGeom>
          <a:solidFill>
            <a:schemeClr val="tx1"/>
          </a:solidFill>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13" name="Text 11"/>
          <p:cNvSpPr txBox="1"/>
          <p:nvPr/>
        </p:nvSpPr>
        <p:spPr>
          <a:xfrm>
            <a:off x="1417320" y="3419856"/>
            <a:ext cx="3931920" cy="274320"/>
          </a:xfrm>
          <a:prstGeom prst="rect">
            <a:avLst/>
          </a:prstGeom>
          <a:noFill/>
          <a:ln/>
        </p:spPr>
        <p:txBody>
          <a:bodyPr wrap="square" lIns="0" tIns="0" rIns="0" bIns="0" rtlCol="0" anchor="t"/>
          <a:lstStyle/>
          <a:p>
            <a:pPr indent="0" marL="0">
              <a:buNone/>
            </a:pPr>
            <a:r>
              <a:rPr lang="en-US" sz="1500" b="1" dirty="0">
                <a:solidFill>
                  <a:schemeClr val="tx1"/>
                </a:solidFill>
              </a:rPr>
              <a:t>Every API call</a:t>
            </a:r>
            <a:endParaRPr lang="en-US" sz="1500" dirty="0"/>
          </a:p>
        </p:txBody>
      </p:sp>
      <p:sp>
        <p:nvSpPr>
          <p:cNvPr id="14" name="Text 12"/>
          <p:cNvSpPr txBox="1"/>
          <p:nvPr/>
        </p:nvSpPr>
        <p:spPr>
          <a:xfrm>
            <a:off x="1417320" y="3721608"/>
            <a:ext cx="3931920" cy="457200"/>
          </a:xfrm>
          <a:prstGeom prst="rect">
            <a:avLst/>
          </a:prstGeom>
          <a:noFill/>
          <a:ln/>
        </p:spPr>
        <p:txBody>
          <a:bodyPr wrap="square" lIns="0" tIns="0" rIns="0" bIns="0" rtlCol="0" anchor="t"/>
          <a:lstStyle/>
          <a:p>
            <a:pPr indent="0" marL="0">
              <a:buNone/>
            </a:pPr>
            <a:r>
              <a:rPr lang="en-US" sz="1200" dirty="0">
                <a:solidFill>
                  <a:schemeClr val="tx2"/>
                </a:solidFill>
              </a:rPr>
              <a:t>Check token, salon membership and role permission</a:t>
            </a:r>
            <a:endParaRPr lang="en-US" sz="1200" dirty="0"/>
          </a:p>
        </p:txBody>
      </p:sp>
      <p:sp>
        <p:nvSpPr>
          <p:cNvPr id="15" name="Auth step Validate"/>
          <p:cNvSpPr/>
          <p:nvPr/>
        </p:nvSpPr>
        <p:spPr>
          <a:xfrm>
            <a:off x="548640" y="4306824"/>
            <a:ext cx="4937760" cy="868680"/>
          </a:xfrm>
          <a:prstGeom prst="roundRect">
            <a:avLst>
              <a:gd name="adj" fmla="val 12632"/>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16" name="Step number 4"/>
          <p:cNvSpPr txBox="1"/>
          <p:nvPr/>
        </p:nvSpPr>
        <p:spPr>
          <a:xfrm>
            <a:off x="713232" y="4489704"/>
            <a:ext cx="502920" cy="502920"/>
          </a:xfrm>
          <a:prstGeom prst="ellipse">
            <a:avLst/>
          </a:prstGeom>
          <a:solidFill>
            <a:schemeClr val="tx1"/>
          </a:solidFill>
          <a:ln/>
        </p:spPr>
        <p:txBody>
          <a:bodyPr wrap="square" lIns="0" tIns="0" rIns="0" bIns="0" rtlCol="0" anchor="ctr"/>
          <a:lstStyle/>
          <a:p>
            <a:pPr algn="ctr" indent="0" marL="0">
              <a:buNone/>
            </a:pPr>
            <a:r>
              <a:rPr lang="en-US" sz="1600" b="1" dirty="0">
                <a:solidFill>
                  <a:schemeClr val="accent1"/>
                </a:solidFill>
              </a:rPr>
              <a:t>4</a:t>
            </a:r>
            <a:endParaRPr lang="en-US" sz="1600" dirty="0"/>
          </a:p>
        </p:txBody>
      </p:sp>
      <p:sp>
        <p:nvSpPr>
          <p:cNvPr id="17" name="Text 15"/>
          <p:cNvSpPr txBox="1"/>
          <p:nvPr/>
        </p:nvSpPr>
        <p:spPr>
          <a:xfrm>
            <a:off x="1417320" y="4398264"/>
            <a:ext cx="3931920" cy="274320"/>
          </a:xfrm>
          <a:prstGeom prst="rect">
            <a:avLst/>
          </a:prstGeom>
          <a:noFill/>
          <a:ln/>
        </p:spPr>
        <p:txBody>
          <a:bodyPr wrap="square" lIns="0" tIns="0" rIns="0" bIns="0" rtlCol="0" anchor="t"/>
          <a:lstStyle/>
          <a:p>
            <a:pPr indent="0" marL="0">
              <a:buNone/>
            </a:pPr>
            <a:r>
              <a:rPr lang="en-US" sz="1500" b="1" dirty="0">
                <a:solidFill>
                  <a:schemeClr val="tx1"/>
                </a:solidFill>
              </a:rPr>
              <a:t>Validate</a:t>
            </a:r>
            <a:endParaRPr lang="en-US" sz="1500" dirty="0"/>
          </a:p>
        </p:txBody>
      </p:sp>
      <p:sp>
        <p:nvSpPr>
          <p:cNvPr id="18" name="Text 16"/>
          <p:cNvSpPr txBox="1"/>
          <p:nvPr/>
        </p:nvSpPr>
        <p:spPr>
          <a:xfrm>
            <a:off x="1417320" y="4700016"/>
            <a:ext cx="3931920" cy="457200"/>
          </a:xfrm>
          <a:prstGeom prst="rect">
            <a:avLst/>
          </a:prstGeom>
          <a:noFill/>
          <a:ln/>
        </p:spPr>
        <p:txBody>
          <a:bodyPr wrap="square" lIns="0" tIns="0" rIns="0" bIns="0" rtlCol="0" anchor="t"/>
          <a:lstStyle/>
          <a:p>
            <a:pPr indent="0" marL="0">
              <a:buNone/>
            </a:pPr>
            <a:r>
              <a:rPr lang="en-US" sz="1200" dirty="0">
                <a:solidFill>
                  <a:schemeClr val="tx2"/>
                </a:solidFill>
              </a:rPr>
              <a:t>Zod checks all input before any database work</a:t>
            </a:r>
            <a:endParaRPr lang="en-US" sz="1200" dirty="0"/>
          </a:p>
        </p:txBody>
      </p:sp>
      <p:sp>
        <p:nvSpPr>
          <p:cNvPr id="19" name="Auth step Record"/>
          <p:cNvSpPr/>
          <p:nvPr/>
        </p:nvSpPr>
        <p:spPr>
          <a:xfrm>
            <a:off x="548640" y="5285232"/>
            <a:ext cx="4937760" cy="868680"/>
          </a:xfrm>
          <a:prstGeom prst="roundRect">
            <a:avLst>
              <a:gd name="adj" fmla="val 12632"/>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20" name="Step number 5"/>
          <p:cNvSpPr txBox="1"/>
          <p:nvPr/>
        </p:nvSpPr>
        <p:spPr>
          <a:xfrm>
            <a:off x="713232" y="5468112"/>
            <a:ext cx="502920" cy="502920"/>
          </a:xfrm>
          <a:prstGeom prst="ellipse">
            <a:avLst/>
          </a:prstGeom>
          <a:solidFill>
            <a:schemeClr val="tx1"/>
          </a:solidFill>
          <a:ln/>
        </p:spPr>
        <p:txBody>
          <a:bodyPr wrap="square" lIns="0" tIns="0" rIns="0" bIns="0" rtlCol="0" anchor="ctr"/>
          <a:lstStyle/>
          <a:p>
            <a:pPr algn="ctr" indent="0" marL="0">
              <a:buNone/>
            </a:pPr>
            <a:r>
              <a:rPr lang="en-US" sz="1600" b="1" dirty="0">
                <a:solidFill>
                  <a:schemeClr val="accent1"/>
                </a:solidFill>
              </a:rPr>
              <a:t>5</a:t>
            </a:r>
            <a:endParaRPr lang="en-US" sz="1600" dirty="0"/>
          </a:p>
        </p:txBody>
      </p:sp>
      <p:sp>
        <p:nvSpPr>
          <p:cNvPr id="21" name="Text 19"/>
          <p:cNvSpPr txBox="1"/>
          <p:nvPr/>
        </p:nvSpPr>
        <p:spPr>
          <a:xfrm>
            <a:off x="1417320" y="5376672"/>
            <a:ext cx="3931920" cy="274320"/>
          </a:xfrm>
          <a:prstGeom prst="rect">
            <a:avLst/>
          </a:prstGeom>
          <a:noFill/>
          <a:ln/>
        </p:spPr>
        <p:txBody>
          <a:bodyPr wrap="square" lIns="0" tIns="0" rIns="0" bIns="0" rtlCol="0" anchor="t"/>
          <a:lstStyle/>
          <a:p>
            <a:pPr indent="0" marL="0">
              <a:buNone/>
            </a:pPr>
            <a:r>
              <a:rPr lang="en-US" sz="1500" b="1" dirty="0">
                <a:solidFill>
                  <a:schemeClr val="tx1"/>
                </a:solidFill>
              </a:rPr>
              <a:t>Record</a:t>
            </a:r>
            <a:endParaRPr lang="en-US" sz="1500" dirty="0"/>
          </a:p>
        </p:txBody>
      </p:sp>
      <p:sp>
        <p:nvSpPr>
          <p:cNvPr id="22" name="Text 20"/>
          <p:cNvSpPr txBox="1"/>
          <p:nvPr/>
        </p:nvSpPr>
        <p:spPr>
          <a:xfrm>
            <a:off x="1417320" y="5678424"/>
            <a:ext cx="3931920" cy="457200"/>
          </a:xfrm>
          <a:prstGeom prst="rect">
            <a:avLst/>
          </a:prstGeom>
          <a:noFill/>
          <a:ln/>
        </p:spPr>
        <p:txBody>
          <a:bodyPr wrap="square" lIns="0" tIns="0" rIns="0" bIns="0" rtlCol="0" anchor="t"/>
          <a:lstStyle/>
          <a:p>
            <a:pPr indent="0" marL="0">
              <a:buNone/>
            </a:pPr>
            <a:r>
              <a:rPr lang="en-US" sz="1200" dirty="0">
                <a:solidFill>
                  <a:schemeClr val="tx2"/>
                </a:solidFill>
              </a:rPr>
              <a:t>Important actions are saved in the audit history</a:t>
            </a:r>
            <a:endParaRPr lang="en-US" sz="1200" dirty="0"/>
          </a:p>
        </p:txBody>
      </p:sp>
      <p:sp>
        <p:nvSpPr>
          <p:cNvPr id="23" name="Verified security card"/>
          <p:cNvSpPr/>
          <p:nvPr/>
        </p:nvSpPr>
        <p:spPr>
          <a:xfrm>
            <a:off x="5852160" y="1371600"/>
            <a:ext cx="5760720" cy="4800600"/>
          </a:xfrm>
          <a:prstGeom prst="roundRect">
            <a:avLst>
              <a:gd name="adj" fmla="val 2286"/>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24" name="Text 22"/>
          <p:cNvSpPr txBox="1"/>
          <p:nvPr/>
        </p:nvSpPr>
        <p:spPr>
          <a:xfrm>
            <a:off x="6080760" y="1508760"/>
            <a:ext cx="5303520" cy="365760"/>
          </a:xfrm>
          <a:prstGeom prst="rect">
            <a:avLst/>
          </a:prstGeom>
          <a:noFill/>
          <a:ln/>
        </p:spPr>
        <p:txBody>
          <a:bodyPr wrap="square" lIns="0" tIns="0" rIns="0" bIns="0" rtlCol="0" anchor="t"/>
          <a:lstStyle/>
          <a:p>
            <a:pPr indent="0" marL="0">
              <a:buNone/>
            </a:pPr>
            <a:r>
              <a:rPr lang="en-US" sz="1800" b="1" dirty="0">
                <a:solidFill>
                  <a:schemeClr val="tx1"/>
                </a:solidFill>
              </a:rPr>
              <a:t>Verified in the code</a:t>
            </a:r>
            <a:endParaRPr lang="en-US" sz="1800" dirty="0"/>
          </a:p>
        </p:txBody>
      </p:sp>
      <p:sp>
        <p:nvSpPr>
          <p:cNvPr id="25" name="Text 23"/>
          <p:cNvSpPr txBox="1"/>
          <p:nvPr/>
        </p:nvSpPr>
        <p:spPr>
          <a:xfrm>
            <a:off x="6080760" y="1965960"/>
            <a:ext cx="5349240" cy="32004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Passwords hashed with bcrypt</a:t>
            </a:r>
            <a:endParaRPr lang="en-US" sz="1500" dirty="0"/>
          </a:p>
          <a:p>
            <a:pPr marL="342900" indent="-342900">
              <a:spcAft>
                <a:spcPts val="1000"/>
              </a:spcAft>
              <a:buSzPct val="100000"/>
              <a:buChar char="✓"/>
            </a:pPr>
            <a:r>
              <a:rPr lang="en-US" sz="1500" dirty="0">
                <a:solidFill>
                  <a:schemeClr val="tx1"/>
                </a:solidFill>
              </a:rPr>
              <a:t>Login lock: 5 wrong tries lock the account for 15 minutes</a:t>
            </a:r>
            <a:endParaRPr lang="en-US" sz="1500" dirty="0"/>
          </a:p>
          <a:p>
            <a:pPr marL="342900" indent="-342900">
              <a:spcAft>
                <a:spcPts val="1000"/>
              </a:spcAft>
              <a:buSzPct val="100000"/>
              <a:buChar char="✓"/>
            </a:pPr>
            <a:r>
              <a:rPr lang="en-US" sz="1500" dirty="0">
                <a:solidFill>
                  <a:schemeClr val="tx1"/>
                </a:solidFill>
              </a:rPr>
              <a:t>Role permission table (deny by default)</a:t>
            </a:r>
            <a:endParaRPr lang="en-US" sz="1500" dirty="0"/>
          </a:p>
          <a:p>
            <a:pPr marL="342900" indent="-342900">
              <a:spcAft>
                <a:spcPts val="1000"/>
              </a:spcAft>
              <a:buSzPct val="100000"/>
              <a:buChar char="✓"/>
            </a:pPr>
            <a:r>
              <a:rPr lang="en-US" sz="1500" dirty="0">
                <a:solidFill>
                  <a:schemeClr val="tx1"/>
                </a:solidFill>
              </a:rPr>
              <a:t>Salon data separated per salon (tenant tests pass)</a:t>
            </a:r>
            <a:endParaRPr lang="en-US" sz="1500" dirty="0"/>
          </a:p>
          <a:p>
            <a:pPr marL="342900" indent="-342900">
              <a:spcAft>
                <a:spcPts val="1000"/>
              </a:spcAft>
              <a:buSzPct val="100000"/>
              <a:buChar char="✓"/>
            </a:pPr>
            <a:r>
              <a:rPr lang="en-US" sz="1500" dirty="0">
                <a:solidFill>
                  <a:schemeClr val="tx1"/>
                </a:solidFill>
              </a:rPr>
              <a:t>Rate limiting, Helmet headers, single-origin CORS</a:t>
            </a:r>
            <a:endParaRPr lang="en-US" sz="1500" dirty="0"/>
          </a:p>
          <a:p>
            <a:pPr marL="342900" indent="-342900">
              <a:spcAft>
                <a:spcPts val="1000"/>
              </a:spcAft>
              <a:buSzPct val="100000"/>
              <a:buChar char="✓"/>
            </a:pPr>
            <a:r>
              <a:rPr lang="en-US" sz="1500" dirty="0">
                <a:solidFill>
                  <a:schemeClr val="tx1"/>
                </a:solidFill>
              </a:rPr>
              <a:t>Secrets in .env; server refuses to start if config is invalid</a:t>
            </a:r>
            <a:endParaRPr lang="en-US" sz="1500" dirty="0"/>
          </a:p>
          <a:p>
            <a:pPr marL="342900" indent="-342900">
              <a:spcAft>
                <a:spcPts val="1000"/>
              </a:spcAft>
              <a:buSzPct val="100000"/>
              <a:buChar char="✓"/>
            </a:pPr>
            <a:r>
              <a:rPr lang="en-US" sz="1500" dirty="0">
                <a:solidFill>
                  <a:schemeClr val="tx1"/>
                </a:solidFill>
              </a:rPr>
              <a:t>New owners need Super Admin approval</a:t>
            </a:r>
            <a:endParaRPr lang="en-US" sz="1500" dirty="0"/>
          </a:p>
        </p:txBody>
      </p:sp>
      <p:sp>
        <p:nvSpPr>
          <p:cNvPr id="26" name="Text 24"/>
          <p:cNvSpPr txBox="1"/>
          <p:nvPr/>
        </p:nvSpPr>
        <p:spPr>
          <a:xfrm>
            <a:off x="6080760" y="5257800"/>
            <a:ext cx="5349240" cy="777240"/>
          </a:xfrm>
          <a:prstGeom prst="rect">
            <a:avLst/>
          </a:prstGeom>
          <a:noFill/>
          <a:ln/>
        </p:spPr>
        <p:txBody>
          <a:bodyPr wrap="square" lIns="0" tIns="0" rIns="0" bIns="0" rtlCol="0" anchor="ctr"/>
          <a:lstStyle/>
          <a:p>
            <a:pPr indent="0" marL="0">
              <a:buNone/>
            </a:pPr>
            <a:r>
              <a:rPr lang="en-US" sz="1300" b="1" dirty="0">
                <a:solidFill>
                  <a:schemeClr val="accent3"/>
                </a:solidFill>
              </a:rPr>
              <a:t>Before going live: </a:t>
            </a:r>
            <a:pPr indent="0" marL="0">
              <a:buNone/>
            </a:pPr>
            <a:r>
              <a:rPr lang="en-US" sz="1300" dirty="0">
                <a:solidFill>
                  <a:schemeClr val="accent3"/>
                </a:solidFill>
              </a:rPr>
              <a:t>turn on HTTPS (secure cookies) and connect real email / SMS providers.</a:t>
            </a:r>
            <a:endParaRPr lang="en-US" sz="13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Website and mobile application</a:t>
            </a:r>
            <a:endParaRPr lang="en-US" sz="3400" dirty="0"/>
          </a:p>
        </p:txBody>
      </p:sp>
      <p:sp>
        <p:nvSpPr>
          <p:cNvPr id="3" name="Screenshot frame landing"/>
          <p:cNvSpPr/>
          <p:nvPr/>
        </p:nvSpPr>
        <p:spPr>
          <a:xfrm>
            <a:off x="539496" y="1316736"/>
            <a:ext cx="6419088" cy="3658743"/>
          </a:xfrm>
          <a:prstGeom prst="roundRect">
            <a:avLst>
              <a:gd name="adj" fmla="val 1999"/>
            </a:avLst>
          </a:prstGeom>
          <a:solidFill>
            <a:schemeClr val="bg1"/>
          </a:solidFill>
          <a:ln w="9525">
            <a:solidFill>
              <a:srgbClr val="D9C7A8"/>
            </a:solidFill>
            <a:prstDash val="solid"/>
          </a:ln>
          <a:effectLst>
            <a:outerShdw sx="100000" sy="100000" kx="0" ky="0" algn="bl" rotWithShape="0" blurRad="101600" dist="25400" dir="5400000">
              <a:srgbClr val="000000">
                <a:alpha val="14000"/>
              </a:srgbClr>
            </a:outerShdw>
          </a:effectLst>
        </p:spPr>
      </p:sp>
      <p:pic>
        <p:nvPicPr>
          <p:cNvPr id="4" name="Screenshot landing" descr="Galora website landing page">    </p:cNvPr>
          <p:cNvPicPr>
            <a:picLocks noChangeAspect="1"/>
          </p:cNvPicPr>
          <p:nvPr/>
        </p:nvPicPr>
        <p:blipFill>
          <a:blip r:embed="rId1"/>
          <a:stretch>
            <a:fillRect/>
          </a:stretch>
        </p:blipFill>
        <p:spPr>
          <a:xfrm>
            <a:off x="594360" y="1371600"/>
            <a:ext cx="6309360" cy="3549015"/>
          </a:xfrm>
          <a:prstGeom prst="rect">
            <a:avLst/>
          </a:prstGeom>
        </p:spPr>
      </p:pic>
      <p:sp>
        <p:nvSpPr>
          <p:cNvPr id="5" name="Status chip Website: working"/>
          <p:cNvSpPr txBox="1"/>
          <p:nvPr/>
        </p:nvSpPr>
        <p:spPr>
          <a:xfrm>
            <a:off x="594360" y="5194935"/>
            <a:ext cx="1737360" cy="310896"/>
          </a:xfrm>
          <a:prstGeom prst="roundRect">
            <a:avLst>
              <a:gd name="adj" fmla="val 44118"/>
            </a:avLst>
          </a:prstGeom>
          <a:solidFill>
            <a:schemeClr val="accent4"/>
          </a:solidFill>
          <a:ln/>
        </p:spPr>
        <p:txBody>
          <a:bodyPr wrap="square" lIns="0" tIns="0" rIns="0" bIns="0" rtlCol="0" anchor="ctr"/>
          <a:lstStyle/>
          <a:p>
            <a:pPr algn="ctr" indent="0" marL="0">
              <a:buNone/>
            </a:pPr>
            <a:r>
              <a:rPr lang="en-US" sz="1100" b="1" dirty="0">
                <a:solidFill>
                  <a:schemeClr val="bg1"/>
                </a:solidFill>
              </a:rPr>
              <a:t>Website: working</a:t>
            </a:r>
            <a:endParaRPr lang="en-US" sz="1100" dirty="0"/>
          </a:p>
        </p:txBody>
      </p:sp>
      <p:sp>
        <p:nvSpPr>
          <p:cNvPr id="6" name="Text 3"/>
          <p:cNvSpPr txBox="1"/>
          <p:nvPr/>
        </p:nvSpPr>
        <p:spPr>
          <a:xfrm>
            <a:off x="2514600" y="5149215"/>
            <a:ext cx="4389120" cy="457200"/>
          </a:xfrm>
          <a:prstGeom prst="rect">
            <a:avLst/>
          </a:prstGeom>
          <a:noFill/>
          <a:ln/>
        </p:spPr>
        <p:txBody>
          <a:bodyPr wrap="square" lIns="0" tIns="0" rIns="0" bIns="0" rtlCol="0" anchor="ctr"/>
          <a:lstStyle/>
          <a:p>
            <a:pPr indent="0" marL="0">
              <a:buNone/>
            </a:pPr>
            <a:r>
              <a:rPr lang="en-US" sz="1300" dirty="0">
                <a:solidFill>
                  <a:schemeClr val="tx2"/>
                </a:solidFill>
              </a:rPr>
              <a:t>Landing page, salon search, customer booking, owner and admin dashboards.</a:t>
            </a:r>
            <a:endParaRPr lang="en-US" sz="1300" dirty="0"/>
          </a:p>
        </p:txBody>
      </p:sp>
      <p:sp>
        <p:nvSpPr>
          <p:cNvPr id="7" name="Phone frame m-guest"/>
          <p:cNvSpPr/>
          <p:nvPr/>
        </p:nvSpPr>
        <p:spPr>
          <a:xfrm>
            <a:off x="7251192" y="1371600"/>
            <a:ext cx="1408176" cy="2898414"/>
          </a:xfrm>
          <a:prstGeom prst="roundRect">
            <a:avLst>
              <a:gd name="adj" fmla="val 11688"/>
            </a:avLst>
          </a:prstGeom>
          <a:solidFill>
            <a:schemeClr val="tx1"/>
          </a:solidFill>
          <a:ln w="12700">
            <a:solidFill>
              <a:schemeClr val="tx1"/>
            </a:solidFill>
            <a:prstDash val="solid"/>
          </a:ln>
          <a:effectLst>
            <a:outerShdw sx="100000" sy="100000" kx="0" ky="0" algn="bl" rotWithShape="0" blurRad="101600" dist="25400" dir="5400000">
              <a:srgbClr val="000000">
                <a:alpha val="14000"/>
              </a:srgbClr>
            </a:outerShdw>
          </a:effectLst>
        </p:spPr>
      </p:sp>
      <p:pic>
        <p:nvPicPr>
          <p:cNvPr id="8" name="Phone screenshot m-guest" descr="Customer home on the mobile app">    </p:cNvPr>
          <p:cNvPicPr>
            <a:picLocks noChangeAspect="1"/>
          </p:cNvPicPr>
          <p:nvPr/>
        </p:nvPicPr>
        <p:blipFill>
          <a:blip r:embed="rId2"/>
          <a:stretch>
            <a:fillRect/>
          </a:stretch>
        </p:blipFill>
        <p:spPr>
          <a:xfrm>
            <a:off x="7315200" y="1435608"/>
            <a:ext cx="1280160" cy="2770398"/>
          </a:xfrm>
          <a:prstGeom prst="rect">
            <a:avLst/>
          </a:prstGeom>
        </p:spPr>
      </p:pic>
      <p:sp>
        <p:nvSpPr>
          <p:cNvPr id="9" name="Text 5"/>
          <p:cNvSpPr txBox="1"/>
          <p:nvPr/>
        </p:nvSpPr>
        <p:spPr>
          <a:xfrm>
            <a:off x="7223760" y="4370598"/>
            <a:ext cx="1463040" cy="274320"/>
          </a:xfrm>
          <a:prstGeom prst="rect">
            <a:avLst/>
          </a:prstGeom>
          <a:noFill/>
          <a:ln/>
        </p:spPr>
        <p:txBody>
          <a:bodyPr wrap="square" lIns="0" tIns="0" rIns="0" bIns="0" rtlCol="0" anchor="t"/>
          <a:lstStyle/>
          <a:p>
            <a:pPr algn="ctr" indent="0" marL="0">
              <a:buNone/>
            </a:pPr>
            <a:r>
              <a:rPr lang="en-US" sz="1100" b="1" dirty="0">
                <a:solidFill>
                  <a:schemeClr val="tx1"/>
                </a:solidFill>
              </a:rPr>
              <a:t>Customer home</a:t>
            </a:r>
            <a:endParaRPr lang="en-US" sz="1100" dirty="0"/>
          </a:p>
        </p:txBody>
      </p:sp>
      <p:sp>
        <p:nvSpPr>
          <p:cNvPr id="10" name="Phone frame m-owner-dashboard"/>
          <p:cNvSpPr/>
          <p:nvPr/>
        </p:nvSpPr>
        <p:spPr>
          <a:xfrm>
            <a:off x="8759952" y="1371600"/>
            <a:ext cx="1408176" cy="2898414"/>
          </a:xfrm>
          <a:prstGeom prst="roundRect">
            <a:avLst>
              <a:gd name="adj" fmla="val 11688"/>
            </a:avLst>
          </a:prstGeom>
          <a:solidFill>
            <a:schemeClr val="tx1"/>
          </a:solidFill>
          <a:ln w="12700">
            <a:solidFill>
              <a:schemeClr val="tx1"/>
            </a:solidFill>
            <a:prstDash val="solid"/>
          </a:ln>
          <a:effectLst>
            <a:outerShdw sx="100000" sy="100000" kx="0" ky="0" algn="bl" rotWithShape="0" blurRad="101600" dist="25400" dir="5400000">
              <a:srgbClr val="000000">
                <a:alpha val="14000"/>
              </a:srgbClr>
            </a:outerShdw>
          </a:effectLst>
        </p:spPr>
      </p:sp>
      <p:pic>
        <p:nvPicPr>
          <p:cNvPr id="11" name="Phone screenshot m-owner-dashboard" descr="Owner dashboard on the mobile app">    </p:cNvPr>
          <p:cNvPicPr>
            <a:picLocks noChangeAspect="1"/>
          </p:cNvPicPr>
          <p:nvPr/>
        </p:nvPicPr>
        <p:blipFill>
          <a:blip r:embed="rId3"/>
          <a:stretch>
            <a:fillRect/>
          </a:stretch>
        </p:blipFill>
        <p:spPr>
          <a:xfrm>
            <a:off x="8823960" y="1435608"/>
            <a:ext cx="1280160" cy="2770398"/>
          </a:xfrm>
          <a:prstGeom prst="rect">
            <a:avLst/>
          </a:prstGeom>
        </p:spPr>
      </p:pic>
      <p:sp>
        <p:nvSpPr>
          <p:cNvPr id="12" name="Text 7"/>
          <p:cNvSpPr txBox="1"/>
          <p:nvPr/>
        </p:nvSpPr>
        <p:spPr>
          <a:xfrm>
            <a:off x="8732520" y="4370598"/>
            <a:ext cx="1463040" cy="274320"/>
          </a:xfrm>
          <a:prstGeom prst="rect">
            <a:avLst/>
          </a:prstGeom>
          <a:noFill/>
          <a:ln/>
        </p:spPr>
        <p:txBody>
          <a:bodyPr wrap="square" lIns="0" tIns="0" rIns="0" bIns="0" rtlCol="0" anchor="t"/>
          <a:lstStyle/>
          <a:p>
            <a:pPr algn="ctr" indent="0" marL="0">
              <a:buNone/>
            </a:pPr>
            <a:r>
              <a:rPr lang="en-US" sz="1100" b="1" dirty="0">
                <a:solidFill>
                  <a:schemeClr val="tx1"/>
                </a:solidFill>
              </a:rPr>
              <a:t>Owner dashboard</a:t>
            </a:r>
            <a:endParaRPr lang="en-US" sz="1100" dirty="0"/>
          </a:p>
        </p:txBody>
      </p:sp>
      <p:sp>
        <p:nvSpPr>
          <p:cNvPr id="13" name="Phone frame m-admin-overview"/>
          <p:cNvSpPr/>
          <p:nvPr/>
        </p:nvSpPr>
        <p:spPr>
          <a:xfrm>
            <a:off x="10268712" y="1371600"/>
            <a:ext cx="1408176" cy="2898414"/>
          </a:xfrm>
          <a:prstGeom prst="roundRect">
            <a:avLst>
              <a:gd name="adj" fmla="val 11688"/>
            </a:avLst>
          </a:prstGeom>
          <a:solidFill>
            <a:schemeClr val="tx1"/>
          </a:solidFill>
          <a:ln w="12700">
            <a:solidFill>
              <a:schemeClr val="tx1"/>
            </a:solidFill>
            <a:prstDash val="solid"/>
          </a:ln>
          <a:effectLst>
            <a:outerShdw sx="100000" sy="100000" kx="0" ky="0" algn="bl" rotWithShape="0" blurRad="101600" dist="25400" dir="5400000">
              <a:srgbClr val="000000">
                <a:alpha val="14000"/>
              </a:srgbClr>
            </a:outerShdw>
          </a:effectLst>
        </p:spPr>
      </p:sp>
      <p:pic>
        <p:nvPicPr>
          <p:cNvPr id="14" name="Phone screenshot m-admin-overview" descr="Admin overview on the mobile app">    </p:cNvPr>
          <p:cNvPicPr>
            <a:picLocks noChangeAspect="1"/>
          </p:cNvPicPr>
          <p:nvPr/>
        </p:nvPicPr>
        <p:blipFill>
          <a:blip r:embed="rId4"/>
          <a:stretch>
            <a:fillRect/>
          </a:stretch>
        </p:blipFill>
        <p:spPr>
          <a:xfrm>
            <a:off x="10332720" y="1435608"/>
            <a:ext cx="1280160" cy="2770398"/>
          </a:xfrm>
          <a:prstGeom prst="rect">
            <a:avLst/>
          </a:prstGeom>
        </p:spPr>
      </p:pic>
      <p:sp>
        <p:nvSpPr>
          <p:cNvPr id="15" name="Text 9"/>
          <p:cNvSpPr txBox="1"/>
          <p:nvPr/>
        </p:nvSpPr>
        <p:spPr>
          <a:xfrm>
            <a:off x="10241280" y="4370598"/>
            <a:ext cx="1463040" cy="274320"/>
          </a:xfrm>
          <a:prstGeom prst="rect">
            <a:avLst/>
          </a:prstGeom>
          <a:noFill/>
          <a:ln/>
        </p:spPr>
        <p:txBody>
          <a:bodyPr wrap="square" lIns="0" tIns="0" rIns="0" bIns="0" rtlCol="0" anchor="t"/>
          <a:lstStyle/>
          <a:p>
            <a:pPr algn="ctr" indent="0" marL="0">
              <a:buNone/>
            </a:pPr>
            <a:r>
              <a:rPr lang="en-US" sz="1100" b="1" dirty="0">
                <a:solidFill>
                  <a:schemeClr val="tx1"/>
                </a:solidFill>
              </a:rPr>
              <a:t>Admin overview</a:t>
            </a:r>
            <a:endParaRPr lang="en-US" sz="1100" dirty="0"/>
          </a:p>
        </p:txBody>
      </p:sp>
      <p:sp>
        <p:nvSpPr>
          <p:cNvPr id="16" name="Mobile status card"/>
          <p:cNvSpPr/>
          <p:nvPr/>
        </p:nvSpPr>
        <p:spPr>
          <a:xfrm>
            <a:off x="7132320" y="5120640"/>
            <a:ext cx="4526280" cy="1097280"/>
          </a:xfrm>
          <a:prstGeom prst="roundRect">
            <a:avLst>
              <a:gd name="adj" fmla="val 10000"/>
            </a:avLst>
          </a:prstGeom>
          <a:solidFill>
            <a:schemeClr val="tx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17" name="Status chip Mobile app: in development"/>
          <p:cNvSpPr txBox="1"/>
          <p:nvPr/>
        </p:nvSpPr>
        <p:spPr>
          <a:xfrm>
            <a:off x="7315200" y="5257800"/>
            <a:ext cx="2377440" cy="292608"/>
          </a:xfrm>
          <a:prstGeom prst="roundRect">
            <a:avLst>
              <a:gd name="adj" fmla="val 46875"/>
            </a:avLst>
          </a:prstGeom>
          <a:solidFill>
            <a:schemeClr val="accent2"/>
          </a:solidFill>
          <a:ln/>
        </p:spPr>
        <p:txBody>
          <a:bodyPr wrap="square" lIns="0" tIns="0" rIns="0" bIns="0" rtlCol="0" anchor="ctr"/>
          <a:lstStyle/>
          <a:p>
            <a:pPr algn="ctr" indent="0" marL="0">
              <a:buNone/>
            </a:pPr>
            <a:r>
              <a:rPr lang="en-US" sz="1100" b="1" dirty="0">
                <a:solidFill>
                  <a:schemeClr val="bg1"/>
                </a:solidFill>
              </a:rPr>
              <a:t>Mobile app: in development</a:t>
            </a:r>
            <a:endParaRPr lang="en-US" sz="1100" dirty="0"/>
          </a:p>
        </p:txBody>
      </p:sp>
      <p:sp>
        <p:nvSpPr>
          <p:cNvPr id="18" name="Text 12"/>
          <p:cNvSpPr txBox="1"/>
          <p:nvPr/>
        </p:nvSpPr>
        <p:spPr>
          <a:xfrm>
            <a:off x="7315200" y="5623560"/>
            <a:ext cx="4206240" cy="548640"/>
          </a:xfrm>
          <a:prstGeom prst="rect">
            <a:avLst/>
          </a:prstGeom>
          <a:noFill/>
          <a:ln/>
        </p:spPr>
        <p:txBody>
          <a:bodyPr wrap="square" lIns="0" tIns="0" rIns="0" bIns="0" rtlCol="0" anchor="t"/>
          <a:lstStyle/>
          <a:p>
            <a:pPr indent="0" marL="0">
              <a:buNone/>
            </a:pPr>
            <a:r>
              <a:rPr lang="en-US" sz="1200" dirty="0">
                <a:solidFill>
                  <a:schemeClr val="bg1"/>
                </a:solidFill>
              </a:rPr>
              <a:t>Customer, salon-team and admin screens run in Expo. Store release is pending.</a:t>
            </a:r>
            <a:endParaRPr lang="en-US" sz="12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Benefits and future scope</a:t>
            </a:r>
            <a:endParaRPr lang="en-US" sz="3400" dirty="0"/>
          </a:p>
        </p:txBody>
      </p:sp>
      <p:sp>
        <p:nvSpPr>
          <p:cNvPr id="3" name="Benefits card"/>
          <p:cNvSpPr/>
          <p:nvPr/>
        </p:nvSpPr>
        <p:spPr>
          <a:xfrm>
            <a:off x="548640" y="1371600"/>
            <a:ext cx="5440680" cy="4800600"/>
          </a:xfrm>
          <a:prstGeom prst="roundRect">
            <a:avLst>
              <a:gd name="adj" fmla="val 2286"/>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4" name="Icon circle FaHandshake"/>
          <p:cNvSpPr/>
          <p:nvPr/>
        </p:nvSpPr>
        <p:spPr>
          <a:xfrm>
            <a:off x="822960" y="1645920"/>
            <a:ext cx="594360" cy="594360"/>
          </a:xfrm>
          <a:prstGeom prst="ellipse">
            <a:avLst/>
          </a:prstGeom>
          <a:solidFill>
            <a:schemeClr val="accent1"/>
          </a:solidFill>
          <a:ln w="12700">
            <a:solidFill>
              <a:schemeClr val="accent1"/>
            </a:solidFill>
            <a:prstDash val="solid"/>
          </a:ln>
        </p:spPr>
      </p:sp>
      <p:pic>
        <p:nvPicPr>
          <p:cNvPr id="5" name="Image 0" descr="Handshake icon">    </p:cNvPr>
          <p:cNvPicPr>
            <a:picLocks noChangeAspect="1"/>
          </p:cNvPicPr>
          <p:nvPr/>
        </p:nvPicPr>
        <p:blipFill>
          <a:blip r:embed="rId1"/>
          <a:stretch>
            <a:fillRect/>
          </a:stretch>
        </p:blipFill>
        <p:spPr>
          <a:xfrm>
            <a:off x="983437" y="1806397"/>
            <a:ext cx="273406" cy="273406"/>
          </a:xfrm>
          <a:prstGeom prst="rect">
            <a:avLst/>
          </a:prstGeom>
        </p:spPr>
      </p:pic>
      <p:sp>
        <p:nvSpPr>
          <p:cNvPr id="6" name="Text 3"/>
          <p:cNvSpPr txBox="1"/>
          <p:nvPr/>
        </p:nvSpPr>
        <p:spPr>
          <a:xfrm>
            <a:off x="1600200" y="1737360"/>
            <a:ext cx="4206240" cy="411480"/>
          </a:xfrm>
          <a:prstGeom prst="rect">
            <a:avLst/>
          </a:prstGeom>
          <a:noFill/>
          <a:ln/>
        </p:spPr>
        <p:txBody>
          <a:bodyPr wrap="square" lIns="0" tIns="0" rIns="0" bIns="0" rtlCol="0" anchor="ctr"/>
          <a:lstStyle/>
          <a:p>
            <a:pPr indent="0" marL="0">
              <a:buNone/>
            </a:pPr>
            <a:r>
              <a:rPr lang="en-US" sz="2000" b="1" dirty="0">
                <a:solidFill>
                  <a:schemeClr val="tx1"/>
                </a:solidFill>
              </a:rPr>
              <a:t>Benefits (available today)</a:t>
            </a:r>
            <a:endParaRPr lang="en-US" sz="2000" dirty="0"/>
          </a:p>
        </p:txBody>
      </p:sp>
      <p:sp>
        <p:nvSpPr>
          <p:cNvPr id="7" name="Text 4"/>
          <p:cNvSpPr txBox="1"/>
          <p:nvPr/>
        </p:nvSpPr>
        <p:spPr>
          <a:xfrm>
            <a:off x="868680" y="2514600"/>
            <a:ext cx="4892040" cy="3566160"/>
          </a:xfrm>
          <a:prstGeom prst="rect">
            <a:avLst/>
          </a:prstGeom>
          <a:noFill/>
          <a:ln/>
        </p:spPr>
        <p:txBody>
          <a:bodyPr wrap="square" lIns="0" tIns="0" rIns="0" bIns="0" rtlCol="0" anchor="t"/>
          <a:lstStyle/>
          <a:p>
            <a:pPr marL="203200" indent="-203200">
              <a:spcAft>
                <a:spcPts val="1100"/>
              </a:spcAft>
              <a:buSzPct val="100000"/>
              <a:buChar char="•"/>
            </a:pPr>
            <a:r>
              <a:rPr lang="en-US" sz="1500" dirty="0">
                <a:solidFill>
                  <a:schemeClr val="tx1"/>
                </a:solidFill>
              </a:rPr>
              <a:t>Online discovery helps customers find the salon</a:t>
            </a:r>
            <a:endParaRPr lang="en-US" sz="1500" dirty="0"/>
          </a:p>
          <a:p>
            <a:pPr marL="203200" indent="-203200">
              <a:spcAft>
                <a:spcPts val="1100"/>
              </a:spcAft>
              <a:buSzPct val="100000"/>
              <a:buChar char="•"/>
            </a:pPr>
            <a:r>
              <a:rPr lang="en-US" sz="1500" dirty="0">
                <a:solidFill>
                  <a:schemeClr val="tx1"/>
                </a:solidFill>
              </a:rPr>
              <a:t>Fewer clashes: customers see only free slots</a:t>
            </a:r>
            <a:endParaRPr lang="en-US" sz="1500" dirty="0"/>
          </a:p>
          <a:p>
            <a:pPr marL="203200" indent="-203200">
              <a:spcAft>
                <a:spcPts val="1100"/>
              </a:spcAft>
              <a:buSzPct val="100000"/>
              <a:buChar char="•"/>
            </a:pPr>
            <a:r>
              <a:rPr lang="en-US" sz="1500" dirty="0">
                <a:solidFill>
                  <a:schemeClr val="tx1"/>
                </a:solidFill>
              </a:rPr>
              <a:t>Packages, memberships and offers bring customers back</a:t>
            </a:r>
            <a:endParaRPr lang="en-US" sz="1500" dirty="0"/>
          </a:p>
          <a:p>
            <a:pPr marL="203200" indent="-203200">
              <a:spcAft>
                <a:spcPts val="1100"/>
              </a:spcAft>
              <a:buSzPct val="100000"/>
              <a:buChar char="•"/>
            </a:pPr>
            <a:r>
              <a:rPr lang="en-US" sz="1500" dirty="0">
                <a:solidFill>
                  <a:schemeClr val="tx1"/>
                </a:solidFill>
              </a:rPr>
              <a:t>Digital bills and customer history save time</a:t>
            </a:r>
            <a:endParaRPr lang="en-US" sz="1500" dirty="0"/>
          </a:p>
          <a:p>
            <a:pPr marL="203200" indent="-203200">
              <a:spcAft>
                <a:spcPts val="1100"/>
              </a:spcAft>
              <a:buSzPct val="100000"/>
              <a:buChar char="•"/>
            </a:pPr>
            <a:r>
              <a:rPr lang="en-US" sz="1500" dirty="0">
                <a:solidFill>
                  <a:schemeClr val="tx1"/>
                </a:solidFill>
              </a:rPr>
              <a:t>Roles keep staff access safe</a:t>
            </a:r>
            <a:endParaRPr lang="en-US" sz="1500" dirty="0"/>
          </a:p>
          <a:p>
            <a:pPr marL="203200" indent="-203200">
              <a:spcAft>
                <a:spcPts val="1100"/>
              </a:spcAft>
              <a:buSzPct val="100000"/>
              <a:buChar char="•"/>
            </a:pPr>
            <a:r>
              <a:rPr lang="en-US" sz="1500" dirty="0">
                <a:solidFill>
                  <a:schemeClr val="tx1"/>
                </a:solidFill>
              </a:rPr>
              <a:t>One platform for web and mobile</a:t>
            </a:r>
            <a:endParaRPr lang="en-US" sz="1500" dirty="0"/>
          </a:p>
        </p:txBody>
      </p:sp>
      <p:sp>
        <p:nvSpPr>
          <p:cNvPr id="8" name="Future scope card"/>
          <p:cNvSpPr/>
          <p:nvPr/>
        </p:nvSpPr>
        <p:spPr>
          <a:xfrm>
            <a:off x="6217920" y="1371600"/>
            <a:ext cx="5394960" cy="4800600"/>
          </a:xfrm>
          <a:prstGeom prst="roundRect">
            <a:avLst>
              <a:gd name="adj" fmla="val 2286"/>
            </a:avLst>
          </a:prstGeom>
          <a:solidFill>
            <a:srgbClr val="F3E9D2"/>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9" name="Icon circle FaBolt"/>
          <p:cNvSpPr/>
          <p:nvPr/>
        </p:nvSpPr>
        <p:spPr>
          <a:xfrm>
            <a:off x="6492240" y="1645920"/>
            <a:ext cx="594360" cy="594360"/>
          </a:xfrm>
          <a:prstGeom prst="ellipse">
            <a:avLst/>
          </a:prstGeom>
          <a:solidFill>
            <a:schemeClr val="accent6"/>
          </a:solidFill>
          <a:ln w="12700">
            <a:solidFill>
              <a:schemeClr val="accent6"/>
            </a:solidFill>
            <a:prstDash val="solid"/>
          </a:ln>
        </p:spPr>
      </p:sp>
      <p:pic>
        <p:nvPicPr>
          <p:cNvPr id="10" name="Image 1" descr="Bolt icon">    </p:cNvPr>
          <p:cNvPicPr>
            <a:picLocks noChangeAspect="1"/>
          </p:cNvPicPr>
          <p:nvPr/>
        </p:nvPicPr>
        <p:blipFill>
          <a:blip r:embed="rId2"/>
          <a:stretch>
            <a:fillRect/>
          </a:stretch>
        </p:blipFill>
        <p:spPr>
          <a:xfrm>
            <a:off x="6652717" y="1806397"/>
            <a:ext cx="273406" cy="273406"/>
          </a:xfrm>
          <a:prstGeom prst="rect">
            <a:avLst/>
          </a:prstGeom>
        </p:spPr>
      </p:pic>
      <p:sp>
        <p:nvSpPr>
          <p:cNvPr id="11" name="Text 7"/>
          <p:cNvSpPr txBox="1"/>
          <p:nvPr/>
        </p:nvSpPr>
        <p:spPr>
          <a:xfrm>
            <a:off x="7269480" y="1737360"/>
            <a:ext cx="4206240" cy="411480"/>
          </a:xfrm>
          <a:prstGeom prst="rect">
            <a:avLst/>
          </a:prstGeom>
          <a:noFill/>
          <a:ln/>
        </p:spPr>
        <p:txBody>
          <a:bodyPr wrap="square" lIns="0" tIns="0" rIns="0" bIns="0" rtlCol="0" anchor="ctr"/>
          <a:lstStyle/>
          <a:p>
            <a:pPr indent="0" marL="0">
              <a:buNone/>
            </a:pPr>
            <a:r>
              <a:rPr lang="en-US" sz="2000" b="1" dirty="0">
                <a:solidFill>
                  <a:schemeClr val="tx1"/>
                </a:solidFill>
              </a:rPr>
              <a:t>Future scope (planned, not built)</a:t>
            </a:r>
            <a:endParaRPr lang="en-US" sz="2000" dirty="0"/>
          </a:p>
        </p:txBody>
      </p:sp>
      <p:sp>
        <p:nvSpPr>
          <p:cNvPr id="12" name="Text 8"/>
          <p:cNvSpPr txBox="1"/>
          <p:nvPr/>
        </p:nvSpPr>
        <p:spPr>
          <a:xfrm>
            <a:off x="6537960" y="2514600"/>
            <a:ext cx="4892040" cy="3566160"/>
          </a:xfrm>
          <a:prstGeom prst="rect">
            <a:avLst/>
          </a:prstGeom>
          <a:noFill/>
          <a:ln/>
        </p:spPr>
        <p:txBody>
          <a:bodyPr wrap="square" lIns="0" tIns="0" rIns="0" bIns="0" rtlCol="0" anchor="t"/>
          <a:lstStyle/>
          <a:p>
            <a:pPr marL="203200" indent="-203200">
              <a:spcAft>
                <a:spcPts val="900"/>
              </a:spcAft>
              <a:buSzPct val="100000"/>
              <a:buChar char="•"/>
            </a:pPr>
            <a:r>
              <a:rPr lang="en-US" sz="1500" b="1" dirty="0">
                <a:solidFill>
                  <a:schemeClr val="tx1"/>
                </a:solidFill>
              </a:rPr>
              <a:t>Ratings &amp; reviews: </a:t>
            </a:r>
            <a:pPr indent="0" marL="0">
              <a:spcAft>
                <a:spcPts val="900"/>
              </a:spcAft>
              <a:buNone/>
            </a:pPr>
            <a:r>
              <a:rPr lang="en-US" sz="1500" dirty="0">
                <a:solidFill>
                  <a:schemeClr val="tx1"/>
                </a:solidFill>
              </a:rPr>
              <a:t>let customers rate after a visit</a:t>
            </a:r>
            <a:endParaRPr lang="en-US" sz="1500" dirty="0"/>
          </a:p>
          <a:p>
            <a:pPr marL="203200" indent="-203200">
              <a:spcAft>
                <a:spcPts val="900"/>
              </a:spcAft>
              <a:buSzPct val="100000"/>
              <a:buChar char="•"/>
            </a:pPr>
            <a:r>
              <a:rPr lang="en-US" sz="1500" b="1" dirty="0">
                <a:solidFill>
                  <a:schemeClr val="tx1"/>
                </a:solidFill>
              </a:rPr>
              <a:t>Online payments: </a:t>
            </a:r>
            <a:pPr indent="0" marL="0">
              <a:spcAft>
                <a:spcPts val="900"/>
              </a:spcAft>
              <a:buNone/>
            </a:pPr>
            <a:r>
              <a:rPr lang="en-US" sz="1500" dirty="0">
                <a:solidFill>
                  <a:schemeClr val="tx1"/>
                </a:solidFill>
              </a:rPr>
              <a:t>pay through a gateway (today: pay at salon)</a:t>
            </a:r>
            <a:endParaRPr lang="en-US" sz="1500" dirty="0"/>
          </a:p>
          <a:p>
            <a:pPr marL="203200" indent="-203200">
              <a:spcAft>
                <a:spcPts val="900"/>
              </a:spcAft>
              <a:buSzPct val="100000"/>
              <a:buChar char="•"/>
            </a:pPr>
            <a:r>
              <a:rPr lang="en-US" sz="1500" b="1" dirty="0">
                <a:solidFill>
                  <a:schemeClr val="tx1"/>
                </a:solidFill>
              </a:rPr>
              <a:t>Reminders: </a:t>
            </a:r>
            <a:pPr indent="0" marL="0">
              <a:spcAft>
                <a:spcPts val="900"/>
              </a:spcAft>
              <a:buNone/>
            </a:pPr>
            <a:r>
              <a:rPr lang="en-US" sz="1500" dirty="0">
                <a:solidFill>
                  <a:schemeClr val="tx1"/>
                </a:solidFill>
              </a:rPr>
              <a:t>SMS / email / push before appointments</a:t>
            </a:r>
            <a:endParaRPr lang="en-US" sz="1500" dirty="0"/>
          </a:p>
          <a:p>
            <a:pPr marL="203200" indent="-203200">
              <a:spcAft>
                <a:spcPts val="900"/>
              </a:spcAft>
              <a:buSzPct val="100000"/>
              <a:buChar char="•"/>
            </a:pPr>
            <a:r>
              <a:rPr lang="en-US" sz="1500" b="1" dirty="0">
                <a:solidFill>
                  <a:schemeClr val="tx1"/>
                </a:solidFill>
              </a:rPr>
              <a:t>Reports: </a:t>
            </a:r>
            <a:pPr indent="0" marL="0">
              <a:spcAft>
                <a:spcPts val="900"/>
              </a:spcAft>
              <a:buNone/>
            </a:pPr>
            <a:r>
              <a:rPr lang="en-US" sz="1500" dirty="0">
                <a:solidFill>
                  <a:schemeClr val="tx1"/>
                </a:solidFill>
              </a:rPr>
              <a:t>revenue and customer analytics</a:t>
            </a:r>
            <a:endParaRPr lang="en-US" sz="1500" dirty="0"/>
          </a:p>
          <a:p>
            <a:pPr marL="203200" indent="-203200">
              <a:spcAft>
                <a:spcPts val="900"/>
              </a:spcAft>
              <a:buSzPct val="100000"/>
              <a:buChar char="•"/>
            </a:pPr>
            <a:r>
              <a:rPr lang="en-US" sz="1500" b="1" dirty="0">
                <a:solidFill>
                  <a:schemeClr val="tx1"/>
                </a:solidFill>
              </a:rPr>
              <a:t>Mobile release: </a:t>
            </a:r>
            <a:pPr indent="0" marL="0">
              <a:spcAft>
                <a:spcPts val="900"/>
              </a:spcAft>
              <a:buNone/>
            </a:pPr>
            <a:r>
              <a:rPr lang="en-US" sz="1500" dirty="0">
                <a:solidFill>
                  <a:schemeClr val="tx1"/>
                </a:solidFill>
              </a:rPr>
              <a:t>publish the app to the stores</a:t>
            </a:r>
            <a:endParaRPr lang="en-US" sz="1500" dirty="0"/>
          </a:p>
          <a:p>
            <a:pPr marL="203200" indent="-203200">
              <a:spcAft>
                <a:spcPts val="900"/>
              </a:spcAft>
              <a:buSzPct val="100000"/>
              <a:buChar char="•"/>
            </a:pPr>
            <a:r>
              <a:rPr lang="en-US" sz="1500" b="1" dirty="0">
                <a:solidFill>
                  <a:schemeClr val="tx1"/>
                </a:solidFill>
              </a:rPr>
              <a:t>Customer bookings page </a:t>
            </a:r>
            <a:pPr indent="0" marL="0">
              <a:spcAft>
                <a:spcPts val="900"/>
              </a:spcAft>
              <a:buNone/>
            </a:pPr>
            <a:r>
              <a:rPr lang="en-US" sz="1500" dirty="0">
                <a:solidFill>
                  <a:schemeClr val="tx1"/>
                </a:solidFill>
              </a:rPr>
              <a:t>on the website (today on mobile only)</a:t>
            </a:r>
            <a:endParaRPr lang="en-US" sz="15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Conclusion</a:t>
            </a:r>
            <a:endParaRPr lang="en-US" sz="3400" dirty="0"/>
          </a:p>
        </p:txBody>
      </p:sp>
      <p:sp>
        <p:nvSpPr>
          <p:cNvPr id="3" name="Conclusion card One connected platform"/>
          <p:cNvSpPr/>
          <p:nvPr/>
        </p:nvSpPr>
        <p:spPr>
          <a:xfrm>
            <a:off x="548640" y="1417320"/>
            <a:ext cx="3566160" cy="3108960"/>
          </a:xfrm>
          <a:prstGeom prst="roundRect">
            <a:avLst>
              <a:gd name="adj" fmla="val 3529"/>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4" name="Icon circle FaHandshake"/>
          <p:cNvSpPr/>
          <p:nvPr/>
        </p:nvSpPr>
        <p:spPr>
          <a:xfrm>
            <a:off x="822960" y="1691640"/>
            <a:ext cx="731520" cy="731520"/>
          </a:xfrm>
          <a:prstGeom prst="ellipse">
            <a:avLst/>
          </a:prstGeom>
          <a:solidFill>
            <a:schemeClr val="accent1"/>
          </a:solidFill>
          <a:ln w="12700">
            <a:solidFill>
              <a:schemeClr val="accent1"/>
            </a:solidFill>
            <a:prstDash val="solid"/>
          </a:ln>
        </p:spPr>
      </p:sp>
      <p:pic>
        <p:nvPicPr>
          <p:cNvPr id="5" name="Image 0" descr="Handshake icon">    </p:cNvPr>
          <p:cNvPicPr>
            <a:picLocks noChangeAspect="1"/>
          </p:cNvPicPr>
          <p:nvPr/>
        </p:nvPicPr>
        <p:blipFill>
          <a:blip r:embed="rId1"/>
          <a:stretch>
            <a:fillRect/>
          </a:stretch>
        </p:blipFill>
        <p:spPr>
          <a:xfrm>
            <a:off x="1020470" y="1889150"/>
            <a:ext cx="336499" cy="336499"/>
          </a:xfrm>
          <a:prstGeom prst="rect">
            <a:avLst/>
          </a:prstGeom>
        </p:spPr>
      </p:pic>
      <p:sp>
        <p:nvSpPr>
          <p:cNvPr id="6" name="Text 3"/>
          <p:cNvSpPr txBox="1"/>
          <p:nvPr/>
        </p:nvSpPr>
        <p:spPr>
          <a:xfrm>
            <a:off x="822960" y="2651760"/>
            <a:ext cx="3017520" cy="411480"/>
          </a:xfrm>
          <a:prstGeom prst="rect">
            <a:avLst/>
          </a:prstGeom>
          <a:noFill/>
          <a:ln/>
        </p:spPr>
        <p:txBody>
          <a:bodyPr wrap="square" lIns="0" tIns="0" rIns="0" bIns="0" rtlCol="0" anchor="t"/>
          <a:lstStyle/>
          <a:p>
            <a:pPr indent="0" marL="0">
              <a:buNone/>
            </a:pPr>
            <a:r>
              <a:rPr lang="en-US" sz="1900" b="1" dirty="0">
                <a:solidFill>
                  <a:schemeClr val="tx1"/>
                </a:solidFill>
              </a:rPr>
              <a:t>One connected platform</a:t>
            </a:r>
            <a:endParaRPr lang="en-US" sz="1900" dirty="0"/>
          </a:p>
        </p:txBody>
      </p:sp>
      <p:sp>
        <p:nvSpPr>
          <p:cNvPr id="7" name="Text 4"/>
          <p:cNvSpPr txBox="1"/>
          <p:nvPr/>
        </p:nvSpPr>
        <p:spPr>
          <a:xfrm>
            <a:off x="822960" y="3154680"/>
            <a:ext cx="3017520" cy="1463040"/>
          </a:xfrm>
          <a:prstGeom prst="rect">
            <a:avLst/>
          </a:prstGeom>
          <a:noFill/>
          <a:ln/>
        </p:spPr>
        <p:txBody>
          <a:bodyPr wrap="square" lIns="0" tIns="0" rIns="0" bIns="0" rtlCol="0" anchor="t"/>
          <a:lstStyle/>
          <a:p>
            <a:pPr indent="0" marL="0">
              <a:buNone/>
            </a:pPr>
            <a:r>
              <a:rPr lang="en-US" sz="1500" dirty="0">
                <a:solidFill>
                  <a:schemeClr val="tx2"/>
                </a:solidFill>
              </a:rPr>
              <a:t>Customers, salon teams and the platform admin work on the same system.</a:t>
            </a:r>
            <a:endParaRPr lang="en-US" sz="1500" dirty="0"/>
          </a:p>
        </p:txBody>
      </p:sp>
      <p:sp>
        <p:nvSpPr>
          <p:cNvPr id="8" name="Conclusion card Complete salon workflow"/>
          <p:cNvSpPr/>
          <p:nvPr/>
        </p:nvSpPr>
        <p:spPr>
          <a:xfrm>
            <a:off x="4297680" y="1417320"/>
            <a:ext cx="3566160" cy="3108960"/>
          </a:xfrm>
          <a:prstGeom prst="roundRect">
            <a:avLst>
              <a:gd name="adj" fmla="val 3529"/>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9" name="Icon circle FaCalendarCheck"/>
          <p:cNvSpPr/>
          <p:nvPr/>
        </p:nvSpPr>
        <p:spPr>
          <a:xfrm>
            <a:off x="4572000" y="1691640"/>
            <a:ext cx="731520" cy="731520"/>
          </a:xfrm>
          <a:prstGeom prst="ellipse">
            <a:avLst/>
          </a:prstGeom>
          <a:solidFill>
            <a:schemeClr val="accent1"/>
          </a:solidFill>
          <a:ln w="12700">
            <a:solidFill>
              <a:schemeClr val="accent1"/>
            </a:solidFill>
            <a:prstDash val="solid"/>
          </a:ln>
        </p:spPr>
      </p:sp>
      <p:pic>
        <p:nvPicPr>
          <p:cNvPr id="10" name="Image 1" descr="CalendarCheck icon">    </p:cNvPr>
          <p:cNvPicPr>
            <a:picLocks noChangeAspect="1"/>
          </p:cNvPicPr>
          <p:nvPr/>
        </p:nvPicPr>
        <p:blipFill>
          <a:blip r:embed="rId2"/>
          <a:stretch>
            <a:fillRect/>
          </a:stretch>
        </p:blipFill>
        <p:spPr>
          <a:xfrm>
            <a:off x="4769510" y="1889150"/>
            <a:ext cx="336499" cy="336499"/>
          </a:xfrm>
          <a:prstGeom prst="rect">
            <a:avLst/>
          </a:prstGeom>
        </p:spPr>
      </p:pic>
      <p:sp>
        <p:nvSpPr>
          <p:cNvPr id="11" name="Text 7"/>
          <p:cNvSpPr txBox="1"/>
          <p:nvPr/>
        </p:nvSpPr>
        <p:spPr>
          <a:xfrm>
            <a:off x="4572000" y="2651760"/>
            <a:ext cx="3017520" cy="411480"/>
          </a:xfrm>
          <a:prstGeom prst="rect">
            <a:avLst/>
          </a:prstGeom>
          <a:noFill/>
          <a:ln/>
        </p:spPr>
        <p:txBody>
          <a:bodyPr wrap="square" lIns="0" tIns="0" rIns="0" bIns="0" rtlCol="0" anchor="t"/>
          <a:lstStyle/>
          <a:p>
            <a:pPr indent="0" marL="0">
              <a:buNone/>
            </a:pPr>
            <a:r>
              <a:rPr lang="en-US" sz="1900" b="1" dirty="0">
                <a:solidFill>
                  <a:schemeClr val="tx1"/>
                </a:solidFill>
              </a:rPr>
              <a:t>Complete salon workflow</a:t>
            </a:r>
            <a:endParaRPr lang="en-US" sz="1900" dirty="0"/>
          </a:p>
        </p:txBody>
      </p:sp>
      <p:sp>
        <p:nvSpPr>
          <p:cNvPr id="12" name="Text 8"/>
          <p:cNvSpPr txBox="1"/>
          <p:nvPr/>
        </p:nvSpPr>
        <p:spPr>
          <a:xfrm>
            <a:off x="4572000" y="3154680"/>
            <a:ext cx="3017520" cy="1463040"/>
          </a:xfrm>
          <a:prstGeom prst="rect">
            <a:avLst/>
          </a:prstGeom>
          <a:noFill/>
          <a:ln/>
        </p:spPr>
        <p:txBody>
          <a:bodyPr wrap="square" lIns="0" tIns="0" rIns="0" bIns="0" rtlCol="0" anchor="t"/>
          <a:lstStyle/>
          <a:p>
            <a:pPr indent="0" marL="0">
              <a:buNone/>
            </a:pPr>
            <a:r>
              <a:rPr lang="en-US" sz="1500" dirty="0">
                <a:solidFill>
                  <a:schemeClr val="tx2"/>
                </a:solidFill>
              </a:rPr>
              <a:t>Discover, book, serve, bill and bring customers back with packages and offers.</a:t>
            </a:r>
            <a:endParaRPr lang="en-US" sz="1500" dirty="0"/>
          </a:p>
        </p:txBody>
      </p:sp>
      <p:sp>
        <p:nvSpPr>
          <p:cNvPr id="13" name="Conclusion card Built with quality"/>
          <p:cNvSpPr/>
          <p:nvPr/>
        </p:nvSpPr>
        <p:spPr>
          <a:xfrm>
            <a:off x="8046720" y="1417320"/>
            <a:ext cx="3566160" cy="3108960"/>
          </a:xfrm>
          <a:prstGeom prst="roundRect">
            <a:avLst>
              <a:gd name="adj" fmla="val 3529"/>
            </a:avLst>
          </a:prstGeom>
          <a:solidFill>
            <a:schemeClr val="bg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14" name="Icon circle FaLock"/>
          <p:cNvSpPr/>
          <p:nvPr/>
        </p:nvSpPr>
        <p:spPr>
          <a:xfrm>
            <a:off x="8321040" y="1691640"/>
            <a:ext cx="731520" cy="731520"/>
          </a:xfrm>
          <a:prstGeom prst="ellipse">
            <a:avLst/>
          </a:prstGeom>
          <a:solidFill>
            <a:schemeClr val="accent1"/>
          </a:solidFill>
          <a:ln w="12700">
            <a:solidFill>
              <a:schemeClr val="accent1"/>
            </a:solidFill>
            <a:prstDash val="solid"/>
          </a:ln>
        </p:spPr>
      </p:sp>
      <p:pic>
        <p:nvPicPr>
          <p:cNvPr id="15" name="Image 2" descr="Lock icon">    </p:cNvPr>
          <p:cNvPicPr>
            <a:picLocks noChangeAspect="1"/>
          </p:cNvPicPr>
          <p:nvPr/>
        </p:nvPicPr>
        <p:blipFill>
          <a:blip r:embed="rId3"/>
          <a:stretch>
            <a:fillRect/>
          </a:stretch>
        </p:blipFill>
        <p:spPr>
          <a:xfrm>
            <a:off x="8518550" y="1889150"/>
            <a:ext cx="336499" cy="336499"/>
          </a:xfrm>
          <a:prstGeom prst="rect">
            <a:avLst/>
          </a:prstGeom>
        </p:spPr>
      </p:pic>
      <p:sp>
        <p:nvSpPr>
          <p:cNvPr id="16" name="Text 11"/>
          <p:cNvSpPr txBox="1"/>
          <p:nvPr/>
        </p:nvSpPr>
        <p:spPr>
          <a:xfrm>
            <a:off x="8321040" y="2651760"/>
            <a:ext cx="3017520" cy="411480"/>
          </a:xfrm>
          <a:prstGeom prst="rect">
            <a:avLst/>
          </a:prstGeom>
          <a:noFill/>
          <a:ln/>
        </p:spPr>
        <p:txBody>
          <a:bodyPr wrap="square" lIns="0" tIns="0" rIns="0" bIns="0" rtlCol="0" anchor="t"/>
          <a:lstStyle/>
          <a:p>
            <a:pPr indent="0" marL="0">
              <a:buNone/>
            </a:pPr>
            <a:r>
              <a:rPr lang="en-US" sz="1900" b="1" dirty="0">
                <a:solidFill>
                  <a:schemeClr val="tx1"/>
                </a:solidFill>
              </a:rPr>
              <a:t>Built with quality</a:t>
            </a:r>
            <a:endParaRPr lang="en-US" sz="1900" dirty="0"/>
          </a:p>
        </p:txBody>
      </p:sp>
      <p:sp>
        <p:nvSpPr>
          <p:cNvPr id="17" name="Text 12"/>
          <p:cNvSpPr txBox="1"/>
          <p:nvPr/>
        </p:nvSpPr>
        <p:spPr>
          <a:xfrm>
            <a:off x="8321040" y="3154680"/>
            <a:ext cx="3017520" cy="1463040"/>
          </a:xfrm>
          <a:prstGeom prst="rect">
            <a:avLst/>
          </a:prstGeom>
          <a:noFill/>
          <a:ln/>
        </p:spPr>
        <p:txBody>
          <a:bodyPr wrap="square" lIns="0" tIns="0" rIns="0" bIns="0" rtlCol="0" anchor="t"/>
          <a:lstStyle/>
          <a:p>
            <a:pPr indent="0" marL="0">
              <a:buNone/>
            </a:pPr>
            <a:r>
              <a:rPr lang="en-US" sz="1500" dirty="0">
                <a:solidFill>
                  <a:schemeClr val="tx2"/>
                </a:solidFill>
              </a:rPr>
              <a:t>Role-based security and 137 passing backend tests.</a:t>
            </a:r>
            <a:endParaRPr lang="en-US" sz="1500" dirty="0"/>
          </a:p>
        </p:txBody>
      </p:sp>
      <p:sp>
        <p:nvSpPr>
          <p:cNvPr id="18" name="Closing statement"/>
          <p:cNvSpPr/>
          <p:nvPr/>
        </p:nvSpPr>
        <p:spPr>
          <a:xfrm>
            <a:off x="548640" y="4846320"/>
            <a:ext cx="11064240" cy="1188720"/>
          </a:xfrm>
          <a:prstGeom prst="roundRect">
            <a:avLst>
              <a:gd name="adj" fmla="val 9231"/>
            </a:avLst>
          </a:prstGeom>
          <a:solidFill>
            <a:schemeClr val="tx1"/>
          </a:solidFill>
          <a:ln w="9525">
            <a:solidFill>
              <a:srgbClr val="E7DCC8"/>
            </a:solidFill>
            <a:prstDash val="solid"/>
          </a:ln>
          <a:effectLst>
            <a:outerShdw sx="100000" sy="100000" kx="0" ky="0" algn="bl" rotWithShape="0" blurRad="101600" dist="25400" dir="5400000">
              <a:srgbClr val="000000">
                <a:alpha val="14000"/>
              </a:srgbClr>
            </a:outerShdw>
          </a:effectLst>
        </p:spPr>
      </p:sp>
      <p:sp>
        <p:nvSpPr>
          <p:cNvPr id="19" name="Text 14"/>
          <p:cNvSpPr txBox="1"/>
          <p:nvPr/>
        </p:nvSpPr>
        <p:spPr>
          <a:xfrm>
            <a:off x="868680" y="4937760"/>
            <a:ext cx="10424160" cy="1005840"/>
          </a:xfrm>
          <a:prstGeom prst="rect">
            <a:avLst/>
          </a:prstGeom>
          <a:noFill/>
          <a:ln/>
        </p:spPr>
        <p:txBody>
          <a:bodyPr wrap="square" lIns="0" tIns="0" rIns="0" bIns="0" rtlCol="0" anchor="ctr"/>
          <a:lstStyle/>
          <a:p>
            <a:pPr indent="0" marL="0">
              <a:buNone/>
            </a:pPr>
            <a:r>
              <a:rPr lang="en-US" sz="2200" b="1" dirty="0">
                <a:solidFill>
                  <a:schemeClr val="accent1"/>
                </a:solidFill>
              </a:rPr>
              <a:t>Galora helps salons spend less time on paperwork and more time with customers.</a:t>
            </a:r>
            <a:endParaRPr lang="en-US" sz="22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Closing photo" descr="Salon interior photo from the Galora website">    </p:cNvPr>
          <p:cNvPicPr>
            <a:picLocks noChangeAspect="1"/>
          </p:cNvPicPr>
          <p:nvPr/>
        </p:nvPicPr>
        <p:blipFill>
          <a:blip r:embed="rId1"/>
          <a:srcRect l="0" r="0" t="0" b="0"/>
          <a:stretch/>
        </p:blipFill>
        <p:spPr>
          <a:xfrm>
            <a:off x="7680960" y="0"/>
            <a:ext cx="4510735" cy="6858000"/>
          </a:xfrm>
          <a:prstGeom prst="rect">
            <a:avLst/>
          </a:prstGeom>
        </p:spPr>
      </p:pic>
      <p:sp>
        <p:nvSpPr>
          <p:cNvPr id="3" name="Text 0"/>
          <p:cNvSpPr/>
          <p:nvPr>
            <p:ph idx="100" type="title" hasCustomPrompt="1"/>
          </p:nvPr>
        </p:nvSpPr>
        <p:spPr>
          <a:xfrm>
            <a:off x="731520" y="2148840"/>
            <a:ext cx="6583680" cy="1371600"/>
          </a:xfrm>
          <a:prstGeom prst="rect">
            <a:avLst/>
          </a:prstGeom>
          <a:noFill/>
          <a:ln/>
        </p:spPr>
        <p:txBody>
          <a:bodyPr wrap="square" lIns="0" tIns="0" rIns="0" bIns="0" rtlCol="0" anchor="ctr"/>
          <a:lstStyle/>
          <a:p>
            <a:pPr algn="l" indent="0" marL="0">
              <a:buNone/>
            </a:pPr>
            <a:r>
              <a:rPr lang="en-US" sz="6400" b="1" dirty="0">
                <a:solidFill>
                  <a:schemeClr val="accent1"/>
                </a:solidFill>
              </a:rPr>
              <a:t>Thank You</a:t>
            </a:r>
            <a:endParaRPr lang="en-US" sz="6400" dirty="0"/>
          </a:p>
        </p:txBody>
      </p:sp>
      <p:sp>
        <p:nvSpPr>
          <p:cNvPr id="4" name="Text 1"/>
          <p:cNvSpPr txBox="1"/>
          <p:nvPr/>
        </p:nvSpPr>
        <p:spPr>
          <a:xfrm>
            <a:off x="731520" y="3611880"/>
            <a:ext cx="6400800" cy="731520"/>
          </a:xfrm>
          <a:prstGeom prst="rect">
            <a:avLst/>
          </a:prstGeom>
          <a:noFill/>
          <a:ln/>
        </p:spPr>
        <p:txBody>
          <a:bodyPr wrap="square" lIns="0" tIns="0" rIns="0" bIns="0" rtlCol="0" anchor="t"/>
          <a:lstStyle/>
          <a:p>
            <a:pPr indent="0" marL="0">
              <a:buNone/>
            </a:pPr>
            <a:r>
              <a:rPr lang="en-US" sz="3200" dirty="0">
                <a:solidFill>
                  <a:schemeClr val="bg1"/>
                </a:solidFill>
              </a:rPr>
              <a:t>Questions?</a:t>
            </a:r>
            <a:endParaRPr lang="en-US" sz="3200" dirty="0"/>
          </a:p>
        </p:txBody>
      </p:sp>
      <p:sp>
        <p:nvSpPr>
          <p:cNvPr id="5" name="Text 2"/>
          <p:cNvSpPr txBox="1"/>
          <p:nvPr/>
        </p:nvSpPr>
        <p:spPr>
          <a:xfrm>
            <a:off x="731520" y="4754880"/>
            <a:ext cx="6400800" cy="822960"/>
          </a:xfrm>
          <a:prstGeom prst="rect">
            <a:avLst/>
          </a:prstGeom>
          <a:noFill/>
          <a:ln/>
        </p:spPr>
        <p:txBody>
          <a:bodyPr wrap="square" lIns="0" tIns="0" rIns="0" bIns="0" rtlCol="0" anchor="t"/>
          <a:lstStyle/>
          <a:p>
            <a:pPr indent="0" marL="0">
              <a:spcAft>
                <a:spcPts val="400"/>
              </a:spcAft>
              <a:buNone/>
            </a:pPr>
            <a:r>
              <a:rPr lang="en-US" sz="1600" dirty="0">
                <a:solidFill>
                  <a:schemeClr val="accent6"/>
                </a:solidFill>
              </a:rPr>
              <a:t>[Student Name]  |  [College Name]</a:t>
            </a:r>
            <a:endParaRPr lang="en-US" sz="1600" dirty="0"/>
          </a:p>
          <a:p>
            <a:pPr indent="0" marL="0">
              <a:spcAft>
                <a:spcPts val="400"/>
              </a:spcAft>
              <a:buNone/>
            </a:pPr>
            <a:r>
              <a:rPr lang="en-US" sz="1600" dirty="0">
                <a:solidFill>
                  <a:schemeClr val="accent6"/>
                </a:solidFill>
              </a:rPr>
              <a:t>Guide: [Guide Name]  |  [Academic Year]</a:t>
            </a:r>
            <a:endParaRPr lang="en-US" sz="1600" dirty="0"/>
          </a:p>
        </p:txBody>
      </p:sp>
      <p:sp>
        <p:nvSpPr>
          <p:cNvPr id="6" name="Icon circle FaCut"/>
          <p:cNvSpPr/>
          <p:nvPr/>
        </p:nvSpPr>
        <p:spPr>
          <a:xfrm>
            <a:off x="731520" y="1097280"/>
            <a:ext cx="731520" cy="731520"/>
          </a:xfrm>
          <a:prstGeom prst="ellipse">
            <a:avLst/>
          </a:prstGeom>
          <a:solidFill>
            <a:schemeClr val="accent1"/>
          </a:solidFill>
          <a:ln w="12700">
            <a:solidFill>
              <a:schemeClr val="accent1"/>
            </a:solidFill>
            <a:prstDash val="solid"/>
          </a:ln>
        </p:spPr>
      </p:sp>
      <p:pic>
        <p:nvPicPr>
          <p:cNvPr id="7" name="Image 1" descr="Cut icon">    </p:cNvPr>
          <p:cNvPicPr>
            <a:picLocks noChangeAspect="1"/>
          </p:cNvPicPr>
          <p:nvPr/>
        </p:nvPicPr>
        <p:blipFill>
          <a:blip r:embed="rId2"/>
          <a:stretch>
            <a:fillRect/>
          </a:stretch>
        </p:blipFill>
        <p:spPr>
          <a:xfrm>
            <a:off x="929030" y="1294790"/>
            <a:ext cx="336499" cy="336499"/>
          </a:xfrm>
          <a:prstGeom prst="rect">
            <a:avLst/>
          </a:prstGeom>
        </p:spPr>
      </p:pic>
      <p:sp>
        <p:nvSpPr>
          <p:cNvPr id="8" name="Text 4"/>
          <p:cNvSpPr txBox="1"/>
          <p:nvPr/>
        </p:nvSpPr>
        <p:spPr>
          <a:xfrm>
            <a:off x="1600200" y="1097280"/>
            <a:ext cx="4572000" cy="731520"/>
          </a:xfrm>
          <a:prstGeom prst="rect">
            <a:avLst/>
          </a:prstGeom>
          <a:noFill/>
          <a:ln/>
        </p:spPr>
        <p:txBody>
          <a:bodyPr wrap="square" lIns="0" tIns="0" rIns="0" bIns="0" rtlCol="0" anchor="ctr"/>
          <a:lstStyle/>
          <a:p>
            <a:pPr indent="0" marL="0">
              <a:buNone/>
            </a:pPr>
            <a:r>
              <a:rPr lang="en-US" sz="1600" b="1" spc="600" kern="0" dirty="0">
                <a:solidFill>
                  <a:schemeClr val="accent1"/>
                </a:solidFill>
              </a:rPr>
              <a:t>GALORA</a:t>
            </a:r>
            <a:endParaRPr lang="en-US" sz="1600" dirty="0"/>
          </a:p>
        </p:txBody>
      </p:sp>
    </p:spTree>
  </p:cSld>
  <p:clrMapOvr>
    <a:masterClrMapping/>
  </p:clrMapOvr>
</p:sld>
</file>

<file path=ppt/theme/theme1.xml><?xml version="1.0" encoding="utf-8"?>
<a:theme xmlns:a="http://schemas.openxmlformats.org/drawingml/2006/main" name="Galora">
  <a:themeElements>
    <a:clrScheme name="Galora">
      <a:dk1>
        <a:srgbClr val="2E1B0F"/>
      </a:dk1>
      <a:lt1>
        <a:srgbClr val="FFFFFF"/>
      </a:lt1>
      <a:dk2>
        <a:srgbClr val="6B4A33"/>
      </a:dk2>
      <a:lt2>
        <a:srgbClr val="FAF6F0"/>
      </a:lt2>
      <a:accent1>
        <a:srgbClr val="E6C767"/>
      </a:accent1>
      <a:accent2>
        <a:srgbClr val="B8923A"/>
      </a:accent2>
      <a:accent3>
        <a:srgbClr val="8B5E3C"/>
      </a:accent3>
      <a:accent4>
        <a:srgbClr val="2F7D5B"/>
      </a:accent4>
      <a:accent5>
        <a:srgbClr val="B3412F"/>
      </a:accent5>
      <a:accent6>
        <a:srgbClr val="D9C7A8"/>
      </a:accent6>
      <a:hlink>
        <a:srgbClr val="8B5E3C"/>
      </a:hlink>
      <a:folHlink>
        <a:srgbClr val="6B4A33"/>
      </a:folHlink>
    </a:clrScheme>
    <a:fontScheme name="Galor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Galora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Galora - Salon Management &amp; Customer Booking Platform</dc:title>
  <dc:subject>PptxGenJS Presentation</dc:subject>
  <dc:creator>[Student Name]</dc:creator>
  <cp:lastModifiedBy>[Student Name]</cp:lastModifiedBy>
  <cp:revision>1</cp:revision>
  <dcterms:created xsi:type="dcterms:W3CDTF">2026-10-29T05:50:03Z</dcterms:created>
  <dcterms:modified xsi:type="dcterms:W3CDTF">2026-10-29T05:50:03Z</dcterms:modified>
</cp:coreProperties>
</file>